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42.bin" ContentType="application/vnd.openxmlformats-officedocument.oleObject"/>
  <Override PartName="/ppt/embeddings/oleObject43.bin" ContentType="application/vnd.openxmlformats-officedocument.oleObject"/>
  <Override PartName="/ppt/embeddings/oleObject44.bin" ContentType="application/vnd.openxmlformats-officedocument.oleObject"/>
  <Override PartName="/ppt/embeddings/oleObject45.bin" ContentType="application/vnd.openxmlformats-officedocument.oleObject"/>
  <Override PartName="/ppt/embeddings/oleObject46.bin" ContentType="application/vnd.openxmlformats-officedocument.oleObject"/>
  <Override PartName="/ppt/embeddings/oleObject47.bin" ContentType="application/vnd.openxmlformats-officedocument.oleObject"/>
  <Override PartName="/ppt/notesSlides/notesSlide5.xml" ContentType="application/vnd.openxmlformats-officedocument.presentationml.notesSlide+xml"/>
  <Override PartName="/ppt/embeddings/oleObject48.bin" ContentType="application/vnd.openxmlformats-officedocument.oleObject"/>
  <Override PartName="/ppt/embeddings/oleObject49.bin" ContentType="application/vnd.openxmlformats-officedocument.oleObject"/>
  <Override PartName="/ppt/embeddings/oleObject50.bin" ContentType="application/vnd.openxmlformats-officedocument.oleObject"/>
  <Override PartName="/ppt/embeddings/oleObject51.bin" ContentType="application/vnd.openxmlformats-officedocument.oleObject"/>
  <Override PartName="/ppt/notesSlides/notesSlide6.xml" ContentType="application/vnd.openxmlformats-officedocument.presentationml.notesSlide+xml"/>
  <Override PartName="/ppt/embeddings/oleObject52.bin" ContentType="application/vnd.openxmlformats-officedocument.oleObject"/>
  <Override PartName="/ppt/embeddings/oleObject53.bin" ContentType="application/vnd.openxmlformats-officedocument.oleObject"/>
  <Override PartName="/ppt/notesSlides/notesSlide7.xml" ContentType="application/vnd.openxmlformats-officedocument.presentationml.notesSlide+xml"/>
  <Override PartName="/ppt/embeddings/oleObject54.bin" ContentType="application/vnd.openxmlformats-officedocument.oleObject"/>
  <Override PartName="/ppt/embeddings/oleObject55.bin" ContentType="application/vnd.openxmlformats-officedocument.oleObject"/>
  <Override PartName="/ppt/notesSlides/notesSlide8.xml" ContentType="application/vnd.openxmlformats-officedocument.presentationml.notesSlide+xml"/>
  <Override PartName="/ppt/embeddings/oleObject56.bin" ContentType="application/vnd.openxmlformats-officedocument.oleObject"/>
  <Override PartName="/ppt/embeddings/oleObject57.bin" ContentType="application/vnd.openxmlformats-officedocument.oleObject"/>
  <Override PartName="/ppt/notesSlides/notesSlide9.xml" ContentType="application/vnd.openxmlformats-officedocument.presentationml.notesSlide+xml"/>
  <Override PartName="/ppt/embeddings/oleObject58.bin" ContentType="application/vnd.openxmlformats-officedocument.oleObject"/>
  <Override PartName="/ppt/embeddings/oleObject59.bin" ContentType="application/vnd.openxmlformats-officedocument.oleObject"/>
  <Override PartName="/ppt/notesSlides/notesSlide10.xml" ContentType="application/vnd.openxmlformats-officedocument.presentationml.notesSlide+xml"/>
  <Override PartName="/ppt/tags/tag1.xml" ContentType="application/vnd.openxmlformats-officedocument.presentationml.tags+xml"/>
  <Override PartName="/ppt/embeddings/oleObject60.bin" ContentType="application/vnd.openxmlformats-officedocument.oleObject"/>
  <Override PartName="/ppt/embeddings/oleObject61.bin" ContentType="application/vnd.openxmlformats-officedocument.oleObject"/>
  <Override PartName="/ppt/notesSlides/notesSlide11.xml" ContentType="application/vnd.openxmlformats-officedocument.presentationml.notesSlide+xml"/>
  <Override PartName="/ppt/embeddings/oleObject62.bin" ContentType="application/vnd.openxmlformats-officedocument.oleObject"/>
  <Override PartName="/ppt/embeddings/oleObject63.bin" ContentType="application/vnd.openxmlformats-officedocument.oleObject"/>
  <Override PartName="/ppt/embeddings/oleObject64.bin" ContentType="application/vnd.openxmlformats-officedocument.oleObject"/>
  <Override PartName="/ppt/embeddings/oleObject65.bin" ContentType="application/vnd.openxmlformats-officedocument.oleObject"/>
  <Override PartName="/ppt/embeddings/oleObject66.bin" ContentType="application/vnd.openxmlformats-officedocument.oleObject"/>
  <Override PartName="/ppt/embeddings/oleObject67.bin" ContentType="application/vnd.openxmlformats-officedocument.oleObject"/>
  <Override PartName="/ppt/embeddings/oleObject68.bin" ContentType="application/vnd.openxmlformats-officedocument.oleObject"/>
  <Override PartName="/ppt/embeddings/oleObject69.bin" ContentType="application/vnd.openxmlformats-officedocument.oleObject"/>
  <Override PartName="/ppt/embeddings/oleObject70.bin" ContentType="application/vnd.openxmlformats-officedocument.oleObject"/>
  <Override PartName="/ppt/embeddings/oleObject71.bin" ContentType="application/vnd.openxmlformats-officedocument.oleObject"/>
  <Override PartName="/ppt/embeddings/oleObject72.bin" ContentType="application/vnd.openxmlformats-officedocument.oleObject"/>
  <Override PartName="/ppt/embeddings/oleObject73.bin" ContentType="application/vnd.openxmlformats-officedocument.oleObject"/>
  <Override PartName="/ppt/embeddings/oleObject74.bin" ContentType="application/vnd.openxmlformats-officedocument.oleObject"/>
  <Override PartName="/ppt/embeddings/oleObject75.bin" ContentType="application/vnd.openxmlformats-officedocument.oleObject"/>
  <Override PartName="/ppt/embeddings/oleObject76.bin" ContentType="application/vnd.openxmlformats-officedocument.oleObject"/>
  <Override PartName="/ppt/embeddings/oleObject77.bin" ContentType="application/vnd.openxmlformats-officedocument.oleObject"/>
  <Override PartName="/ppt/embeddings/oleObject78.bin" ContentType="application/vnd.openxmlformats-officedocument.oleObject"/>
  <Override PartName="/ppt/embeddings/oleObject79.bin" ContentType="application/vnd.openxmlformats-officedocument.oleObject"/>
  <Override PartName="/ppt/embeddings/oleObject80.bin" ContentType="application/vnd.openxmlformats-officedocument.oleObject"/>
  <Override PartName="/ppt/embeddings/oleObject81.bin" ContentType="application/vnd.openxmlformats-officedocument.oleObject"/>
  <Override PartName="/ppt/embeddings/oleObject82.bin" ContentType="application/vnd.openxmlformats-officedocument.oleObject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1"/>
  </p:sldMasterIdLst>
  <p:notesMasterIdLst>
    <p:notesMasterId r:id="rId83"/>
  </p:notesMasterIdLst>
  <p:handoutMasterIdLst>
    <p:handoutMasterId r:id="rId84"/>
  </p:handoutMasterIdLst>
  <p:sldIdLst>
    <p:sldId id="292" r:id="rId2"/>
    <p:sldId id="385" r:id="rId3"/>
    <p:sldId id="386" r:id="rId4"/>
    <p:sldId id="384" r:id="rId5"/>
    <p:sldId id="387" r:id="rId6"/>
    <p:sldId id="388" r:id="rId7"/>
    <p:sldId id="363" r:id="rId8"/>
    <p:sldId id="364" r:id="rId9"/>
    <p:sldId id="369" r:id="rId10"/>
    <p:sldId id="376" r:id="rId11"/>
    <p:sldId id="370" r:id="rId12"/>
    <p:sldId id="374" r:id="rId13"/>
    <p:sldId id="373" r:id="rId14"/>
    <p:sldId id="375" r:id="rId15"/>
    <p:sldId id="366" r:id="rId16"/>
    <p:sldId id="304" r:id="rId17"/>
    <p:sldId id="331" r:id="rId18"/>
    <p:sldId id="368" r:id="rId19"/>
    <p:sldId id="335" r:id="rId20"/>
    <p:sldId id="333" r:id="rId21"/>
    <p:sldId id="338" r:id="rId22"/>
    <p:sldId id="339" r:id="rId23"/>
    <p:sldId id="342" r:id="rId24"/>
    <p:sldId id="340" r:id="rId25"/>
    <p:sldId id="341" r:id="rId26"/>
    <p:sldId id="343" r:id="rId27"/>
    <p:sldId id="344" r:id="rId28"/>
    <p:sldId id="345" r:id="rId29"/>
    <p:sldId id="346" r:id="rId30"/>
    <p:sldId id="310" r:id="rId31"/>
    <p:sldId id="377" r:id="rId32"/>
    <p:sldId id="347" r:id="rId33"/>
    <p:sldId id="348" r:id="rId34"/>
    <p:sldId id="349" r:id="rId35"/>
    <p:sldId id="350" r:id="rId36"/>
    <p:sldId id="351" r:id="rId37"/>
    <p:sldId id="354" r:id="rId38"/>
    <p:sldId id="365" r:id="rId39"/>
    <p:sldId id="383" r:id="rId40"/>
    <p:sldId id="305" r:id="rId41"/>
    <p:sldId id="352" r:id="rId42"/>
    <p:sldId id="380" r:id="rId43"/>
    <p:sldId id="379" r:id="rId44"/>
    <p:sldId id="353" r:id="rId45"/>
    <p:sldId id="389" r:id="rId46"/>
    <p:sldId id="318" r:id="rId47"/>
    <p:sldId id="307" r:id="rId48"/>
    <p:sldId id="390" r:id="rId49"/>
    <p:sldId id="392" r:id="rId50"/>
    <p:sldId id="393" r:id="rId51"/>
    <p:sldId id="394" r:id="rId52"/>
    <p:sldId id="397" r:id="rId53"/>
    <p:sldId id="395" r:id="rId54"/>
    <p:sldId id="396" r:id="rId55"/>
    <p:sldId id="398" r:id="rId56"/>
    <p:sldId id="399" r:id="rId57"/>
    <p:sldId id="402" r:id="rId58"/>
    <p:sldId id="401" r:id="rId59"/>
    <p:sldId id="403" r:id="rId60"/>
    <p:sldId id="404" r:id="rId61"/>
    <p:sldId id="405" r:id="rId62"/>
    <p:sldId id="406" r:id="rId63"/>
    <p:sldId id="407" r:id="rId64"/>
    <p:sldId id="408" r:id="rId65"/>
    <p:sldId id="409" r:id="rId66"/>
    <p:sldId id="391" r:id="rId67"/>
    <p:sldId id="355" r:id="rId68"/>
    <p:sldId id="357" r:id="rId69"/>
    <p:sldId id="360" r:id="rId70"/>
    <p:sldId id="359" r:id="rId71"/>
    <p:sldId id="358" r:id="rId72"/>
    <p:sldId id="361" r:id="rId73"/>
    <p:sldId id="381" r:id="rId74"/>
    <p:sldId id="382" r:id="rId75"/>
    <p:sldId id="328" r:id="rId76"/>
    <p:sldId id="329" r:id="rId77"/>
    <p:sldId id="309" r:id="rId78"/>
    <p:sldId id="311" r:id="rId79"/>
    <p:sldId id="316" r:id="rId80"/>
    <p:sldId id="321" r:id="rId81"/>
    <p:sldId id="312" r:id="rId82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-85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5" d="100"/>
        <a:sy n="145" d="100"/>
      </p:scale>
      <p:origin x="0" y="91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notesMaster" Target="notesMasters/notesMaster1.xml"/><Relationship Id="rId84" Type="http://schemas.openxmlformats.org/officeDocument/2006/relationships/handoutMaster" Target="handoutMasters/handoutMaster1.xml"/><Relationship Id="rId85" Type="http://schemas.openxmlformats.org/officeDocument/2006/relationships/printerSettings" Target="printerSettings/printerSettings1.bin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Relationship Id="rId2" Type="http://schemas.openxmlformats.org/officeDocument/2006/relationships/image" Target="../media/image10.wmf"/><Relationship Id="rId3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4" Type="http://schemas.openxmlformats.org/officeDocument/2006/relationships/image" Target="../media/image16.wmf"/><Relationship Id="rId5" Type="http://schemas.openxmlformats.org/officeDocument/2006/relationships/image" Target="../media/image17.emf"/><Relationship Id="rId1" Type="http://schemas.openxmlformats.org/officeDocument/2006/relationships/image" Target="../media/image13.emf"/><Relationship Id="rId2" Type="http://schemas.openxmlformats.org/officeDocument/2006/relationships/image" Target="../media/image1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Relationship Id="rId2" Type="http://schemas.openxmlformats.org/officeDocument/2006/relationships/image" Target="../media/image1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Relationship Id="rId2" Type="http://schemas.openxmlformats.org/officeDocument/2006/relationships/image" Target="../media/image18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4" Type="http://schemas.openxmlformats.org/officeDocument/2006/relationships/image" Target="../media/image25.emf"/><Relationship Id="rId1" Type="http://schemas.openxmlformats.org/officeDocument/2006/relationships/image" Target="../media/image18.emf"/><Relationship Id="rId2" Type="http://schemas.openxmlformats.org/officeDocument/2006/relationships/image" Target="../media/image2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Relationship Id="rId2" Type="http://schemas.openxmlformats.org/officeDocument/2006/relationships/image" Target="../media/image26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4" Type="http://schemas.openxmlformats.org/officeDocument/2006/relationships/image" Target="../media/image26.emf"/><Relationship Id="rId1" Type="http://schemas.openxmlformats.org/officeDocument/2006/relationships/image" Target="../media/image30.emf"/><Relationship Id="rId2" Type="http://schemas.openxmlformats.org/officeDocument/2006/relationships/image" Target="../media/image3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Relationship Id="rId2" Type="http://schemas.openxmlformats.org/officeDocument/2006/relationships/image" Target="../media/image3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Relationship Id="rId2" Type="http://schemas.openxmlformats.org/officeDocument/2006/relationships/image" Target="../media/image35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4" Type="http://schemas.openxmlformats.org/officeDocument/2006/relationships/image" Target="../media/image33.emf"/><Relationship Id="rId1" Type="http://schemas.openxmlformats.org/officeDocument/2006/relationships/image" Target="../media/image35.emf"/><Relationship Id="rId2" Type="http://schemas.openxmlformats.org/officeDocument/2006/relationships/image" Target="../media/image3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Relationship Id="rId2" Type="http://schemas.openxmlformats.org/officeDocument/2006/relationships/image" Target="../media/image4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Relationship Id="rId2" Type="http://schemas.openxmlformats.org/officeDocument/2006/relationships/image" Target="../media/image47.emf"/><Relationship Id="rId3" Type="http://schemas.openxmlformats.org/officeDocument/2006/relationships/image" Target="../media/image49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4" Type="http://schemas.openxmlformats.org/officeDocument/2006/relationships/image" Target="../media/image53.emf"/><Relationship Id="rId1" Type="http://schemas.openxmlformats.org/officeDocument/2006/relationships/image" Target="../media/image50.wmf"/><Relationship Id="rId2" Type="http://schemas.openxmlformats.org/officeDocument/2006/relationships/image" Target="../media/image5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emf"/><Relationship Id="rId2" Type="http://schemas.openxmlformats.org/officeDocument/2006/relationships/image" Target="../media/image54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emf"/><Relationship Id="rId2" Type="http://schemas.openxmlformats.org/officeDocument/2006/relationships/image" Target="../media/image53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emf"/><Relationship Id="rId2" Type="http://schemas.openxmlformats.org/officeDocument/2006/relationships/image" Target="../media/image53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emf"/><Relationship Id="rId2" Type="http://schemas.openxmlformats.org/officeDocument/2006/relationships/image" Target="../media/image53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emf"/><Relationship Id="rId2" Type="http://schemas.openxmlformats.org/officeDocument/2006/relationships/image" Target="../media/image61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emf"/><Relationship Id="rId2" Type="http://schemas.openxmlformats.org/officeDocument/2006/relationships/image" Target="../media/image63.emf"/><Relationship Id="rId3" Type="http://schemas.openxmlformats.org/officeDocument/2006/relationships/image" Target="../media/image52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emf"/><Relationship Id="rId2" Type="http://schemas.openxmlformats.org/officeDocument/2006/relationships/image" Target="../media/image68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emf"/><Relationship Id="rId2" Type="http://schemas.openxmlformats.org/officeDocument/2006/relationships/image" Target="../media/image71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emf"/><Relationship Id="rId2" Type="http://schemas.openxmlformats.org/officeDocument/2006/relationships/image" Target="../media/image74.e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4" Type="http://schemas.openxmlformats.org/officeDocument/2006/relationships/image" Target="../media/image77.emf"/><Relationship Id="rId1" Type="http://schemas.openxmlformats.org/officeDocument/2006/relationships/image" Target="../media/image72.emf"/><Relationship Id="rId2" Type="http://schemas.openxmlformats.org/officeDocument/2006/relationships/image" Target="../media/image74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4" Type="http://schemas.openxmlformats.org/officeDocument/2006/relationships/image" Target="../media/image79.emf"/><Relationship Id="rId1" Type="http://schemas.openxmlformats.org/officeDocument/2006/relationships/image" Target="../media/image72.emf"/><Relationship Id="rId2" Type="http://schemas.openxmlformats.org/officeDocument/2006/relationships/image" Target="../media/image74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E3392F-5630-479C-8DEA-6D9645F457B4}" type="datetimeFigureOut">
              <a:rPr lang="es-CO" smtClean="0"/>
              <a:pPr/>
              <a:t>26/09/2017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35F7C-4C96-4FAB-BA10-C54BCEA86E51}" type="slidenum">
              <a:rPr lang="es-CO" smtClean="0"/>
              <a:pPr/>
              <a:t>‹Nr.›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576391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8FA2F7-FA9B-42CE-8AE2-3BF0C4EBBBF6}" type="datetimeFigureOut">
              <a:rPr lang="es-CO" smtClean="0"/>
              <a:pPr/>
              <a:t>26/09/2017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2FB32-F45E-4114-A168-0E08618CC760}" type="slidenum">
              <a:rPr lang="es-CO" smtClean="0"/>
              <a:pPr/>
              <a:t>‹Nr.›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98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En cualquier momento la posición del objeto está descrita</a:t>
            </a:r>
            <a:r>
              <a:rPr lang="es-ES" baseline="0" dirty="0" smtClean="0"/>
              <a:t> por la coordenada</a:t>
            </a:r>
            <a:r>
              <a:rPr lang="es-ES" dirty="0" smtClean="0"/>
              <a:t> (que puede ser &gt;0 o &lt;0)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2FB32-F45E-4114-A168-0E08618CC760}" type="slidenum">
              <a:rPr lang="es-CO" smtClean="0"/>
              <a:pPr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23082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En cualquier momento la posición del objeto está descrita</a:t>
            </a:r>
            <a:r>
              <a:rPr lang="es-ES" baseline="0" dirty="0" smtClean="0"/>
              <a:t> por la coordenada</a:t>
            </a:r>
            <a:r>
              <a:rPr lang="es-ES" dirty="0" smtClean="0"/>
              <a:t> (que puede ser &gt;0 o &lt;0)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2FB32-F45E-4114-A168-0E08618CC760}" type="slidenum">
              <a:rPr lang="es-CO" smtClean="0"/>
              <a:pPr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23082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En cualquier momento la posición del objeto está descrita</a:t>
            </a:r>
            <a:r>
              <a:rPr lang="es-ES" baseline="0" dirty="0" smtClean="0"/>
              <a:t> por la coordenada</a:t>
            </a:r>
            <a:r>
              <a:rPr lang="es-ES" dirty="0" smtClean="0"/>
              <a:t> (que puede ser &gt;0 o &lt;0)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2FB32-F45E-4114-A168-0E08618CC760}" type="slidenum">
              <a:rPr lang="es-CO" smtClean="0"/>
              <a:pPr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23082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Cambiar valores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2FB32-F45E-4114-A168-0E08618CC760}" type="slidenum">
              <a:rPr lang="es-CO" smtClean="0"/>
              <a:pPr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4114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Rapidez de la luz:</a:t>
            </a:r>
            <a:r>
              <a:rPr lang="es-CO" baseline="0" dirty="0" smtClean="0"/>
              <a:t> teoría de la relatividad de Einstein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2FB32-F45E-4114-A168-0E08618CC760}" type="slidenum">
              <a:rPr lang="es-CO" smtClean="0"/>
              <a:pPr/>
              <a:t>40</a:t>
            </a:fld>
            <a:endParaRPr lang="es-CO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Rapidez de la luz:</a:t>
            </a:r>
            <a:r>
              <a:rPr lang="es-CO" baseline="0" dirty="0" smtClean="0"/>
              <a:t> teoría de la relatividad de Einstein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2FB32-F45E-4114-A168-0E08618CC760}" type="slidenum">
              <a:rPr lang="es-CO" smtClean="0"/>
              <a:pPr/>
              <a:t>41</a:t>
            </a:fld>
            <a:endParaRPr lang="es-CO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Rapidez de la luz:</a:t>
            </a:r>
            <a:r>
              <a:rPr lang="es-CO" baseline="0" dirty="0" smtClean="0"/>
              <a:t> teoría de la relatividad de Einstein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2FB32-F45E-4114-A168-0E08618CC760}" type="slidenum">
              <a:rPr lang="es-CO" smtClean="0"/>
              <a:pPr/>
              <a:t>42</a:t>
            </a:fld>
            <a:endParaRPr lang="es-CO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Rapidez de la luz:</a:t>
            </a:r>
            <a:r>
              <a:rPr lang="es-CO" baseline="0" dirty="0" smtClean="0"/>
              <a:t> teoría de la relatividad de Einstein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2FB32-F45E-4114-A168-0E08618CC760}" type="slidenum">
              <a:rPr lang="es-CO" smtClean="0"/>
              <a:pPr/>
              <a:t>43</a:t>
            </a:fld>
            <a:endParaRPr lang="es-CO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Rapidez de la luz:</a:t>
            </a:r>
            <a:r>
              <a:rPr lang="es-CO" baseline="0" dirty="0" smtClean="0"/>
              <a:t> teoría de la relatividad de Einstein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2FB32-F45E-4114-A168-0E08618CC760}" type="slidenum">
              <a:rPr lang="es-CO" smtClean="0"/>
              <a:pPr/>
              <a:t>44</a:t>
            </a:fld>
            <a:endParaRPr lang="es-CO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H  = 2 + 1.5*10 = 17 m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2FB32-F45E-4114-A168-0E08618CC760}" type="slidenum">
              <a:rPr lang="es-CO" smtClean="0"/>
              <a:pPr/>
              <a:t>45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35139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Rapidez de la luz:</a:t>
            </a:r>
            <a:r>
              <a:rPr lang="es-CO" baseline="0" dirty="0" smtClean="0"/>
              <a:t> teoría de la relatividad de Einstein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2FB32-F45E-4114-A168-0E08618CC760}" type="slidenum">
              <a:rPr lang="es-CO" smtClean="0"/>
              <a:pPr/>
              <a:t>48</a:t>
            </a:fld>
            <a:endParaRPr lang="es-C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aperBackingColor.jpg"/>
          <p:cNvPicPr>
            <a:picLocks noChangeAspect="1"/>
          </p:cNvPicPr>
          <p:nvPr/>
        </p:nvPicPr>
        <p:blipFill>
          <a:blip r:embed="rId2"/>
          <a:srcRect l="469" t="13915"/>
          <a:stretch>
            <a:fillRect/>
          </a:stretch>
        </p:blipFill>
        <p:spPr>
          <a:xfrm>
            <a:off x="1613903" y="699248"/>
            <a:ext cx="5916194" cy="3837694"/>
          </a:xfrm>
          <a:prstGeom prst="rect">
            <a:avLst/>
          </a:prstGeom>
          <a:solidFill>
            <a:srgbClr val="FFFFFF">
              <a:shade val="85000"/>
            </a:srgbClr>
          </a:solidFill>
          <a:ln w="22225" cap="sq">
            <a:solidFill>
              <a:srgbClr val="FDFDFD"/>
            </a:solidFill>
            <a:miter lim="800000"/>
          </a:ln>
          <a:effectLst>
            <a:outerShdw blurRad="57150" dist="37500" dir="7560000" sy="98000" kx="80000" ky="63000" algn="tl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5C2C24-1EB2-4FE8-9FD7-77C0E7AF1B47}" type="datetime1">
              <a:rPr lang="en-US" smtClean="0"/>
              <a:pPr>
                <a:defRPr/>
              </a:pPr>
              <a:t>26/09/2017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6BD53-CA37-4A1F-8A63-58E07D705ECD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9569" y="1143000"/>
            <a:ext cx="5724862" cy="1846961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6000" kern="1200">
                <a:solidFill>
                  <a:schemeClr val="bg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69" y="2994212"/>
            <a:ext cx="5724862" cy="10072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buSzPct val="90000"/>
              <a:buFont typeface="Wingdings" pitchFamily="2" charset="2"/>
              <a:buNone/>
              <a:defRPr sz="2000" kern="1200">
                <a:solidFill>
                  <a:schemeClr val="bg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Haga clic para modificar el estilo de subtítulo del patrón</a:t>
            </a:r>
            <a:endParaRPr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5C2C24-1EB2-4FE8-9FD7-77C0E7AF1B47}" type="datetime1">
              <a:rPr lang="en-US" smtClean="0"/>
              <a:pPr>
                <a:defRPr/>
              </a:pPr>
              <a:t>26/09/2017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6BD53-CA37-4A1F-8A63-58E07D705ECD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con image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itlePhotoBacking-r.png"/>
          <p:cNvPicPr>
            <a:picLocks noChangeAspect="1"/>
          </p:cNvPicPr>
          <p:nvPr/>
        </p:nvPicPr>
        <p:blipFill>
          <a:blip r:embed="rId2"/>
          <a:srcRect l="17353" t="9412" r="17500" b="32353"/>
          <a:stretch>
            <a:fillRect/>
          </a:stretch>
        </p:blipFill>
        <p:spPr>
          <a:xfrm>
            <a:off x="1586753" y="645459"/>
            <a:ext cx="5957047" cy="3993776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133600" cy="273050"/>
          </a:xfrm>
        </p:spPr>
        <p:txBody>
          <a:bodyPr/>
          <a:lstStyle>
            <a:lvl1pPr>
              <a:defRPr sz="14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A45C2C24-1EB2-4FE8-9FD7-77C0E7AF1B47}" type="datetime1">
              <a:rPr lang="en-US" smtClean="0"/>
              <a:pPr>
                <a:defRPr/>
              </a:pPr>
              <a:t>26/09/2017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24600"/>
            <a:ext cx="2895600" cy="273050"/>
          </a:xfrm>
        </p:spPr>
        <p:txBody>
          <a:bodyPr/>
          <a:lstStyle>
            <a:lvl1pPr>
              <a:defRPr sz="14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24600"/>
            <a:ext cx="2133600" cy="273050"/>
          </a:xfrm>
        </p:spPr>
        <p:txBody>
          <a:bodyPr/>
          <a:lstStyle>
            <a:lvl1pPr>
              <a:defRPr sz="14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8B66BD53-CA37-4A1F-8A63-58E07D705ECD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4435" y="4953000"/>
            <a:ext cx="8095130" cy="857250"/>
          </a:xfrm>
        </p:spPr>
        <p:txBody>
          <a:bodyPr anchor="b" anchorCtr="0">
            <a:noAutofit/>
          </a:bodyPr>
          <a:lstStyle>
            <a:lvl1pPr>
              <a:defRPr sz="5400">
                <a:solidFill>
                  <a:schemeClr val="tx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4435" y="5791200"/>
            <a:ext cx="8095130" cy="50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>
                <a:solidFill>
                  <a:schemeClr val="tx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Haga clic para modificar el estilo de subtítulo del patrón</a:t>
            </a:r>
            <a:endParaRPr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1764792" y="804672"/>
            <a:ext cx="5638800" cy="3657600"/>
          </a:xfrm>
        </p:spPr>
        <p:txBody>
          <a:bodyPr/>
          <a:lstStyle>
            <a:lvl1pPr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Arrastre la imagen al marcador de posición o haga clic en el icono para agregar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818" y="2514600"/>
            <a:ext cx="8162365" cy="914400"/>
          </a:xfrm>
        </p:spPr>
        <p:txBody>
          <a:bodyPr anchor="b" anchorCtr="0"/>
          <a:lstStyle>
            <a:lvl1pPr algn="ctr">
              <a:defRPr sz="5400" b="0" cap="none" baseline="0">
                <a:solidFill>
                  <a:schemeClr val="tx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0818" y="3429000"/>
            <a:ext cx="8162365" cy="701000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>
                <a:solidFill>
                  <a:schemeClr val="tx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45C2C24-1EB2-4FE8-9FD7-77C0E7AF1B47}" type="datetime1">
              <a:rPr lang="en-US" smtClean="0"/>
              <a:pPr>
                <a:defRPr/>
              </a:pPr>
              <a:t>26/09/2017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4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8B66BD53-CA37-4A1F-8A63-58E07D705ECD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3900" y="1586753"/>
            <a:ext cx="3776472" cy="458386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86753"/>
            <a:ext cx="3776472" cy="458386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5C2C24-1EB2-4FE8-9FD7-77C0E7AF1B47}" type="datetime1">
              <a:rPr lang="en-US" smtClean="0"/>
              <a:pPr>
                <a:defRPr/>
              </a:pPr>
              <a:t>26/09/2017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6BD53-CA37-4A1F-8A63-58E07D705ECD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900" y="1598613"/>
            <a:ext cx="3773488" cy="427877"/>
          </a:xfrm>
        </p:spPr>
        <p:txBody>
          <a:bodyPr anchor="b">
            <a:normAutofit/>
          </a:bodyPr>
          <a:lstStyle>
            <a:lvl1pPr marL="0" indent="0" algn="ctr">
              <a:spcBef>
                <a:spcPts val="0"/>
              </a:spcBef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3900" y="2174875"/>
            <a:ext cx="3773488" cy="399732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 marL="2290763" indent="-344488">
              <a:defRPr sz="1600"/>
            </a:lvl7pPr>
            <a:lvl8pPr marL="2290763" indent="-344488">
              <a:defRPr sz="1600"/>
            </a:lvl8pPr>
            <a:lvl9pPr marL="2290763" indent="-344488">
              <a:defRPr sz="16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98613"/>
            <a:ext cx="3776472" cy="427877"/>
          </a:xfrm>
        </p:spPr>
        <p:txBody>
          <a:bodyPr anchor="b">
            <a:normAutofit/>
          </a:bodyPr>
          <a:lstStyle>
            <a:lvl1pPr marL="0" indent="0" algn="ctr">
              <a:spcBef>
                <a:spcPts val="0"/>
              </a:spcBef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3776472" cy="399732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 marL="2290763" indent="-344488">
              <a:defRPr sz="1600"/>
            </a:lvl7pPr>
            <a:lvl8pPr marL="2290763" indent="-344488">
              <a:defRPr sz="1600"/>
            </a:lvl8pPr>
            <a:lvl9pPr marL="2290763" indent="-344488">
              <a:defRPr sz="16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5C2C24-1EB2-4FE8-9FD7-77C0E7AF1B47}" type="datetime1">
              <a:rPr lang="en-US" smtClean="0"/>
              <a:pPr>
                <a:defRPr/>
              </a:pPr>
              <a:t>26/09/2017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6BD53-CA37-4A1F-8A63-58E07D705ECD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objetos, superior e inf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3900" y="1586753"/>
            <a:ext cx="7707406" cy="223113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5C2C24-1EB2-4FE8-9FD7-77C0E7AF1B47}" type="datetime1">
              <a:rPr lang="en-US" smtClean="0"/>
              <a:pPr>
                <a:defRPr/>
              </a:pPr>
              <a:t>26/09/2017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6BD53-CA37-4A1F-8A63-58E07D705ECD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723900" y="3914170"/>
            <a:ext cx="7707406" cy="223113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3900" y="1586753"/>
            <a:ext cx="3776472" cy="458386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5C2C24-1EB2-4FE8-9FD7-77C0E7AF1B47}" type="datetime1">
              <a:rPr lang="en-US" smtClean="0"/>
              <a:pPr>
                <a:defRPr/>
              </a:pPr>
              <a:t>26/09/2017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6BD53-CA37-4A1F-8A63-58E07D705ECD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86753"/>
            <a:ext cx="3776472" cy="22322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4648200" y="3913094"/>
            <a:ext cx="3776472" cy="22322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5C2C24-1EB2-4FE8-9FD7-77C0E7AF1B47}" type="datetime1">
              <a:rPr lang="en-US" smtClean="0"/>
              <a:pPr>
                <a:defRPr/>
              </a:pPr>
              <a:t>26/09/2017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6BD53-CA37-4A1F-8A63-58E07D705ECD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723900" y="1586753"/>
            <a:ext cx="3776472" cy="22322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86753"/>
            <a:ext cx="3776472" cy="22322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723900" y="3913094"/>
            <a:ext cx="3776472" cy="22322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4648200" y="3913094"/>
            <a:ext cx="3776472" cy="22322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 marL="2290763" indent="-344488">
              <a:defRPr sz="1800"/>
            </a:lvl7pPr>
            <a:lvl8pPr marL="2290763" indent="-344488">
              <a:defRPr sz="1800"/>
            </a:lvl8pPr>
            <a:lvl9pPr marL="2290763" indent="-344488">
              <a:defRPr sz="18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5C2C24-1EB2-4FE8-9FD7-77C0E7AF1B47}" type="datetime1">
              <a:rPr lang="en-US" smtClean="0"/>
              <a:pPr>
                <a:defRPr/>
              </a:pPr>
              <a:t>26/09/2017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6BD53-CA37-4A1F-8A63-58E07D705ECD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5C2C24-1EB2-4FE8-9FD7-77C0E7AF1B47}" type="datetime1">
              <a:rPr lang="en-US" smtClean="0"/>
              <a:pPr>
                <a:defRPr/>
              </a:pPr>
              <a:t>26/09/2017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6BD53-CA37-4A1F-8A63-58E07D705ECD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363" y="1143000"/>
            <a:ext cx="3807662" cy="1341344"/>
          </a:xfrm>
        </p:spPr>
        <p:txBody>
          <a:bodyPr anchor="b"/>
          <a:lstStyle>
            <a:lvl1pPr algn="ctr">
              <a:defRPr sz="4400" b="0"/>
            </a:lvl1pPr>
          </a:lstStyle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199" y="605118"/>
            <a:ext cx="3776472" cy="556549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 marL="2290763" indent="-344488">
              <a:defRPr sz="2000"/>
            </a:lvl7pPr>
            <a:lvl8pPr marL="2290763" indent="-344488">
              <a:defRPr sz="2000"/>
            </a:lvl8pPr>
            <a:lvl9pPr marL="2290763" indent="-344488">
              <a:defRPr sz="20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0363" y="2618815"/>
            <a:ext cx="3807662" cy="3133164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5C2C24-1EB2-4FE8-9FD7-77C0E7AF1B47}" type="datetime1">
              <a:rPr lang="en-US" smtClean="0"/>
              <a:pPr>
                <a:defRPr/>
              </a:pPr>
              <a:t>26/09/2017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6BD53-CA37-4A1F-8A63-58E07D705ECD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5C2C24-1EB2-4FE8-9FD7-77C0E7AF1B47}" type="datetime1">
              <a:rPr lang="en-US" smtClean="0"/>
              <a:pPr>
                <a:defRPr/>
              </a:pPr>
              <a:t>26/09/2017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6BD53-CA37-4A1F-8A63-58E07D705ECD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  <p:pic>
        <p:nvPicPr>
          <p:cNvPr id="10" name="Picture 9" descr="pictureCaptionBacking.png"/>
          <p:cNvPicPr>
            <a:picLocks noChangeAspect="1"/>
          </p:cNvPicPr>
          <p:nvPr/>
        </p:nvPicPr>
        <p:blipFill>
          <a:blip r:embed="rId2"/>
          <a:srcRect l="52272" t="8889" r="5152" b="16566"/>
          <a:stretch>
            <a:fillRect/>
          </a:stretch>
        </p:blipFill>
        <p:spPr>
          <a:xfrm>
            <a:off x="4594412" y="663388"/>
            <a:ext cx="3893127" cy="5112327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25487" y="1143000"/>
            <a:ext cx="3792537" cy="1341344"/>
          </a:xfrm>
        </p:spPr>
        <p:txBody>
          <a:bodyPr anchor="b"/>
          <a:lstStyle>
            <a:lvl1pPr algn="ctr">
              <a:defRPr sz="4400" b="0"/>
            </a:lvl1pPr>
          </a:lstStyle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487" y="2618815"/>
            <a:ext cx="3792537" cy="3133164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Haga clic para modificar el estilo de texto del patrón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29938" y="864971"/>
            <a:ext cx="3422075" cy="47091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Arrastre la imagen al marcador de posición o haga clic en el icono para agregar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487" y="462896"/>
            <a:ext cx="7718425" cy="828021"/>
          </a:xfrm>
        </p:spPr>
        <p:txBody>
          <a:bodyPr/>
          <a:lstStyle/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5489" y="1598613"/>
            <a:ext cx="7718424" cy="45720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5C2C24-1EB2-4FE8-9FD7-77C0E7AF1B47}" type="datetime1">
              <a:rPr lang="en-US" smtClean="0"/>
              <a:pPr>
                <a:defRPr/>
              </a:pPr>
              <a:t>26/09/2017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6BD53-CA37-4A1F-8A63-58E07D705ECD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0" y="685801"/>
            <a:ext cx="1066800" cy="5484812"/>
          </a:xfrm>
        </p:spPr>
        <p:txBody>
          <a:bodyPr vert="eaVert"/>
          <a:lstStyle/>
          <a:p>
            <a:r>
              <a:rPr lang="en-US" smtClean="0"/>
              <a:t>Clic para editar título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5488" y="685757"/>
            <a:ext cx="6437312" cy="5482221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5C2C24-1EB2-4FE8-9FD7-77C0E7AF1B47}" type="datetime1">
              <a:rPr lang="en-US" smtClean="0"/>
              <a:pPr>
                <a:defRPr/>
              </a:pPr>
              <a:t>26/09/2017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6BD53-CA37-4A1F-8A63-58E07D705ECD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6141" y="314979"/>
            <a:ext cx="769171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/>
              <a:t>Click to edit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6141" y="1586753"/>
            <a:ext cx="7691719" cy="4571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A45C2C24-1EB2-4FE8-9FD7-77C0E7AF1B47}" type="datetime1">
              <a:rPr lang="en-US" smtClean="0"/>
              <a:pPr>
                <a:defRPr/>
              </a:pPr>
              <a:t>26/09/2017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8B66BD53-CA37-4A1F-8A63-58E07D705ECD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spcBef>
          <a:spcPts val="2400"/>
        </a:spcBef>
        <a:buSzPct val="90000"/>
        <a:buFont typeface="Wingdings" pitchFamily="2" charset="2"/>
        <a:buChar char="v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12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v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63650" indent="-349250" algn="l" defTabSz="914400" rtl="0" eaLnBrk="1" latinLnBrk="0" hangingPunct="1">
        <a:spcBef>
          <a:spcPts val="1200"/>
        </a:spcBef>
        <a:buSzPct val="90000"/>
        <a:buFont typeface="Wingdings" pitchFamily="2" charset="2"/>
        <a:buChar char="v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336550" algn="l" defTabSz="914400" rtl="0" eaLnBrk="1" latinLnBrk="0" hangingPunct="1">
        <a:spcBef>
          <a:spcPts val="12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v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946275" indent="-346075" algn="l" defTabSz="914400" rtl="0" eaLnBrk="1" latinLnBrk="0" hangingPunct="1">
        <a:spcBef>
          <a:spcPts val="1200"/>
        </a:spcBef>
        <a:buSzPct val="90000"/>
        <a:buFont typeface="Wingdings" pitchFamily="2" charset="2"/>
        <a:buChar char="v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ct val="20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v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ct val="20000"/>
        </a:spcBef>
        <a:buSzPct val="90000"/>
        <a:buFont typeface="Wingdings" pitchFamily="2" charset="2"/>
        <a:buChar char="v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ct val="20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v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ct val="20000"/>
        </a:spcBef>
        <a:buSzPct val="90000"/>
        <a:buFont typeface="Wingdings" pitchFamily="2" charset="2"/>
        <a:buChar char="v"/>
        <a:defRPr lang="en-US"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9.wmf"/><Relationship Id="rId6" Type="http://schemas.openxmlformats.org/officeDocument/2006/relationships/oleObject" Target="../embeddings/oleObject2.bin"/><Relationship Id="rId7" Type="http://schemas.openxmlformats.org/officeDocument/2006/relationships/image" Target="../media/image10.wmf"/><Relationship Id="rId8" Type="http://schemas.openxmlformats.org/officeDocument/2006/relationships/oleObject" Target="../embeddings/oleObject3.bin"/><Relationship Id="rId9" Type="http://schemas.openxmlformats.org/officeDocument/2006/relationships/image" Target="../media/image11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emf"/></Relationships>
</file>

<file path=ppt/slides/_rels/slide1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6.wmf"/><Relationship Id="rId12" Type="http://schemas.openxmlformats.org/officeDocument/2006/relationships/oleObject" Target="../embeddings/oleObject8.bin"/><Relationship Id="rId13" Type="http://schemas.openxmlformats.org/officeDocument/2006/relationships/image" Target="../media/image17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3.emf"/><Relationship Id="rId6" Type="http://schemas.openxmlformats.org/officeDocument/2006/relationships/oleObject" Target="../embeddings/oleObject5.bin"/><Relationship Id="rId7" Type="http://schemas.openxmlformats.org/officeDocument/2006/relationships/image" Target="../media/image14.emf"/><Relationship Id="rId8" Type="http://schemas.openxmlformats.org/officeDocument/2006/relationships/oleObject" Target="../embeddings/oleObject6.bin"/><Relationship Id="rId9" Type="http://schemas.openxmlformats.org/officeDocument/2006/relationships/image" Target="../media/image15.emf"/><Relationship Id="rId10" Type="http://schemas.openxmlformats.org/officeDocument/2006/relationships/oleObject" Target="../embeddings/oleObject7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4" Type="http://schemas.openxmlformats.org/officeDocument/2006/relationships/oleObject" Target="../embeddings/oleObject9.bin"/><Relationship Id="rId5" Type="http://schemas.openxmlformats.org/officeDocument/2006/relationships/image" Target="../media/image18.e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8.e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4" Type="http://schemas.openxmlformats.org/officeDocument/2006/relationships/oleObject" Target="../embeddings/oleObject11.bin"/><Relationship Id="rId5" Type="http://schemas.openxmlformats.org/officeDocument/2006/relationships/image" Target="../media/image20.emf"/><Relationship Id="rId6" Type="http://schemas.openxmlformats.org/officeDocument/2006/relationships/oleObject" Target="../embeddings/oleObject12.bin"/><Relationship Id="rId7" Type="http://schemas.openxmlformats.org/officeDocument/2006/relationships/image" Target="../media/image18.e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4" Type="http://schemas.openxmlformats.org/officeDocument/2006/relationships/oleObject" Target="../embeddings/oleObject13.bin"/><Relationship Id="rId5" Type="http://schemas.openxmlformats.org/officeDocument/2006/relationships/image" Target="../media/image22.emf"/><Relationship Id="rId6" Type="http://schemas.openxmlformats.org/officeDocument/2006/relationships/oleObject" Target="../embeddings/oleObject14.bin"/><Relationship Id="rId7" Type="http://schemas.openxmlformats.org/officeDocument/2006/relationships/image" Target="../media/image18.e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4" Type="http://schemas.openxmlformats.org/officeDocument/2006/relationships/oleObject" Target="../embeddings/oleObject15.bin"/><Relationship Id="rId5" Type="http://schemas.openxmlformats.org/officeDocument/2006/relationships/image" Target="../media/image18.emf"/><Relationship Id="rId6" Type="http://schemas.openxmlformats.org/officeDocument/2006/relationships/oleObject" Target="../embeddings/oleObject16.bin"/><Relationship Id="rId7" Type="http://schemas.openxmlformats.org/officeDocument/2006/relationships/image" Target="../media/image22.emf"/><Relationship Id="rId8" Type="http://schemas.openxmlformats.org/officeDocument/2006/relationships/oleObject" Target="../embeddings/oleObject17.bin"/><Relationship Id="rId9" Type="http://schemas.openxmlformats.org/officeDocument/2006/relationships/image" Target="../media/image24.emf"/><Relationship Id="rId10" Type="http://schemas.openxmlformats.org/officeDocument/2006/relationships/oleObject" Target="../embeddings/oleObject18.bin"/><Relationship Id="rId11" Type="http://schemas.openxmlformats.org/officeDocument/2006/relationships/image" Target="../media/image25.e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4" Type="http://schemas.openxmlformats.org/officeDocument/2006/relationships/oleObject" Target="../embeddings/oleObject19.bin"/><Relationship Id="rId5" Type="http://schemas.openxmlformats.org/officeDocument/2006/relationships/image" Target="../media/image26.e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4" Type="http://schemas.openxmlformats.org/officeDocument/2006/relationships/oleObject" Target="../embeddings/oleObject20.bin"/><Relationship Id="rId5" Type="http://schemas.openxmlformats.org/officeDocument/2006/relationships/image" Target="../media/image28.emf"/><Relationship Id="rId6" Type="http://schemas.openxmlformats.org/officeDocument/2006/relationships/oleObject" Target="../embeddings/oleObject21.bin"/><Relationship Id="rId7" Type="http://schemas.openxmlformats.org/officeDocument/2006/relationships/image" Target="../media/image26.e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4" Type="http://schemas.openxmlformats.org/officeDocument/2006/relationships/oleObject" Target="../embeddings/oleObject22.bin"/><Relationship Id="rId5" Type="http://schemas.openxmlformats.org/officeDocument/2006/relationships/image" Target="../media/image30.emf"/><Relationship Id="rId6" Type="http://schemas.openxmlformats.org/officeDocument/2006/relationships/oleObject" Target="../embeddings/oleObject23.bin"/><Relationship Id="rId7" Type="http://schemas.openxmlformats.org/officeDocument/2006/relationships/image" Target="../media/image31.emf"/><Relationship Id="rId8" Type="http://schemas.openxmlformats.org/officeDocument/2006/relationships/oleObject" Target="../embeddings/oleObject24.bin"/><Relationship Id="rId9" Type="http://schemas.openxmlformats.org/officeDocument/2006/relationships/image" Target="../media/image32.emf"/><Relationship Id="rId10" Type="http://schemas.openxmlformats.org/officeDocument/2006/relationships/oleObject" Target="../embeddings/oleObject25.bin"/><Relationship Id="rId11" Type="http://schemas.openxmlformats.org/officeDocument/2006/relationships/image" Target="../media/image26.emf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4" Type="http://schemas.openxmlformats.org/officeDocument/2006/relationships/oleObject" Target="../embeddings/oleObject26.bin"/><Relationship Id="rId5" Type="http://schemas.openxmlformats.org/officeDocument/2006/relationships/image" Target="../media/image33.emf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4" Type="http://schemas.openxmlformats.org/officeDocument/2006/relationships/oleObject" Target="../embeddings/oleObject27.bin"/><Relationship Id="rId5" Type="http://schemas.openxmlformats.org/officeDocument/2006/relationships/image" Target="../media/image34.emf"/><Relationship Id="rId6" Type="http://schemas.openxmlformats.org/officeDocument/2006/relationships/oleObject" Target="../embeddings/oleObject28.bin"/><Relationship Id="rId7" Type="http://schemas.openxmlformats.org/officeDocument/2006/relationships/image" Target="../media/image33.emf"/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4" Type="http://schemas.openxmlformats.org/officeDocument/2006/relationships/oleObject" Target="../embeddings/oleObject29.bin"/><Relationship Id="rId5" Type="http://schemas.openxmlformats.org/officeDocument/2006/relationships/image" Target="../media/image33.emf"/><Relationship Id="rId6" Type="http://schemas.openxmlformats.org/officeDocument/2006/relationships/oleObject" Target="../embeddings/oleObject30.bin"/><Relationship Id="rId7" Type="http://schemas.openxmlformats.org/officeDocument/2006/relationships/image" Target="../media/image35.emf"/><Relationship Id="rId1" Type="http://schemas.openxmlformats.org/officeDocument/2006/relationships/vmlDrawing" Target="../drawings/vmlDrawing13.vml"/><Relationship Id="rId2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4" Type="http://schemas.openxmlformats.org/officeDocument/2006/relationships/oleObject" Target="../embeddings/oleObject31.bin"/><Relationship Id="rId5" Type="http://schemas.openxmlformats.org/officeDocument/2006/relationships/image" Target="../media/image35.emf"/><Relationship Id="rId6" Type="http://schemas.openxmlformats.org/officeDocument/2006/relationships/oleObject" Target="../embeddings/oleObject32.bin"/><Relationship Id="rId7" Type="http://schemas.openxmlformats.org/officeDocument/2006/relationships/image" Target="../media/image37.emf"/><Relationship Id="rId8" Type="http://schemas.openxmlformats.org/officeDocument/2006/relationships/oleObject" Target="../embeddings/oleObject33.bin"/><Relationship Id="rId9" Type="http://schemas.openxmlformats.org/officeDocument/2006/relationships/image" Target="../media/image38.emf"/><Relationship Id="rId10" Type="http://schemas.openxmlformats.org/officeDocument/2006/relationships/oleObject" Target="../embeddings/oleObject34.bin"/><Relationship Id="rId11" Type="http://schemas.openxmlformats.org/officeDocument/2006/relationships/image" Target="../media/image33.emf"/><Relationship Id="rId1" Type="http://schemas.openxmlformats.org/officeDocument/2006/relationships/vmlDrawing" Target="../drawings/vmlDrawing14.vml"/><Relationship Id="rId2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4" Type="http://schemas.openxmlformats.org/officeDocument/2006/relationships/image" Target="../media/image39.emf"/><Relationship Id="rId1" Type="http://schemas.openxmlformats.org/officeDocument/2006/relationships/vmlDrawing" Target="../drawings/vmlDrawing15.vml"/><Relationship Id="rId2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4" Type="http://schemas.openxmlformats.org/officeDocument/2006/relationships/image" Target="../media/image40.emf"/><Relationship Id="rId1" Type="http://schemas.openxmlformats.org/officeDocument/2006/relationships/vmlDrawing" Target="../drawings/vmlDrawing16.vml"/><Relationship Id="rId2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4" Type="http://schemas.openxmlformats.org/officeDocument/2006/relationships/oleObject" Target="../embeddings/oleObject37.bin"/><Relationship Id="rId5" Type="http://schemas.openxmlformats.org/officeDocument/2006/relationships/image" Target="../media/image41.emf"/><Relationship Id="rId1" Type="http://schemas.openxmlformats.org/officeDocument/2006/relationships/vmlDrawing" Target="../drawings/vmlDrawing17.vml"/><Relationship Id="rId2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4" Type="http://schemas.openxmlformats.org/officeDocument/2006/relationships/oleObject" Target="../embeddings/oleObject38.bin"/><Relationship Id="rId5" Type="http://schemas.openxmlformats.org/officeDocument/2006/relationships/image" Target="../media/image41.emf"/><Relationship Id="rId1" Type="http://schemas.openxmlformats.org/officeDocument/2006/relationships/vmlDrawing" Target="../drawings/vmlDrawing18.vml"/><Relationship Id="rId2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4" Type="http://schemas.openxmlformats.org/officeDocument/2006/relationships/oleObject" Target="../embeddings/oleObject39.bin"/><Relationship Id="rId5" Type="http://schemas.openxmlformats.org/officeDocument/2006/relationships/image" Target="../media/image41.emf"/><Relationship Id="rId1" Type="http://schemas.openxmlformats.org/officeDocument/2006/relationships/vmlDrawing" Target="../drawings/vmlDrawing19.vml"/><Relationship Id="rId2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4" Type="http://schemas.openxmlformats.org/officeDocument/2006/relationships/oleObject" Target="../embeddings/oleObject40.bin"/><Relationship Id="rId5" Type="http://schemas.openxmlformats.org/officeDocument/2006/relationships/image" Target="../media/image41.emf"/><Relationship Id="rId1" Type="http://schemas.openxmlformats.org/officeDocument/2006/relationships/vmlDrawing" Target="../drawings/vmlDrawing20.vml"/><Relationship Id="rId2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4" Type="http://schemas.openxmlformats.org/officeDocument/2006/relationships/oleObject" Target="../embeddings/oleObject41.bin"/><Relationship Id="rId5" Type="http://schemas.openxmlformats.org/officeDocument/2006/relationships/image" Target="../media/image41.emf"/><Relationship Id="rId1" Type="http://schemas.openxmlformats.org/officeDocument/2006/relationships/vmlDrawing" Target="../drawings/vmlDrawing21.vml"/><Relationship Id="rId2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4" Type="http://schemas.openxmlformats.org/officeDocument/2006/relationships/oleObject" Target="../embeddings/oleObject42.bin"/><Relationship Id="rId5" Type="http://schemas.openxmlformats.org/officeDocument/2006/relationships/image" Target="../media/image47.emf"/><Relationship Id="rId6" Type="http://schemas.openxmlformats.org/officeDocument/2006/relationships/oleObject" Target="../embeddings/oleObject43.bin"/><Relationship Id="rId7" Type="http://schemas.openxmlformats.org/officeDocument/2006/relationships/image" Target="../media/image41.emf"/><Relationship Id="rId1" Type="http://schemas.openxmlformats.org/officeDocument/2006/relationships/vmlDrawing" Target="../drawings/vmlDrawing22.vml"/><Relationship Id="rId2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4" Type="http://schemas.openxmlformats.org/officeDocument/2006/relationships/image" Target="../media/image48.wmf"/><Relationship Id="rId1" Type="http://schemas.openxmlformats.org/officeDocument/2006/relationships/vmlDrawing" Target="../drawings/vmlDrawing23.vml"/><Relationship Id="rId2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4" Type="http://schemas.openxmlformats.org/officeDocument/2006/relationships/oleObject" Target="../embeddings/oleObject45.bin"/><Relationship Id="rId5" Type="http://schemas.openxmlformats.org/officeDocument/2006/relationships/image" Target="../media/image41.emf"/><Relationship Id="rId6" Type="http://schemas.openxmlformats.org/officeDocument/2006/relationships/oleObject" Target="../embeddings/oleObject46.bin"/><Relationship Id="rId7" Type="http://schemas.openxmlformats.org/officeDocument/2006/relationships/image" Target="../media/image47.emf"/><Relationship Id="rId8" Type="http://schemas.openxmlformats.org/officeDocument/2006/relationships/oleObject" Target="../embeddings/oleObject47.bin"/><Relationship Id="rId9" Type="http://schemas.openxmlformats.org/officeDocument/2006/relationships/image" Target="../media/image49.emf"/><Relationship Id="rId1" Type="http://schemas.openxmlformats.org/officeDocument/2006/relationships/vmlDrawing" Target="../drawings/vmlDrawing24.vml"/><Relationship Id="rId2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48.bin"/><Relationship Id="rId5" Type="http://schemas.openxmlformats.org/officeDocument/2006/relationships/image" Target="../media/image50.wmf"/><Relationship Id="rId6" Type="http://schemas.openxmlformats.org/officeDocument/2006/relationships/oleObject" Target="../embeddings/oleObject49.bin"/><Relationship Id="rId7" Type="http://schemas.openxmlformats.org/officeDocument/2006/relationships/image" Target="../media/image51.emf"/><Relationship Id="rId8" Type="http://schemas.openxmlformats.org/officeDocument/2006/relationships/oleObject" Target="../embeddings/oleObject50.bin"/><Relationship Id="rId9" Type="http://schemas.openxmlformats.org/officeDocument/2006/relationships/image" Target="../media/image52.wmf"/><Relationship Id="rId10" Type="http://schemas.openxmlformats.org/officeDocument/2006/relationships/oleObject" Target="../embeddings/oleObject51.bin"/><Relationship Id="rId11" Type="http://schemas.openxmlformats.org/officeDocument/2006/relationships/image" Target="../media/image53.emf"/><Relationship Id="rId1" Type="http://schemas.openxmlformats.org/officeDocument/2006/relationships/vmlDrawing" Target="../drawings/vmlDrawing25.vml"/><Relationship Id="rId2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4" Type="http://schemas.openxmlformats.org/officeDocument/2006/relationships/image" Target="../media/image55.emf"/><Relationship Id="rId5" Type="http://schemas.openxmlformats.org/officeDocument/2006/relationships/oleObject" Target="../embeddings/oleObject52.bin"/><Relationship Id="rId6" Type="http://schemas.openxmlformats.org/officeDocument/2006/relationships/image" Target="../media/image53.emf"/><Relationship Id="rId7" Type="http://schemas.openxmlformats.org/officeDocument/2006/relationships/oleObject" Target="../embeddings/oleObject53.bin"/><Relationship Id="rId8" Type="http://schemas.openxmlformats.org/officeDocument/2006/relationships/image" Target="../media/image54.emf"/><Relationship Id="rId1" Type="http://schemas.openxmlformats.org/officeDocument/2006/relationships/vmlDrawing" Target="../drawings/vmlDrawing26.vml"/><Relationship Id="rId2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4" Type="http://schemas.openxmlformats.org/officeDocument/2006/relationships/image" Target="../media/image55.emf"/><Relationship Id="rId5" Type="http://schemas.openxmlformats.org/officeDocument/2006/relationships/oleObject" Target="../embeddings/oleObject54.bin"/><Relationship Id="rId6" Type="http://schemas.openxmlformats.org/officeDocument/2006/relationships/image" Target="../media/image56.emf"/><Relationship Id="rId7" Type="http://schemas.openxmlformats.org/officeDocument/2006/relationships/oleObject" Target="../embeddings/oleObject55.bin"/><Relationship Id="rId8" Type="http://schemas.openxmlformats.org/officeDocument/2006/relationships/image" Target="../media/image53.emf"/><Relationship Id="rId1" Type="http://schemas.openxmlformats.org/officeDocument/2006/relationships/vmlDrawing" Target="../drawings/vmlDrawing27.vml"/><Relationship Id="rId2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4" Type="http://schemas.openxmlformats.org/officeDocument/2006/relationships/image" Target="../media/image55.emf"/><Relationship Id="rId5" Type="http://schemas.openxmlformats.org/officeDocument/2006/relationships/oleObject" Target="../embeddings/oleObject56.bin"/><Relationship Id="rId6" Type="http://schemas.openxmlformats.org/officeDocument/2006/relationships/image" Target="../media/image57.emf"/><Relationship Id="rId7" Type="http://schemas.openxmlformats.org/officeDocument/2006/relationships/oleObject" Target="../embeddings/oleObject57.bin"/><Relationship Id="rId8" Type="http://schemas.openxmlformats.org/officeDocument/2006/relationships/image" Target="../media/image53.emf"/><Relationship Id="rId1" Type="http://schemas.openxmlformats.org/officeDocument/2006/relationships/vmlDrawing" Target="../drawings/vmlDrawing28.vml"/><Relationship Id="rId2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4" Type="http://schemas.openxmlformats.org/officeDocument/2006/relationships/image" Target="../media/image59.emf"/><Relationship Id="rId5" Type="http://schemas.openxmlformats.org/officeDocument/2006/relationships/oleObject" Target="../embeddings/oleObject58.bin"/><Relationship Id="rId6" Type="http://schemas.openxmlformats.org/officeDocument/2006/relationships/image" Target="../media/image58.emf"/><Relationship Id="rId7" Type="http://schemas.openxmlformats.org/officeDocument/2006/relationships/oleObject" Target="../embeddings/oleObject59.bin"/><Relationship Id="rId8" Type="http://schemas.openxmlformats.org/officeDocument/2006/relationships/image" Target="../media/image53.emf"/><Relationship Id="rId1" Type="http://schemas.openxmlformats.org/officeDocument/2006/relationships/vmlDrawing" Target="../drawings/vmlDrawing29.vml"/><Relationship Id="rId2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4" Type="http://schemas.openxmlformats.org/officeDocument/2006/relationships/image" Target="../media/image60.emf"/><Relationship Id="rId5" Type="http://schemas.openxmlformats.org/officeDocument/2006/relationships/oleObject" Target="../embeddings/oleObject61.bin"/><Relationship Id="rId6" Type="http://schemas.openxmlformats.org/officeDocument/2006/relationships/image" Target="../media/image61.emf"/><Relationship Id="rId1" Type="http://schemas.openxmlformats.org/officeDocument/2006/relationships/vmlDrawing" Target="../drawings/vmlDrawing30.vml"/><Relationship Id="rId2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4" Type="http://schemas.openxmlformats.org/officeDocument/2006/relationships/oleObject" Target="../embeddings/oleObject62.bin"/><Relationship Id="rId5" Type="http://schemas.openxmlformats.org/officeDocument/2006/relationships/image" Target="../media/image62.emf"/><Relationship Id="rId6" Type="http://schemas.openxmlformats.org/officeDocument/2006/relationships/oleObject" Target="../embeddings/oleObject63.bin"/><Relationship Id="rId7" Type="http://schemas.openxmlformats.org/officeDocument/2006/relationships/image" Target="../media/image63.emf"/><Relationship Id="rId8" Type="http://schemas.openxmlformats.org/officeDocument/2006/relationships/oleObject" Target="../embeddings/oleObject64.bin"/><Relationship Id="rId9" Type="http://schemas.openxmlformats.org/officeDocument/2006/relationships/image" Target="../media/image52.wmf"/><Relationship Id="rId1" Type="http://schemas.openxmlformats.org/officeDocument/2006/relationships/vmlDrawing" Target="../drawings/vmlDrawing31.vml"/><Relationship Id="rId2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5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5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5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5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5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5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5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4" Type="http://schemas.openxmlformats.org/officeDocument/2006/relationships/oleObject" Target="../embeddings/oleObject65.bin"/><Relationship Id="rId5" Type="http://schemas.openxmlformats.org/officeDocument/2006/relationships/image" Target="../media/image66.emf"/><Relationship Id="rId1" Type="http://schemas.openxmlformats.org/officeDocument/2006/relationships/vmlDrawing" Target="../drawings/vmlDrawing32.vml"/><Relationship Id="rId2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4" Type="http://schemas.openxmlformats.org/officeDocument/2006/relationships/oleObject" Target="../embeddings/oleObject66.bin"/><Relationship Id="rId5" Type="http://schemas.openxmlformats.org/officeDocument/2006/relationships/image" Target="../media/image66.emf"/><Relationship Id="rId6" Type="http://schemas.openxmlformats.org/officeDocument/2006/relationships/oleObject" Target="../embeddings/oleObject67.bin"/><Relationship Id="rId7" Type="http://schemas.openxmlformats.org/officeDocument/2006/relationships/image" Target="../media/image68.emf"/><Relationship Id="rId1" Type="http://schemas.openxmlformats.org/officeDocument/2006/relationships/vmlDrawing" Target="../drawings/vmlDrawing33.vml"/><Relationship Id="rId2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4" Type="http://schemas.openxmlformats.org/officeDocument/2006/relationships/oleObject" Target="../embeddings/oleObject68.bin"/><Relationship Id="rId5" Type="http://schemas.openxmlformats.org/officeDocument/2006/relationships/image" Target="../media/image69.emf"/><Relationship Id="rId1" Type="http://schemas.openxmlformats.org/officeDocument/2006/relationships/vmlDrawing" Target="../drawings/vmlDrawing34.vml"/><Relationship Id="rId2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4" Type="http://schemas.openxmlformats.org/officeDocument/2006/relationships/oleObject" Target="../embeddings/oleObject69.bin"/><Relationship Id="rId5" Type="http://schemas.openxmlformats.org/officeDocument/2006/relationships/image" Target="../media/image70.emf"/><Relationship Id="rId6" Type="http://schemas.openxmlformats.org/officeDocument/2006/relationships/oleObject" Target="../embeddings/oleObject70.bin"/><Relationship Id="rId7" Type="http://schemas.openxmlformats.org/officeDocument/2006/relationships/image" Target="../media/image71.emf"/><Relationship Id="rId1" Type="http://schemas.openxmlformats.org/officeDocument/2006/relationships/vmlDrawing" Target="../drawings/vmlDrawing35.vml"/><Relationship Id="rId2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4" Type="http://schemas.openxmlformats.org/officeDocument/2006/relationships/oleObject" Target="../embeddings/oleObject71.bin"/><Relationship Id="rId5" Type="http://schemas.openxmlformats.org/officeDocument/2006/relationships/image" Target="../media/image72.emf"/><Relationship Id="rId1" Type="http://schemas.openxmlformats.org/officeDocument/2006/relationships/vmlDrawing" Target="../drawings/vmlDrawing36.vml"/><Relationship Id="rId2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4" Type="http://schemas.openxmlformats.org/officeDocument/2006/relationships/oleObject" Target="../embeddings/oleObject72.bin"/><Relationship Id="rId5" Type="http://schemas.openxmlformats.org/officeDocument/2006/relationships/image" Target="../media/image72.emf"/><Relationship Id="rId6" Type="http://schemas.openxmlformats.org/officeDocument/2006/relationships/oleObject" Target="../embeddings/oleObject73.bin"/><Relationship Id="rId7" Type="http://schemas.openxmlformats.org/officeDocument/2006/relationships/image" Target="../media/image74.emf"/><Relationship Id="rId1" Type="http://schemas.openxmlformats.org/officeDocument/2006/relationships/vmlDrawing" Target="../drawings/vmlDrawing37.vml"/><Relationship Id="rId2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4" Type="http://schemas.openxmlformats.org/officeDocument/2006/relationships/oleObject" Target="../embeddings/oleObject74.bin"/><Relationship Id="rId5" Type="http://schemas.openxmlformats.org/officeDocument/2006/relationships/image" Target="../media/image72.emf"/><Relationship Id="rId6" Type="http://schemas.openxmlformats.org/officeDocument/2006/relationships/oleObject" Target="../embeddings/oleObject75.bin"/><Relationship Id="rId7" Type="http://schemas.openxmlformats.org/officeDocument/2006/relationships/image" Target="../media/image74.emf"/><Relationship Id="rId8" Type="http://schemas.openxmlformats.org/officeDocument/2006/relationships/oleObject" Target="../embeddings/oleObject76.bin"/><Relationship Id="rId9" Type="http://schemas.openxmlformats.org/officeDocument/2006/relationships/image" Target="../media/image76.emf"/><Relationship Id="rId10" Type="http://schemas.openxmlformats.org/officeDocument/2006/relationships/oleObject" Target="../embeddings/oleObject77.bin"/><Relationship Id="rId11" Type="http://schemas.openxmlformats.org/officeDocument/2006/relationships/image" Target="../media/image77.emf"/><Relationship Id="rId1" Type="http://schemas.openxmlformats.org/officeDocument/2006/relationships/vmlDrawing" Target="../drawings/vmlDrawing38.vml"/><Relationship Id="rId2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4" Type="http://schemas.openxmlformats.org/officeDocument/2006/relationships/oleObject" Target="../embeddings/oleObject78.bin"/><Relationship Id="rId5" Type="http://schemas.openxmlformats.org/officeDocument/2006/relationships/image" Target="../media/image72.emf"/><Relationship Id="rId6" Type="http://schemas.openxmlformats.org/officeDocument/2006/relationships/oleObject" Target="../embeddings/oleObject79.bin"/><Relationship Id="rId7" Type="http://schemas.openxmlformats.org/officeDocument/2006/relationships/image" Target="../media/image74.emf"/><Relationship Id="rId8" Type="http://schemas.openxmlformats.org/officeDocument/2006/relationships/oleObject" Target="../embeddings/oleObject80.bin"/><Relationship Id="rId9" Type="http://schemas.openxmlformats.org/officeDocument/2006/relationships/image" Target="../media/image76.emf"/><Relationship Id="rId10" Type="http://schemas.openxmlformats.org/officeDocument/2006/relationships/oleObject" Target="../embeddings/oleObject81.bin"/><Relationship Id="rId11" Type="http://schemas.openxmlformats.org/officeDocument/2006/relationships/image" Target="../media/image79.emf"/><Relationship Id="rId1" Type="http://schemas.openxmlformats.org/officeDocument/2006/relationships/vmlDrawing" Target="../drawings/vmlDrawing39.vml"/><Relationship Id="rId2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4" Type="http://schemas.openxmlformats.org/officeDocument/2006/relationships/image" Target="../media/image80.emf"/><Relationship Id="rId1" Type="http://schemas.openxmlformats.org/officeDocument/2006/relationships/vmlDrawing" Target="../drawings/vmlDrawing40.vml"/><Relationship Id="rId2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81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82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3"/>
          <p:cNvSpPr>
            <a:spLocks noGrp="1"/>
          </p:cNvSpPr>
          <p:nvPr>
            <p:ph type="ctrTitle"/>
          </p:nvPr>
        </p:nvSpPr>
        <p:spPr>
          <a:xfrm>
            <a:off x="685800" y="1498082"/>
            <a:ext cx="7772400" cy="1617414"/>
          </a:xfrm>
        </p:spPr>
        <p:txBody>
          <a:bodyPr/>
          <a:lstStyle/>
          <a:p>
            <a:pPr eaLnBrk="1" hangingPunct="1"/>
            <a:r>
              <a:rPr lang="es-ES_tradnl" sz="7200" dirty="0" smtClean="0"/>
              <a:t>Cinemática</a:t>
            </a:r>
            <a:endParaRPr lang="en-US" sz="7200" dirty="0" smtClean="0"/>
          </a:p>
        </p:txBody>
      </p:sp>
      <p:sp>
        <p:nvSpPr>
          <p:cNvPr id="5123" name="Subtitle 4"/>
          <p:cNvSpPr>
            <a:spLocks noGrp="1"/>
          </p:cNvSpPr>
          <p:nvPr>
            <p:ph type="subTitle" idx="1"/>
          </p:nvPr>
        </p:nvSpPr>
        <p:spPr>
          <a:xfrm>
            <a:off x="1371600" y="3034804"/>
            <a:ext cx="6400800" cy="987224"/>
          </a:xfrm>
        </p:spPr>
        <p:txBody>
          <a:bodyPr/>
          <a:lstStyle/>
          <a:p>
            <a:r>
              <a:rPr lang="es-ES_tradnl" sz="4400" dirty="0"/>
              <a:t>(1D)</a:t>
            </a:r>
            <a:endParaRPr lang="es-ES" sz="4400" dirty="0" smtClean="0">
              <a:solidFill>
                <a:srgbClr val="898989"/>
              </a:solidFill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2889702" y="4471292"/>
            <a:ext cx="33733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smtClean="0"/>
              <a:t>Pr. Gilles Pieffet</a:t>
            </a:r>
          </a:p>
          <a:p>
            <a:pPr algn="ctr"/>
            <a:endParaRPr lang="es-E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Sistema de coordenadas</a:t>
            </a:r>
            <a:endParaRPr lang="es-ES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95013"/>
          </a:xfrm>
        </p:spPr>
        <p:txBody>
          <a:bodyPr/>
          <a:lstStyle/>
          <a:p>
            <a:pPr marL="0" indent="0">
              <a:buNone/>
            </a:pPr>
            <a:r>
              <a:rPr lang="es-ES" dirty="0" smtClean="0"/>
              <a:t>Un sistema de coordenadas tiene:</a:t>
            </a:r>
          </a:p>
          <a:p>
            <a:r>
              <a:rPr lang="es-ES" dirty="0" smtClean="0"/>
              <a:t>Un punto de referencia (el origen)</a:t>
            </a:r>
          </a:p>
          <a:p>
            <a:r>
              <a:rPr lang="es-ES" dirty="0" smtClean="0"/>
              <a:t>Direcciones de referencia (los ejes “</a:t>
            </a:r>
            <a:r>
              <a:rPr lang="es-ES" b="1" i="1" dirty="0" smtClean="0"/>
              <a:t>x”</a:t>
            </a:r>
            <a:r>
              <a:rPr lang="es-ES" dirty="0" smtClean="0"/>
              <a:t>, “</a:t>
            </a:r>
            <a:r>
              <a:rPr lang="es-ES" b="1" i="1" dirty="0" smtClean="0"/>
              <a:t>y”</a:t>
            </a:r>
            <a:r>
              <a:rPr lang="es-ES" dirty="0" smtClean="0"/>
              <a:t> y “</a:t>
            </a:r>
            <a:r>
              <a:rPr lang="es-ES" b="1" i="1" dirty="0" smtClean="0"/>
              <a:t>z”</a:t>
            </a:r>
            <a:r>
              <a:rPr lang="es-ES" dirty="0" smtClean="0"/>
              <a:t>)</a:t>
            </a:r>
          </a:p>
          <a:p>
            <a:pPr>
              <a:buFont typeface="Symbol" charset="0"/>
              <a:buChar char=""/>
            </a:pPr>
            <a:r>
              <a:rPr lang="es-ES" dirty="0" smtClean="0"/>
              <a:t>Puede ser arbitrario</a:t>
            </a:r>
            <a:endParaRPr lang="es-ES" dirty="0"/>
          </a:p>
        </p:txBody>
      </p:sp>
      <p:pic>
        <p:nvPicPr>
          <p:cNvPr id="4" name="Imagen 3" descr="sistemas de coordenada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067" y="4089103"/>
            <a:ext cx="6112936" cy="277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2576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 de coordenadas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dirty="0" smtClean="0"/>
              <a:t>El mundo está en 3 dimensiones</a:t>
            </a:r>
          </a:p>
          <a:p>
            <a:pPr>
              <a:buFont typeface="Symbol" charset="0"/>
              <a:buChar char=""/>
            </a:pPr>
            <a:r>
              <a:rPr lang="es-ES" dirty="0" smtClean="0"/>
              <a:t>Se necesita un sistema de coordenadas en 3 dimensiones para describir procesos físicos.</a:t>
            </a:r>
          </a:p>
          <a:p>
            <a:pPr marL="0" indent="0">
              <a:buNone/>
            </a:pPr>
            <a:r>
              <a:rPr lang="es-ES" dirty="0" smtClean="0"/>
              <a:t>Pero:</a:t>
            </a:r>
          </a:p>
          <a:p>
            <a:pPr marL="0" indent="0">
              <a:buNone/>
            </a:pPr>
            <a:r>
              <a:rPr lang="es-ES" dirty="0" smtClean="0"/>
              <a:t>  - muchos procesos ocurren a lo largo de una línea recta (caída al suelo o movimiento de un ascensor)</a:t>
            </a:r>
            <a:r>
              <a:rPr lang="es-ES" dirty="0"/>
              <a:t/>
            </a:r>
            <a:br>
              <a:rPr lang="es-ES" dirty="0"/>
            </a:br>
            <a:r>
              <a:rPr lang="es-ES" dirty="0" smtClean="0"/>
              <a:t>	=&gt; 1 solo eje (</a:t>
            </a:r>
            <a:r>
              <a:rPr lang="es-ES" dirty="0"/>
              <a:t>1 sola </a:t>
            </a:r>
            <a:r>
              <a:rPr lang="es-ES" dirty="0" smtClean="0"/>
              <a:t>coordenada) necesario</a:t>
            </a:r>
          </a:p>
          <a:p>
            <a:pPr marL="0" indent="0">
              <a:buNone/>
            </a:pPr>
            <a:r>
              <a:rPr lang="es-ES" dirty="0"/>
              <a:t> </a:t>
            </a:r>
            <a:r>
              <a:rPr lang="es-ES" dirty="0" smtClean="0"/>
              <a:t>- otros ocurren en dos dimensiones (bolas de billar)	=&gt; 2 ejes (2 coordenadas) necesarios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56796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268" y="274638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000" dirty="0" smtClean="0"/>
              <a:t>Posición y Distancia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344218" y="4600444"/>
            <a:ext cx="8303560" cy="2886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smtClean="0">
                <a:latin typeface="+mn-lt"/>
              </a:rPr>
              <a:t>		</a:t>
            </a:r>
            <a:r>
              <a:rPr lang="es-ES_tradnl" sz="2800" dirty="0" err="1" smtClean="0">
                <a:latin typeface="+mn-lt"/>
              </a:rPr>
              <a:t>x</a:t>
            </a:r>
            <a:r>
              <a:rPr lang="es-ES_tradnl" sz="2800" baseline="-25000" dirty="0" err="1" smtClean="0">
                <a:latin typeface="+mn-lt"/>
              </a:rPr>
              <a:t>A</a:t>
            </a:r>
            <a:r>
              <a:rPr lang="es-ES_tradnl" sz="2800" dirty="0" smtClean="0">
                <a:latin typeface="+mn-lt"/>
              </a:rPr>
              <a:t>=2 m, </a:t>
            </a:r>
            <a:r>
              <a:rPr lang="es-ES_tradnl" sz="2800" dirty="0" err="1" smtClean="0"/>
              <a:t>x</a:t>
            </a:r>
            <a:r>
              <a:rPr lang="es-ES_tradnl" sz="2800" baseline="-25000" dirty="0" err="1"/>
              <a:t>B</a:t>
            </a:r>
            <a:r>
              <a:rPr lang="es-ES_tradnl" sz="2800" dirty="0" smtClean="0"/>
              <a:t>=</a:t>
            </a:r>
            <a:r>
              <a:rPr lang="es-ES_tradnl" sz="2800" dirty="0"/>
              <a:t>-3 </a:t>
            </a:r>
            <a:r>
              <a:rPr lang="es-ES_tradnl" sz="2800" dirty="0" smtClean="0"/>
              <a:t>m y </a:t>
            </a:r>
            <a:r>
              <a:rPr lang="es-ES_tradnl" sz="2800" dirty="0" err="1" smtClean="0"/>
              <a:t>x</a:t>
            </a:r>
            <a:r>
              <a:rPr lang="es-ES_tradnl" sz="2800" baseline="-25000" dirty="0" err="1"/>
              <a:t>C</a:t>
            </a:r>
            <a:r>
              <a:rPr lang="es-ES_tradnl" sz="2800" dirty="0" smtClean="0"/>
              <a:t>=-1 m</a:t>
            </a:r>
          </a:p>
          <a:p>
            <a:pPr>
              <a:lnSpc>
                <a:spcPct val="120000"/>
              </a:lnSpc>
            </a:pPr>
            <a:r>
              <a:rPr lang="es-ES_tradnl" sz="2800" dirty="0" smtClean="0"/>
              <a:t>Distancia d: </a:t>
            </a:r>
          </a:p>
          <a:p>
            <a:r>
              <a:rPr lang="es-ES_tradnl" sz="2800" dirty="0" err="1" smtClean="0"/>
              <a:t>d</a:t>
            </a:r>
            <a:r>
              <a:rPr lang="es-ES_tradnl" sz="2800" baseline="-25000" dirty="0" err="1" smtClean="0"/>
              <a:t>AB</a:t>
            </a:r>
            <a:r>
              <a:rPr lang="es-ES_tradnl" sz="2800" dirty="0" smtClean="0"/>
              <a:t> = |</a:t>
            </a:r>
            <a:r>
              <a:rPr lang="es-ES_tradnl" sz="2800" dirty="0" err="1" smtClean="0"/>
              <a:t>x</a:t>
            </a:r>
            <a:r>
              <a:rPr lang="es-ES_tradnl" sz="2800" baseline="-25000" dirty="0" err="1" smtClean="0"/>
              <a:t>B</a:t>
            </a:r>
            <a:r>
              <a:rPr lang="es-ES_tradnl" sz="2800" dirty="0" smtClean="0"/>
              <a:t> – </a:t>
            </a:r>
            <a:r>
              <a:rPr lang="es-ES_tradnl" sz="2800" dirty="0" err="1" smtClean="0"/>
              <a:t>x</a:t>
            </a:r>
            <a:r>
              <a:rPr lang="es-ES_tradnl" sz="2800" baseline="-25000" dirty="0" err="1" smtClean="0"/>
              <a:t>A</a:t>
            </a:r>
            <a:r>
              <a:rPr lang="es-ES_tradnl" sz="2800" dirty="0" smtClean="0"/>
              <a:t>| = |-3 - 2| = 5 = </a:t>
            </a:r>
            <a:r>
              <a:rPr lang="es-ES_tradnl" sz="2800" dirty="0" err="1" smtClean="0"/>
              <a:t>d</a:t>
            </a:r>
            <a:r>
              <a:rPr lang="es-ES_tradnl" sz="2800" baseline="-25000" dirty="0" err="1" smtClean="0"/>
              <a:t>BA</a:t>
            </a:r>
            <a:endParaRPr lang="es-ES_tradnl" sz="2800" baseline="-25000" dirty="0" smtClean="0"/>
          </a:p>
          <a:p>
            <a:r>
              <a:rPr lang="es-ES_tradnl" sz="2800" dirty="0" err="1" smtClean="0"/>
              <a:t>d</a:t>
            </a:r>
            <a:r>
              <a:rPr lang="es-ES_tradnl" sz="2800" baseline="-25000" dirty="0" err="1" smtClean="0"/>
              <a:t>BC</a:t>
            </a:r>
            <a:r>
              <a:rPr lang="es-ES_tradnl" sz="2800" dirty="0" smtClean="0"/>
              <a:t> </a:t>
            </a:r>
            <a:r>
              <a:rPr lang="es-ES_tradnl" sz="2800" dirty="0"/>
              <a:t>= |</a:t>
            </a:r>
            <a:r>
              <a:rPr lang="es-ES_tradnl" sz="2800" dirty="0" err="1" smtClean="0"/>
              <a:t>x</a:t>
            </a:r>
            <a:r>
              <a:rPr lang="es-ES_tradnl" sz="2800" baseline="-25000" dirty="0" err="1" smtClean="0"/>
              <a:t>C</a:t>
            </a:r>
            <a:r>
              <a:rPr lang="es-ES_tradnl" sz="2800" dirty="0" smtClean="0"/>
              <a:t> </a:t>
            </a:r>
            <a:r>
              <a:rPr lang="es-ES_tradnl" sz="2800" dirty="0"/>
              <a:t>– </a:t>
            </a:r>
            <a:r>
              <a:rPr lang="es-ES_tradnl" sz="2800" dirty="0" err="1" smtClean="0"/>
              <a:t>x</a:t>
            </a:r>
            <a:r>
              <a:rPr lang="es-ES_tradnl" sz="2800" baseline="-25000" dirty="0" err="1" smtClean="0"/>
              <a:t>B</a:t>
            </a:r>
            <a:r>
              <a:rPr lang="es-ES_tradnl" sz="2800" dirty="0" smtClean="0"/>
              <a:t>| </a:t>
            </a:r>
            <a:r>
              <a:rPr lang="es-ES_tradnl" sz="2800" dirty="0"/>
              <a:t>= |</a:t>
            </a:r>
            <a:r>
              <a:rPr lang="es-ES_tradnl" sz="2800" dirty="0" smtClean="0"/>
              <a:t>-1 – (-3)| </a:t>
            </a:r>
            <a:r>
              <a:rPr lang="es-ES_tradnl" sz="2800" dirty="0"/>
              <a:t>= 2</a:t>
            </a:r>
            <a:r>
              <a:rPr lang="es-ES_tradnl" sz="2800" dirty="0" smtClean="0"/>
              <a:t> </a:t>
            </a:r>
            <a:r>
              <a:rPr lang="es-ES_tradnl" sz="2800" dirty="0"/>
              <a:t>= </a:t>
            </a:r>
            <a:r>
              <a:rPr lang="es-ES_tradnl" sz="2800" dirty="0" err="1" smtClean="0"/>
              <a:t>d</a:t>
            </a:r>
            <a:r>
              <a:rPr lang="es-ES_tradnl" sz="2800" baseline="-25000" dirty="0" err="1" smtClean="0"/>
              <a:t>CB</a:t>
            </a:r>
            <a:r>
              <a:rPr lang="es-ES_tradnl" sz="2800" baseline="-25000" dirty="0" smtClean="0"/>
              <a:t>		</a:t>
            </a:r>
            <a:r>
              <a:rPr lang="es-ES_tradnl" sz="2800" dirty="0" err="1" smtClean="0"/>
              <a:t>d</a:t>
            </a:r>
            <a:r>
              <a:rPr lang="es-ES_tradnl" sz="2800" baseline="-25000" dirty="0" err="1" smtClean="0"/>
              <a:t>AC</a:t>
            </a:r>
            <a:r>
              <a:rPr lang="es-ES_tradnl" sz="2800" dirty="0" smtClean="0"/>
              <a:t> =?</a:t>
            </a:r>
            <a:endParaRPr lang="es-ES_tradnl" sz="2800" baseline="-25000" dirty="0"/>
          </a:p>
          <a:p>
            <a:r>
              <a:rPr lang="es-ES_tradnl" sz="3200" dirty="0" smtClean="0"/>
              <a:t>  </a:t>
            </a:r>
            <a:endParaRPr lang="es-ES_tradnl" sz="3200" dirty="0"/>
          </a:p>
          <a:p>
            <a:pPr lvl="0"/>
            <a:endParaRPr lang="es-ES_tradnl" sz="3200" dirty="0" smtClean="0">
              <a:latin typeface="+mn-lt"/>
            </a:endParaRPr>
          </a:p>
        </p:txBody>
      </p:sp>
      <p:cxnSp>
        <p:nvCxnSpPr>
          <p:cNvPr id="23" name="22 Conector recto"/>
          <p:cNvCxnSpPr/>
          <p:nvPr/>
        </p:nvCxnSpPr>
        <p:spPr>
          <a:xfrm>
            <a:off x="1077547" y="4200610"/>
            <a:ext cx="4541572" cy="0"/>
          </a:xfrm>
          <a:prstGeom prst="line">
            <a:avLst/>
          </a:pr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>
            <a:off x="1617600" y="4141072"/>
            <a:ext cx="0" cy="1432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4748581" y="4100327"/>
            <a:ext cx="0" cy="198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>
            <a:off x="3474077" y="4115370"/>
            <a:ext cx="0" cy="176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31 CuadroTexto"/>
          <p:cNvSpPr txBox="1"/>
          <p:nvPr/>
        </p:nvSpPr>
        <p:spPr>
          <a:xfrm>
            <a:off x="3363107" y="425864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 smtClean="0"/>
              <a:t>0</a:t>
            </a:r>
            <a:endParaRPr lang="es-CO" dirty="0"/>
          </a:p>
        </p:txBody>
      </p:sp>
      <p:sp>
        <p:nvSpPr>
          <p:cNvPr id="33" name="32 CuadroTexto"/>
          <p:cNvSpPr txBox="1"/>
          <p:nvPr/>
        </p:nvSpPr>
        <p:spPr>
          <a:xfrm>
            <a:off x="4514948" y="3619509"/>
            <a:ext cx="4283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dirty="0" smtClean="0"/>
              <a:t>A</a:t>
            </a:r>
            <a:endParaRPr lang="es-CO" sz="2800" baseline="-25000" dirty="0"/>
          </a:p>
        </p:txBody>
      </p:sp>
      <p:sp>
        <p:nvSpPr>
          <p:cNvPr id="34" name="33 CuadroTexto"/>
          <p:cNvSpPr txBox="1"/>
          <p:nvPr/>
        </p:nvSpPr>
        <p:spPr>
          <a:xfrm>
            <a:off x="1366482" y="3621694"/>
            <a:ext cx="424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dirty="0" smtClean="0"/>
              <a:t>B</a:t>
            </a:r>
            <a:endParaRPr lang="es-CO" sz="2800" baseline="-25000" dirty="0"/>
          </a:p>
        </p:txBody>
      </p:sp>
      <p:sp>
        <p:nvSpPr>
          <p:cNvPr id="35" name="34 CuadroTexto"/>
          <p:cNvSpPr txBox="1"/>
          <p:nvPr/>
        </p:nvSpPr>
        <p:spPr>
          <a:xfrm>
            <a:off x="4600877" y="42522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 smtClean="0"/>
              <a:t>2</a:t>
            </a:r>
            <a:endParaRPr lang="es-CO" dirty="0"/>
          </a:p>
        </p:txBody>
      </p:sp>
      <p:sp>
        <p:nvSpPr>
          <p:cNvPr id="36" name="35 CuadroTexto"/>
          <p:cNvSpPr txBox="1"/>
          <p:nvPr/>
        </p:nvSpPr>
        <p:spPr>
          <a:xfrm rot="10800000" flipV="1">
            <a:off x="1391143" y="4243145"/>
            <a:ext cx="528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/>
              <a:t>-3</a:t>
            </a:r>
            <a:endParaRPr lang="es-CO" dirty="0"/>
          </a:p>
        </p:txBody>
      </p:sp>
      <p:sp>
        <p:nvSpPr>
          <p:cNvPr id="37" name="33 CuadroTexto"/>
          <p:cNvSpPr txBox="1"/>
          <p:nvPr/>
        </p:nvSpPr>
        <p:spPr>
          <a:xfrm>
            <a:off x="5661350" y="3895674"/>
            <a:ext cx="1002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dirty="0"/>
              <a:t>x</a:t>
            </a:r>
            <a:r>
              <a:rPr lang="es-CO" sz="2800" dirty="0" smtClean="0"/>
              <a:t> (m)</a:t>
            </a:r>
            <a:endParaRPr lang="es-CO" sz="2800" baseline="-25000" dirty="0"/>
          </a:p>
        </p:txBody>
      </p:sp>
      <p:sp>
        <p:nvSpPr>
          <p:cNvPr id="39" name="6 CuadroTexto"/>
          <p:cNvSpPr txBox="1"/>
          <p:nvPr/>
        </p:nvSpPr>
        <p:spPr>
          <a:xfrm>
            <a:off x="534165" y="1362736"/>
            <a:ext cx="811361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ES_tradnl" sz="2800" dirty="0" smtClean="0">
                <a:latin typeface="+mn-lt"/>
              </a:rPr>
              <a:t>Determinación de un eje para describir un movimiento en 1 D:</a:t>
            </a:r>
          </a:p>
          <a:p>
            <a:pPr marL="457200" lvl="0" indent="-457200">
              <a:buFont typeface="Arial"/>
              <a:buChar char="•"/>
            </a:pPr>
            <a:r>
              <a:rPr lang="es-ES_tradnl" sz="2800" dirty="0" smtClean="0">
                <a:latin typeface="+mn-lt"/>
              </a:rPr>
              <a:t>El originen</a:t>
            </a:r>
          </a:p>
          <a:p>
            <a:pPr marL="457200" lvl="0" indent="-457200">
              <a:buFont typeface="Arial"/>
              <a:buChar char="•"/>
            </a:pPr>
            <a:r>
              <a:rPr lang="es-ES_tradnl" sz="2800" dirty="0" smtClean="0">
                <a:latin typeface="+mn-lt"/>
              </a:rPr>
              <a:t>Dirección y sentido del eje</a:t>
            </a:r>
          </a:p>
          <a:p>
            <a:pPr marL="457200" lvl="0" indent="-457200">
              <a:buFont typeface="Arial"/>
              <a:buChar char="•"/>
            </a:pPr>
            <a:r>
              <a:rPr lang="es-ES_tradnl" sz="2800" dirty="0" smtClean="0">
                <a:latin typeface="+mn-lt"/>
              </a:rPr>
              <a:t>Unidades </a:t>
            </a:r>
          </a:p>
        </p:txBody>
      </p:sp>
      <p:sp>
        <p:nvSpPr>
          <p:cNvPr id="41" name="35 CuadroTexto"/>
          <p:cNvSpPr txBox="1"/>
          <p:nvPr/>
        </p:nvSpPr>
        <p:spPr>
          <a:xfrm rot="10800000" flipV="1">
            <a:off x="2576195" y="4252038"/>
            <a:ext cx="528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/>
              <a:t>-1</a:t>
            </a:r>
            <a:endParaRPr lang="es-CO" dirty="0"/>
          </a:p>
        </p:txBody>
      </p:sp>
      <p:cxnSp>
        <p:nvCxnSpPr>
          <p:cNvPr id="42" name="25 Conector recto"/>
          <p:cNvCxnSpPr/>
          <p:nvPr/>
        </p:nvCxnSpPr>
        <p:spPr>
          <a:xfrm>
            <a:off x="2802690" y="4127292"/>
            <a:ext cx="0" cy="1432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33 CuadroTexto"/>
          <p:cNvSpPr txBox="1"/>
          <p:nvPr/>
        </p:nvSpPr>
        <p:spPr>
          <a:xfrm>
            <a:off x="2597027" y="3619509"/>
            <a:ext cx="4439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dirty="0"/>
              <a:t>C</a:t>
            </a:r>
            <a:endParaRPr lang="es-CO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25511464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268" y="274638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000" dirty="0" smtClean="0"/>
              <a:t>Posición y Vector Posición</a:t>
            </a:r>
          </a:p>
        </p:txBody>
      </p:sp>
      <p:graphicFrame>
        <p:nvGraphicFramePr>
          <p:cNvPr id="6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0692665"/>
              </p:ext>
            </p:extLst>
          </p:nvPr>
        </p:nvGraphicFramePr>
        <p:xfrm>
          <a:off x="3006506" y="4928800"/>
          <a:ext cx="2559050" cy="146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121" name="Ecuación" r:id="rId4" imgW="888840" imgH="507960" progId="Equation.3">
                  <p:embed/>
                </p:oleObj>
              </mc:Choice>
              <mc:Fallback>
                <p:oleObj name="Ecuación" r:id="rId4" imgW="88884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6506" y="4928800"/>
                        <a:ext cx="2559050" cy="1462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6 CuadroTexto"/>
          <p:cNvSpPr txBox="1"/>
          <p:nvPr/>
        </p:nvSpPr>
        <p:spPr>
          <a:xfrm>
            <a:off x="1160636" y="5008790"/>
            <a:ext cx="178301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ES_tradnl" sz="3200" dirty="0" smtClean="0">
                <a:latin typeface="+mn-lt"/>
              </a:rPr>
              <a:t>x</a:t>
            </a:r>
            <a:r>
              <a:rPr lang="es-ES_tradnl" sz="3200" baseline="-25000" dirty="0" smtClean="0">
                <a:latin typeface="+mn-lt"/>
              </a:rPr>
              <a:t>1</a:t>
            </a:r>
            <a:r>
              <a:rPr lang="es-ES_tradnl" sz="3200" dirty="0" smtClean="0">
                <a:latin typeface="+mn-lt"/>
              </a:rPr>
              <a:t>=2 m</a:t>
            </a:r>
          </a:p>
        </p:txBody>
      </p:sp>
      <p:sp>
        <p:nvSpPr>
          <p:cNvPr id="17" name="16 CuadroTexto"/>
          <p:cNvSpPr txBox="1"/>
          <p:nvPr/>
        </p:nvSpPr>
        <p:spPr>
          <a:xfrm>
            <a:off x="1101883" y="5760735"/>
            <a:ext cx="160437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ES_tradnl" sz="3200" dirty="0" smtClean="0">
                <a:latin typeface="+mn-lt"/>
              </a:rPr>
              <a:t>x</a:t>
            </a:r>
            <a:r>
              <a:rPr lang="es-ES_tradnl" sz="3200" baseline="-25000" dirty="0" smtClean="0">
                <a:latin typeface="+mn-lt"/>
              </a:rPr>
              <a:t>2</a:t>
            </a:r>
            <a:r>
              <a:rPr lang="es-ES_tradnl" sz="3200" dirty="0" smtClean="0">
                <a:latin typeface="+mn-lt"/>
              </a:rPr>
              <a:t>=-3 m</a:t>
            </a:r>
          </a:p>
        </p:txBody>
      </p:sp>
      <p:cxnSp>
        <p:nvCxnSpPr>
          <p:cNvPr id="23" name="22 Conector recto"/>
          <p:cNvCxnSpPr/>
          <p:nvPr/>
        </p:nvCxnSpPr>
        <p:spPr>
          <a:xfrm>
            <a:off x="1077547" y="4446396"/>
            <a:ext cx="4541572" cy="0"/>
          </a:xfrm>
          <a:prstGeom prst="line">
            <a:avLst/>
          </a:pr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>
            <a:off x="1617600" y="4386858"/>
            <a:ext cx="0" cy="1432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4748581" y="4346113"/>
            <a:ext cx="0" cy="198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>
            <a:off x="3474077" y="4361156"/>
            <a:ext cx="0" cy="176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31 CuadroTexto"/>
          <p:cNvSpPr txBox="1"/>
          <p:nvPr/>
        </p:nvSpPr>
        <p:spPr>
          <a:xfrm>
            <a:off x="3363107" y="450442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 smtClean="0"/>
              <a:t>0</a:t>
            </a:r>
            <a:endParaRPr lang="es-CO" dirty="0"/>
          </a:p>
        </p:txBody>
      </p:sp>
      <p:sp>
        <p:nvSpPr>
          <p:cNvPr id="33" name="32 CuadroTexto"/>
          <p:cNvSpPr txBox="1"/>
          <p:nvPr/>
        </p:nvSpPr>
        <p:spPr>
          <a:xfrm>
            <a:off x="4514948" y="3865295"/>
            <a:ext cx="497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dirty="0" smtClean="0"/>
              <a:t>x</a:t>
            </a:r>
            <a:r>
              <a:rPr lang="es-CO" sz="2800" baseline="-25000" dirty="0" smtClean="0"/>
              <a:t>1</a:t>
            </a:r>
            <a:endParaRPr lang="es-CO" sz="2800" baseline="-25000" dirty="0"/>
          </a:p>
        </p:txBody>
      </p:sp>
      <p:sp>
        <p:nvSpPr>
          <p:cNvPr id="34" name="33 CuadroTexto"/>
          <p:cNvSpPr txBox="1"/>
          <p:nvPr/>
        </p:nvSpPr>
        <p:spPr>
          <a:xfrm>
            <a:off x="1366482" y="3867480"/>
            <a:ext cx="497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dirty="0" smtClean="0"/>
              <a:t>x</a:t>
            </a:r>
            <a:r>
              <a:rPr lang="es-CO" sz="2800" baseline="-25000" dirty="0" smtClean="0"/>
              <a:t>2</a:t>
            </a:r>
            <a:endParaRPr lang="es-CO" sz="2800" baseline="-25000" dirty="0"/>
          </a:p>
        </p:txBody>
      </p:sp>
      <p:graphicFrame>
        <p:nvGraphicFramePr>
          <p:cNvPr id="235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171217"/>
              </p:ext>
            </p:extLst>
          </p:nvPr>
        </p:nvGraphicFramePr>
        <p:xfrm>
          <a:off x="6283448" y="4928800"/>
          <a:ext cx="1206500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122" name="Ecuación" r:id="rId6" imgW="419040" imgH="215640" progId="Equation.3">
                  <p:embed/>
                </p:oleObj>
              </mc:Choice>
              <mc:Fallback>
                <p:oleObj name="Ecuación" r:id="rId6" imgW="4190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3448" y="4928800"/>
                        <a:ext cx="1206500" cy="620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34 CuadroTexto"/>
          <p:cNvSpPr txBox="1"/>
          <p:nvPr/>
        </p:nvSpPr>
        <p:spPr>
          <a:xfrm>
            <a:off x="4600877" y="449803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 smtClean="0"/>
              <a:t>2</a:t>
            </a:r>
            <a:endParaRPr lang="es-CO" dirty="0"/>
          </a:p>
        </p:txBody>
      </p:sp>
      <p:sp>
        <p:nvSpPr>
          <p:cNvPr id="36" name="35 CuadroTexto"/>
          <p:cNvSpPr txBox="1"/>
          <p:nvPr/>
        </p:nvSpPr>
        <p:spPr>
          <a:xfrm rot="10800000" flipV="1">
            <a:off x="1391143" y="4488931"/>
            <a:ext cx="528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/>
              <a:t>-3</a:t>
            </a:r>
            <a:endParaRPr lang="es-CO" dirty="0"/>
          </a:p>
        </p:txBody>
      </p:sp>
      <p:graphicFrame>
        <p:nvGraphicFramePr>
          <p:cNvPr id="235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5181780"/>
              </p:ext>
            </p:extLst>
          </p:nvPr>
        </p:nvGraphicFramePr>
        <p:xfrm>
          <a:off x="5891753" y="5570888"/>
          <a:ext cx="212090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123" name="Ecuación" r:id="rId8" imgW="736560" imgH="241200" progId="Equation.3">
                  <p:embed/>
                </p:oleObj>
              </mc:Choice>
              <mc:Fallback>
                <p:oleObj name="Ecuación" r:id="rId8" imgW="7365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1753" y="5570888"/>
                        <a:ext cx="2120900" cy="693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33 CuadroTexto"/>
          <p:cNvSpPr txBox="1"/>
          <p:nvPr/>
        </p:nvSpPr>
        <p:spPr>
          <a:xfrm>
            <a:off x="5661350" y="4141460"/>
            <a:ext cx="10621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dirty="0" smtClean="0"/>
              <a:t>X (m)</a:t>
            </a:r>
            <a:endParaRPr lang="es-CO" sz="2800" baseline="-25000" dirty="0"/>
          </a:p>
        </p:txBody>
      </p:sp>
      <p:sp>
        <p:nvSpPr>
          <p:cNvPr id="39" name="6 CuadroTexto"/>
          <p:cNvSpPr txBox="1"/>
          <p:nvPr/>
        </p:nvSpPr>
        <p:spPr>
          <a:xfrm>
            <a:off x="534165" y="1362736"/>
            <a:ext cx="811361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ES_tradnl" sz="2800" dirty="0" smtClean="0">
                <a:latin typeface="+mn-lt"/>
              </a:rPr>
              <a:t>Determinación de un eje para describir un movimiento en 1 D:</a:t>
            </a:r>
          </a:p>
          <a:p>
            <a:pPr marL="457200" lvl="0" indent="-457200">
              <a:buFont typeface="Arial"/>
              <a:buChar char="•"/>
            </a:pPr>
            <a:r>
              <a:rPr lang="es-ES_tradnl" sz="2800" dirty="0" smtClean="0">
                <a:latin typeface="+mn-lt"/>
              </a:rPr>
              <a:t>El originen</a:t>
            </a:r>
          </a:p>
          <a:p>
            <a:pPr marL="457200" lvl="0" indent="-457200">
              <a:buFont typeface="Arial"/>
              <a:buChar char="•"/>
            </a:pPr>
            <a:r>
              <a:rPr lang="es-ES_tradnl" sz="2800" dirty="0" smtClean="0">
                <a:latin typeface="+mn-lt"/>
              </a:rPr>
              <a:t>Dirección y sentido del eje</a:t>
            </a:r>
          </a:p>
          <a:p>
            <a:pPr marL="457200" lvl="0" indent="-457200">
              <a:buFont typeface="Arial"/>
              <a:buChar char="•"/>
            </a:pPr>
            <a:r>
              <a:rPr lang="es-ES_tradnl" sz="2800" dirty="0" smtClean="0">
                <a:latin typeface="+mn-lt"/>
              </a:rPr>
              <a:t>Unidades </a:t>
            </a:r>
          </a:p>
        </p:txBody>
      </p:sp>
    </p:spTree>
    <p:extLst>
      <p:ext uri="{BB962C8B-B14F-4D97-AF65-F5344CB8AC3E}">
        <p14:creationId xmlns:p14="http://schemas.microsoft.com/office/powerpoint/2010/main" val="19747273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268" y="274638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000" dirty="0" smtClean="0"/>
              <a:t>Posición y Desplazamiento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273002" y="2713396"/>
            <a:ext cx="8641026" cy="3674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smtClean="0">
                <a:latin typeface="+mn-lt"/>
              </a:rPr>
              <a:t>		</a:t>
            </a:r>
            <a:r>
              <a:rPr lang="es-ES_tradnl" sz="2800" dirty="0" err="1" smtClean="0">
                <a:latin typeface="+mn-lt"/>
              </a:rPr>
              <a:t>x</a:t>
            </a:r>
            <a:r>
              <a:rPr lang="es-ES_tradnl" sz="2800" baseline="-25000" dirty="0" err="1" smtClean="0">
                <a:latin typeface="+mn-lt"/>
              </a:rPr>
              <a:t>A</a:t>
            </a:r>
            <a:r>
              <a:rPr lang="es-ES_tradnl" sz="2800" dirty="0" smtClean="0">
                <a:latin typeface="+mn-lt"/>
              </a:rPr>
              <a:t>=2 m, </a:t>
            </a:r>
            <a:r>
              <a:rPr lang="es-ES_tradnl" sz="2800" dirty="0" err="1" smtClean="0"/>
              <a:t>x</a:t>
            </a:r>
            <a:r>
              <a:rPr lang="es-ES_tradnl" sz="2800" baseline="-25000" dirty="0" err="1"/>
              <a:t>B</a:t>
            </a:r>
            <a:r>
              <a:rPr lang="es-ES_tradnl" sz="2800" dirty="0" smtClean="0"/>
              <a:t>=</a:t>
            </a:r>
            <a:r>
              <a:rPr lang="es-ES_tradnl" sz="2800" dirty="0"/>
              <a:t>-3 </a:t>
            </a:r>
            <a:r>
              <a:rPr lang="es-ES_tradnl" sz="2800" dirty="0" smtClean="0"/>
              <a:t>m y </a:t>
            </a:r>
            <a:r>
              <a:rPr lang="es-ES_tradnl" sz="2800" dirty="0" err="1" smtClean="0"/>
              <a:t>x</a:t>
            </a:r>
            <a:r>
              <a:rPr lang="es-ES_tradnl" sz="2800" baseline="-25000" dirty="0" err="1"/>
              <a:t>C</a:t>
            </a:r>
            <a:r>
              <a:rPr lang="es-ES_tradnl" sz="2800" dirty="0" smtClean="0"/>
              <a:t>=-1 m</a:t>
            </a:r>
          </a:p>
          <a:p>
            <a:endParaRPr lang="es-ES_tradnl" sz="1000" dirty="0" smtClean="0"/>
          </a:p>
          <a:p>
            <a:pPr>
              <a:lnSpc>
                <a:spcPct val="110000"/>
              </a:lnSpc>
            </a:pPr>
            <a:r>
              <a:rPr lang="es-ES_tradnl" sz="2400" dirty="0" smtClean="0"/>
              <a:t>Desplazamiento </a:t>
            </a:r>
            <a:r>
              <a:rPr lang="es-ES_tradnl" sz="2400" b="1" dirty="0" err="1" smtClean="0"/>
              <a:t>d</a:t>
            </a:r>
            <a:r>
              <a:rPr lang="es-ES_tradnl" sz="2400" b="1" baseline="-25000" dirty="0" err="1" smtClean="0"/>
              <a:t>AB</a:t>
            </a:r>
            <a:r>
              <a:rPr lang="es-ES_tradnl" sz="2400" dirty="0" smtClean="0"/>
              <a:t>: corresponde al proceso de mover desde el punto A al punto B</a:t>
            </a:r>
          </a:p>
          <a:p>
            <a:pPr>
              <a:lnSpc>
                <a:spcPct val="110000"/>
              </a:lnSpc>
            </a:pPr>
            <a:endParaRPr lang="es-ES_tradnl" sz="1000" dirty="0" smtClean="0"/>
          </a:p>
          <a:p>
            <a:r>
              <a:rPr lang="es-ES_tradnl" sz="2800" b="1" dirty="0" err="1" smtClean="0"/>
              <a:t>d</a:t>
            </a:r>
            <a:r>
              <a:rPr lang="es-ES_tradnl" sz="2800" b="1" baseline="-25000" dirty="0" err="1" smtClean="0"/>
              <a:t>AB</a:t>
            </a:r>
            <a:r>
              <a:rPr lang="es-ES_tradnl" sz="2800" dirty="0" smtClean="0"/>
              <a:t> = </a:t>
            </a:r>
            <a:r>
              <a:rPr lang="es-ES_tradnl" sz="2800" dirty="0" err="1" smtClean="0"/>
              <a:t>x</a:t>
            </a:r>
            <a:r>
              <a:rPr lang="es-ES_tradnl" sz="2800" baseline="-25000" dirty="0" err="1" smtClean="0"/>
              <a:t>B</a:t>
            </a:r>
            <a:r>
              <a:rPr lang="es-ES_tradnl" sz="2800" dirty="0" smtClean="0"/>
              <a:t> – </a:t>
            </a:r>
            <a:r>
              <a:rPr lang="es-ES_tradnl" sz="2800" dirty="0" err="1" smtClean="0"/>
              <a:t>x</a:t>
            </a:r>
            <a:r>
              <a:rPr lang="es-ES_tradnl" sz="2800" baseline="-25000" dirty="0" err="1" smtClean="0"/>
              <a:t>A</a:t>
            </a:r>
            <a:r>
              <a:rPr lang="es-ES_tradnl" sz="2800" dirty="0" smtClean="0"/>
              <a:t> = -3 - 2 = -5 </a:t>
            </a:r>
            <a:r>
              <a:rPr lang="es-ES_tradnl" sz="2800" b="1" dirty="0" smtClean="0"/>
              <a:t>i</a:t>
            </a:r>
            <a:r>
              <a:rPr lang="es-ES_tradnl" sz="2800" dirty="0" smtClean="0"/>
              <a:t> = - </a:t>
            </a:r>
            <a:r>
              <a:rPr lang="es-ES_tradnl" sz="2800" b="1" dirty="0" err="1" smtClean="0"/>
              <a:t>d</a:t>
            </a:r>
            <a:r>
              <a:rPr lang="es-ES_tradnl" sz="2800" b="1" baseline="-25000" dirty="0" err="1" smtClean="0"/>
              <a:t>BA</a:t>
            </a:r>
            <a:endParaRPr lang="es-ES_tradnl" sz="2800" b="1" baseline="-25000" dirty="0" smtClean="0"/>
          </a:p>
          <a:p>
            <a:r>
              <a:rPr lang="es-ES_tradnl" sz="2800" b="1" dirty="0" err="1" smtClean="0"/>
              <a:t>d</a:t>
            </a:r>
            <a:r>
              <a:rPr lang="es-ES_tradnl" sz="2800" b="1" baseline="-25000" dirty="0" err="1" smtClean="0"/>
              <a:t>BC</a:t>
            </a:r>
            <a:r>
              <a:rPr lang="es-ES_tradnl" sz="2800" dirty="0" smtClean="0"/>
              <a:t> </a:t>
            </a:r>
            <a:r>
              <a:rPr lang="es-ES_tradnl" sz="2800" dirty="0"/>
              <a:t>= </a:t>
            </a:r>
            <a:r>
              <a:rPr lang="es-ES_tradnl" sz="2800" dirty="0" err="1" smtClean="0"/>
              <a:t>x</a:t>
            </a:r>
            <a:r>
              <a:rPr lang="es-ES_tradnl" sz="2800" baseline="-25000" dirty="0" err="1" smtClean="0"/>
              <a:t>C</a:t>
            </a:r>
            <a:r>
              <a:rPr lang="es-ES_tradnl" sz="2800" dirty="0" smtClean="0"/>
              <a:t> </a:t>
            </a:r>
            <a:r>
              <a:rPr lang="es-ES_tradnl" sz="2800" dirty="0"/>
              <a:t>– </a:t>
            </a:r>
            <a:r>
              <a:rPr lang="es-ES_tradnl" sz="2800" dirty="0" err="1" smtClean="0"/>
              <a:t>x</a:t>
            </a:r>
            <a:r>
              <a:rPr lang="es-ES_tradnl" sz="2800" baseline="-25000" dirty="0" err="1" smtClean="0"/>
              <a:t>B</a:t>
            </a:r>
            <a:r>
              <a:rPr lang="es-ES_tradnl" sz="2800" dirty="0" smtClean="0"/>
              <a:t> </a:t>
            </a:r>
            <a:r>
              <a:rPr lang="es-ES_tradnl" sz="2800" dirty="0"/>
              <a:t>= </a:t>
            </a:r>
            <a:r>
              <a:rPr lang="es-ES_tradnl" sz="2800" dirty="0" smtClean="0"/>
              <a:t>-1 – (-3) </a:t>
            </a:r>
            <a:r>
              <a:rPr lang="es-ES_tradnl" sz="2800" dirty="0"/>
              <a:t>= </a:t>
            </a:r>
            <a:r>
              <a:rPr lang="es-ES_tradnl" sz="2800" dirty="0" smtClean="0"/>
              <a:t>2 </a:t>
            </a:r>
            <a:r>
              <a:rPr lang="es-ES_tradnl" sz="2800" b="1" dirty="0" smtClean="0"/>
              <a:t>i</a:t>
            </a:r>
            <a:r>
              <a:rPr lang="es-ES_tradnl" sz="2800" dirty="0" smtClean="0"/>
              <a:t> </a:t>
            </a:r>
            <a:r>
              <a:rPr lang="es-ES_tradnl" sz="2800" dirty="0"/>
              <a:t>= </a:t>
            </a:r>
            <a:r>
              <a:rPr lang="es-ES_tradnl" sz="2800" dirty="0" smtClean="0"/>
              <a:t>- </a:t>
            </a:r>
            <a:r>
              <a:rPr lang="es-ES_tradnl" sz="2800" b="1" dirty="0" err="1" smtClean="0"/>
              <a:t>d</a:t>
            </a:r>
            <a:r>
              <a:rPr lang="es-ES_tradnl" sz="2800" b="1" baseline="-25000" dirty="0" err="1" smtClean="0"/>
              <a:t>CB</a:t>
            </a:r>
            <a:endParaRPr lang="es-ES_tradnl" sz="2800" b="1" baseline="-25000" dirty="0"/>
          </a:p>
          <a:p>
            <a:r>
              <a:rPr lang="es-ES_tradnl" sz="2800" b="1" dirty="0" err="1" smtClean="0"/>
              <a:t>d</a:t>
            </a:r>
            <a:r>
              <a:rPr lang="es-ES_tradnl" sz="2800" b="1" baseline="-25000" dirty="0" err="1" smtClean="0"/>
              <a:t>AC</a:t>
            </a:r>
            <a:r>
              <a:rPr lang="es-ES_tradnl" sz="2800" dirty="0" smtClean="0"/>
              <a:t> =?</a:t>
            </a:r>
          </a:p>
          <a:p>
            <a:endParaRPr lang="es-ES_tradnl" sz="1500" dirty="0"/>
          </a:p>
          <a:p>
            <a:pPr lvl="0"/>
            <a:r>
              <a:rPr lang="es-ES_tradnl" sz="2800" dirty="0" smtClean="0">
                <a:latin typeface="+mn-lt"/>
              </a:rPr>
              <a:t>Distancia recorrida: </a:t>
            </a:r>
            <a:r>
              <a:rPr lang="es-ES_tradnl" sz="2800" dirty="0" err="1" smtClean="0"/>
              <a:t>d</a:t>
            </a:r>
            <a:r>
              <a:rPr lang="es-ES_tradnl" sz="2800" baseline="-25000" dirty="0" err="1" smtClean="0"/>
              <a:t>ABC</a:t>
            </a:r>
            <a:r>
              <a:rPr lang="es-ES_tradnl" sz="2800" dirty="0" smtClean="0"/>
              <a:t> = 5 + 2 ≠ </a:t>
            </a:r>
            <a:r>
              <a:rPr lang="es-ES_tradnl" sz="2800" dirty="0" err="1" smtClean="0"/>
              <a:t>d</a:t>
            </a:r>
            <a:r>
              <a:rPr lang="es-ES_tradnl" sz="2800" baseline="-25000" dirty="0" err="1" smtClean="0"/>
              <a:t>AC</a:t>
            </a:r>
            <a:endParaRPr lang="es-ES_tradnl" sz="2800" dirty="0" smtClean="0">
              <a:latin typeface="+mn-lt"/>
            </a:endParaRPr>
          </a:p>
        </p:txBody>
      </p:sp>
      <p:cxnSp>
        <p:nvCxnSpPr>
          <p:cNvPr id="23" name="22 Conector recto"/>
          <p:cNvCxnSpPr/>
          <p:nvPr/>
        </p:nvCxnSpPr>
        <p:spPr>
          <a:xfrm>
            <a:off x="1075563" y="2226682"/>
            <a:ext cx="4541572" cy="0"/>
          </a:xfrm>
          <a:prstGeom prst="line">
            <a:avLst/>
          </a:pr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>
            <a:off x="1615616" y="2167144"/>
            <a:ext cx="0" cy="1432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4746597" y="2126399"/>
            <a:ext cx="0" cy="198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>
            <a:off x="3472093" y="2141442"/>
            <a:ext cx="0" cy="176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31 CuadroTexto"/>
          <p:cNvSpPr txBox="1"/>
          <p:nvPr/>
        </p:nvSpPr>
        <p:spPr>
          <a:xfrm>
            <a:off x="3361123" y="228471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 smtClean="0"/>
              <a:t>0</a:t>
            </a:r>
            <a:endParaRPr lang="es-CO" dirty="0"/>
          </a:p>
        </p:txBody>
      </p:sp>
      <p:sp>
        <p:nvSpPr>
          <p:cNvPr id="33" name="32 CuadroTexto"/>
          <p:cNvSpPr txBox="1"/>
          <p:nvPr/>
        </p:nvSpPr>
        <p:spPr>
          <a:xfrm>
            <a:off x="4512964" y="1645581"/>
            <a:ext cx="4283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dirty="0" smtClean="0"/>
              <a:t>A</a:t>
            </a:r>
            <a:endParaRPr lang="es-CO" sz="2800" baseline="-25000" dirty="0"/>
          </a:p>
        </p:txBody>
      </p:sp>
      <p:sp>
        <p:nvSpPr>
          <p:cNvPr id="34" name="33 CuadroTexto"/>
          <p:cNvSpPr txBox="1"/>
          <p:nvPr/>
        </p:nvSpPr>
        <p:spPr>
          <a:xfrm>
            <a:off x="1364498" y="1647766"/>
            <a:ext cx="424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dirty="0" smtClean="0"/>
              <a:t>B</a:t>
            </a:r>
            <a:endParaRPr lang="es-CO" sz="2800" baseline="-25000" dirty="0"/>
          </a:p>
        </p:txBody>
      </p:sp>
      <p:sp>
        <p:nvSpPr>
          <p:cNvPr id="35" name="34 CuadroTexto"/>
          <p:cNvSpPr txBox="1"/>
          <p:nvPr/>
        </p:nvSpPr>
        <p:spPr>
          <a:xfrm>
            <a:off x="4598893" y="227831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 smtClean="0"/>
              <a:t>2</a:t>
            </a:r>
            <a:endParaRPr lang="es-CO" dirty="0"/>
          </a:p>
        </p:txBody>
      </p:sp>
      <p:sp>
        <p:nvSpPr>
          <p:cNvPr id="36" name="35 CuadroTexto"/>
          <p:cNvSpPr txBox="1"/>
          <p:nvPr/>
        </p:nvSpPr>
        <p:spPr>
          <a:xfrm rot="10800000" flipV="1">
            <a:off x="1389159" y="2269217"/>
            <a:ext cx="528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/>
              <a:t>-3</a:t>
            </a:r>
            <a:endParaRPr lang="es-CO" dirty="0"/>
          </a:p>
        </p:txBody>
      </p:sp>
      <p:sp>
        <p:nvSpPr>
          <p:cNvPr id="37" name="33 CuadroTexto"/>
          <p:cNvSpPr txBox="1"/>
          <p:nvPr/>
        </p:nvSpPr>
        <p:spPr>
          <a:xfrm>
            <a:off x="5659366" y="1921746"/>
            <a:ext cx="1002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dirty="0"/>
              <a:t>x</a:t>
            </a:r>
            <a:r>
              <a:rPr lang="es-CO" sz="2800" dirty="0" smtClean="0"/>
              <a:t> (m)</a:t>
            </a:r>
            <a:endParaRPr lang="es-CO" sz="2800" baseline="-25000" dirty="0"/>
          </a:p>
        </p:txBody>
      </p:sp>
      <p:sp>
        <p:nvSpPr>
          <p:cNvPr id="41" name="35 CuadroTexto"/>
          <p:cNvSpPr txBox="1"/>
          <p:nvPr/>
        </p:nvSpPr>
        <p:spPr>
          <a:xfrm rot="10800000" flipV="1">
            <a:off x="2574211" y="2278110"/>
            <a:ext cx="528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/>
              <a:t>-1</a:t>
            </a:r>
            <a:endParaRPr lang="es-CO" dirty="0"/>
          </a:p>
        </p:txBody>
      </p:sp>
      <p:cxnSp>
        <p:nvCxnSpPr>
          <p:cNvPr id="42" name="25 Conector recto"/>
          <p:cNvCxnSpPr/>
          <p:nvPr/>
        </p:nvCxnSpPr>
        <p:spPr>
          <a:xfrm>
            <a:off x="2800706" y="2153364"/>
            <a:ext cx="0" cy="1432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33 CuadroTexto"/>
          <p:cNvSpPr txBox="1"/>
          <p:nvPr/>
        </p:nvSpPr>
        <p:spPr>
          <a:xfrm>
            <a:off x="2595043" y="1645581"/>
            <a:ext cx="4439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dirty="0"/>
              <a:t>C</a:t>
            </a:r>
            <a:endParaRPr lang="es-CO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32515369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694"/>
            <a:ext cx="8229600" cy="1143000"/>
          </a:xfrm>
        </p:spPr>
        <p:txBody>
          <a:bodyPr/>
          <a:lstStyle/>
          <a:p>
            <a:r>
              <a:rPr lang="es-ES" sz="6000" dirty="0" smtClean="0"/>
              <a:t>Cinemática</a:t>
            </a:r>
            <a:endParaRPr lang="es-ES" sz="6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409700"/>
            <a:ext cx="8229600" cy="4525963"/>
          </a:xfrm>
        </p:spPr>
        <p:txBody>
          <a:bodyPr/>
          <a:lstStyle/>
          <a:p>
            <a:r>
              <a:rPr lang="es-ES" sz="3600" dirty="0" smtClean="0"/>
              <a:t>Estudio del movimiento de un objeto</a:t>
            </a:r>
          </a:p>
          <a:p>
            <a:endParaRPr lang="es-ES" sz="4400" dirty="0" smtClean="0"/>
          </a:p>
          <a:p>
            <a:r>
              <a:rPr lang="es-ES" sz="3600" dirty="0" smtClean="0"/>
              <a:t>Movimiento / Trayectoria: </a:t>
            </a:r>
            <a:r>
              <a:rPr lang="es-ES" sz="3600" dirty="0"/>
              <a:t/>
            </a:r>
            <a:br>
              <a:rPr lang="es-ES" sz="3600" dirty="0"/>
            </a:br>
            <a:r>
              <a:rPr lang="es-ES" sz="3600" dirty="0" smtClean="0"/>
              <a:t>Evolución de la posición de un objeto en función del tiempo </a:t>
            </a:r>
            <a:endParaRPr lang="es-ES" sz="3600" dirty="0"/>
          </a:p>
        </p:txBody>
      </p:sp>
    </p:spTree>
    <p:extLst>
      <p:ext uri="{BB962C8B-B14F-4D97-AF65-F5344CB8AC3E}">
        <p14:creationId xmlns:p14="http://schemas.microsoft.com/office/powerpoint/2010/main" val="33111853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11758"/>
            <a:ext cx="8229600" cy="1143000"/>
          </a:xfrm>
        </p:spPr>
        <p:txBody>
          <a:bodyPr/>
          <a:lstStyle/>
          <a:p>
            <a:r>
              <a:rPr lang="es-ES" sz="6000" dirty="0" smtClean="0"/>
              <a:t>Movimiento en 1D</a:t>
            </a:r>
            <a:endParaRPr lang="es-ES" sz="6000" dirty="0"/>
          </a:p>
        </p:txBody>
      </p:sp>
      <p:graphicFrame>
        <p:nvGraphicFramePr>
          <p:cNvPr id="5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204653"/>
              </p:ext>
            </p:extLst>
          </p:nvPr>
        </p:nvGraphicFramePr>
        <p:xfrm>
          <a:off x="257187" y="1568967"/>
          <a:ext cx="8740888" cy="2241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458"/>
                <a:gridCol w="1133078"/>
                <a:gridCol w="1120626"/>
                <a:gridCol w="1195335"/>
                <a:gridCol w="1270043"/>
                <a:gridCol w="1220238"/>
                <a:gridCol w="1303110"/>
              </a:tblGrid>
              <a:tr h="740273"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Punto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2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3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4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5</a:t>
                      </a:r>
                      <a:endParaRPr lang="es-CO" sz="3600" dirty="0"/>
                    </a:p>
                  </a:txBody>
                  <a:tcPr/>
                </a:tc>
              </a:tr>
              <a:tr h="750554"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t (s)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12.5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25</a:t>
                      </a:r>
                      <a:endParaRPr lang="es-CO" sz="3600" dirty="0"/>
                    </a:p>
                  </a:txBody>
                  <a:tcPr/>
                </a:tc>
              </a:tr>
              <a:tr h="750554"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X (m)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20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7.5</a:t>
                      </a:r>
                      <a:endParaRPr lang="es-CO" sz="36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Conector recto 6"/>
          <p:cNvCxnSpPr/>
          <p:nvPr/>
        </p:nvCxnSpPr>
        <p:spPr>
          <a:xfrm>
            <a:off x="418439" y="4904188"/>
            <a:ext cx="7919999" cy="0"/>
          </a:xfrm>
          <a:prstGeom prst="line">
            <a:avLst/>
          </a:prstGeom>
          <a:ln w="76200" cmpd="sng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8429280" y="4431954"/>
            <a:ext cx="515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 smtClean="0"/>
              <a:t>x</a:t>
            </a:r>
            <a:endParaRPr lang="es-ES" sz="4000" dirty="0"/>
          </a:p>
        </p:txBody>
      </p:sp>
      <p:cxnSp>
        <p:nvCxnSpPr>
          <p:cNvPr id="10" name="Conector recto 9"/>
          <p:cNvCxnSpPr/>
          <p:nvPr/>
        </p:nvCxnSpPr>
        <p:spPr>
          <a:xfrm flipV="1">
            <a:off x="445220" y="4678125"/>
            <a:ext cx="0" cy="431994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/>
          <p:cNvCxnSpPr/>
          <p:nvPr/>
        </p:nvCxnSpPr>
        <p:spPr>
          <a:xfrm>
            <a:off x="7869690" y="4676685"/>
            <a:ext cx="0" cy="180001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/>
          <p:cNvCxnSpPr/>
          <p:nvPr/>
        </p:nvCxnSpPr>
        <p:spPr>
          <a:xfrm flipV="1">
            <a:off x="4111287" y="4676685"/>
            <a:ext cx="0" cy="179997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V="1">
            <a:off x="2197824" y="4678125"/>
            <a:ext cx="0" cy="179997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 flipV="1">
            <a:off x="5990891" y="4678125"/>
            <a:ext cx="0" cy="179997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uadroTexto 15"/>
          <p:cNvSpPr txBox="1"/>
          <p:nvPr/>
        </p:nvSpPr>
        <p:spPr>
          <a:xfrm>
            <a:off x="242015" y="4123225"/>
            <a:ext cx="44378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0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1975931" y="4117310"/>
            <a:ext cx="51326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5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3854652" y="4091909"/>
            <a:ext cx="6580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10</a:t>
            </a:r>
            <a:endParaRPr lang="es-ES" sz="3200" dirty="0"/>
          </a:p>
        </p:txBody>
      </p:sp>
      <p:sp>
        <p:nvSpPr>
          <p:cNvPr id="19" name="CuadroTexto 18"/>
          <p:cNvSpPr txBox="1"/>
          <p:nvPr/>
        </p:nvSpPr>
        <p:spPr>
          <a:xfrm>
            <a:off x="5661850" y="4091909"/>
            <a:ext cx="6580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15</a:t>
            </a:r>
            <a:endParaRPr lang="es-ES" sz="3200" dirty="0"/>
          </a:p>
        </p:txBody>
      </p:sp>
      <p:sp>
        <p:nvSpPr>
          <p:cNvPr id="20" name="CuadroTexto 19"/>
          <p:cNvSpPr txBox="1"/>
          <p:nvPr/>
        </p:nvSpPr>
        <p:spPr>
          <a:xfrm>
            <a:off x="7540649" y="4104362"/>
            <a:ext cx="6580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20</a:t>
            </a:r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19843304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11758"/>
            <a:ext cx="8229600" cy="1143000"/>
          </a:xfrm>
        </p:spPr>
        <p:txBody>
          <a:bodyPr/>
          <a:lstStyle/>
          <a:p>
            <a:r>
              <a:rPr lang="es-ES" sz="6000" dirty="0" smtClean="0"/>
              <a:t>Movimiento en 1D</a:t>
            </a:r>
            <a:endParaRPr lang="es-ES" sz="6000" dirty="0"/>
          </a:p>
        </p:txBody>
      </p:sp>
      <p:graphicFrame>
        <p:nvGraphicFramePr>
          <p:cNvPr id="5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575309"/>
              </p:ext>
            </p:extLst>
          </p:nvPr>
        </p:nvGraphicFramePr>
        <p:xfrm>
          <a:off x="257187" y="1568967"/>
          <a:ext cx="8740888" cy="2241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458"/>
                <a:gridCol w="1133078"/>
                <a:gridCol w="1120626"/>
                <a:gridCol w="1195335"/>
                <a:gridCol w="1270043"/>
                <a:gridCol w="1220238"/>
                <a:gridCol w="1303110"/>
              </a:tblGrid>
              <a:tr h="740273"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Punto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2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3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4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5</a:t>
                      </a:r>
                      <a:endParaRPr lang="es-CO" sz="3600" dirty="0"/>
                    </a:p>
                  </a:txBody>
                  <a:tcPr/>
                </a:tc>
              </a:tr>
              <a:tr h="750554"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t (s)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12.5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25</a:t>
                      </a:r>
                      <a:endParaRPr lang="es-CO" sz="3600" dirty="0"/>
                    </a:p>
                  </a:txBody>
                  <a:tcPr/>
                </a:tc>
              </a:tr>
              <a:tr h="750554"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X (m)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20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7.5</a:t>
                      </a:r>
                      <a:endParaRPr lang="es-CO" sz="36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Conector recto 6"/>
          <p:cNvCxnSpPr/>
          <p:nvPr/>
        </p:nvCxnSpPr>
        <p:spPr>
          <a:xfrm>
            <a:off x="418439" y="4904188"/>
            <a:ext cx="7919999" cy="0"/>
          </a:xfrm>
          <a:prstGeom prst="line">
            <a:avLst/>
          </a:prstGeom>
          <a:ln w="76200" cmpd="sng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8429280" y="4431954"/>
            <a:ext cx="515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 smtClean="0"/>
              <a:t>x</a:t>
            </a:r>
            <a:endParaRPr lang="es-ES" sz="4000" dirty="0"/>
          </a:p>
        </p:txBody>
      </p:sp>
      <p:cxnSp>
        <p:nvCxnSpPr>
          <p:cNvPr id="10" name="Conector recto 9"/>
          <p:cNvCxnSpPr/>
          <p:nvPr/>
        </p:nvCxnSpPr>
        <p:spPr>
          <a:xfrm flipV="1">
            <a:off x="445220" y="4678125"/>
            <a:ext cx="0" cy="431994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/>
          <p:cNvCxnSpPr/>
          <p:nvPr/>
        </p:nvCxnSpPr>
        <p:spPr>
          <a:xfrm>
            <a:off x="7869690" y="4676685"/>
            <a:ext cx="0" cy="180001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/>
          <p:cNvCxnSpPr/>
          <p:nvPr/>
        </p:nvCxnSpPr>
        <p:spPr>
          <a:xfrm flipV="1">
            <a:off x="4111287" y="4676685"/>
            <a:ext cx="0" cy="179997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V="1">
            <a:off x="2197824" y="4678125"/>
            <a:ext cx="0" cy="179997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 flipV="1">
            <a:off x="5990891" y="4678125"/>
            <a:ext cx="0" cy="179997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uadroTexto 15"/>
          <p:cNvSpPr txBox="1"/>
          <p:nvPr/>
        </p:nvSpPr>
        <p:spPr>
          <a:xfrm>
            <a:off x="242015" y="4123225"/>
            <a:ext cx="44378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0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1975931" y="4117310"/>
            <a:ext cx="51326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5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3854652" y="4091909"/>
            <a:ext cx="6580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10</a:t>
            </a:r>
            <a:endParaRPr lang="es-ES" sz="3200" dirty="0"/>
          </a:p>
        </p:txBody>
      </p:sp>
      <p:sp>
        <p:nvSpPr>
          <p:cNvPr id="19" name="CuadroTexto 18"/>
          <p:cNvSpPr txBox="1"/>
          <p:nvPr/>
        </p:nvSpPr>
        <p:spPr>
          <a:xfrm>
            <a:off x="5661850" y="4091909"/>
            <a:ext cx="6580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15</a:t>
            </a:r>
            <a:endParaRPr lang="es-ES" sz="3200" dirty="0"/>
          </a:p>
        </p:txBody>
      </p:sp>
      <p:sp>
        <p:nvSpPr>
          <p:cNvPr id="20" name="CuadroTexto 19"/>
          <p:cNvSpPr txBox="1"/>
          <p:nvPr/>
        </p:nvSpPr>
        <p:spPr>
          <a:xfrm>
            <a:off x="7540649" y="4104362"/>
            <a:ext cx="6580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20</a:t>
            </a:r>
            <a:endParaRPr lang="es-ES" sz="3200" dirty="0"/>
          </a:p>
        </p:txBody>
      </p:sp>
      <p:sp>
        <p:nvSpPr>
          <p:cNvPr id="3" name="CuadroTexto 2"/>
          <p:cNvSpPr txBox="1"/>
          <p:nvPr/>
        </p:nvSpPr>
        <p:spPr>
          <a:xfrm>
            <a:off x="3924300" y="4876800"/>
            <a:ext cx="3494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6206377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11758"/>
            <a:ext cx="8229600" cy="1143000"/>
          </a:xfrm>
        </p:spPr>
        <p:txBody>
          <a:bodyPr/>
          <a:lstStyle/>
          <a:p>
            <a:r>
              <a:rPr lang="es-ES" sz="6000" dirty="0" smtClean="0"/>
              <a:t>Movimiento en 1D</a:t>
            </a:r>
            <a:endParaRPr lang="es-ES" sz="6000" dirty="0"/>
          </a:p>
        </p:txBody>
      </p:sp>
      <p:graphicFrame>
        <p:nvGraphicFramePr>
          <p:cNvPr id="5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30415"/>
              </p:ext>
            </p:extLst>
          </p:nvPr>
        </p:nvGraphicFramePr>
        <p:xfrm>
          <a:off x="257187" y="1568967"/>
          <a:ext cx="8740888" cy="2241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458"/>
                <a:gridCol w="1133078"/>
                <a:gridCol w="1120626"/>
                <a:gridCol w="1195335"/>
                <a:gridCol w="1270043"/>
                <a:gridCol w="1220238"/>
                <a:gridCol w="1303110"/>
              </a:tblGrid>
              <a:tr h="740273"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Punto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2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3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4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5</a:t>
                      </a:r>
                      <a:endParaRPr lang="es-CO" sz="3600" dirty="0"/>
                    </a:p>
                  </a:txBody>
                  <a:tcPr/>
                </a:tc>
              </a:tr>
              <a:tr h="750554"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t (s)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12.5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25</a:t>
                      </a:r>
                      <a:endParaRPr lang="es-CO" sz="3600" dirty="0"/>
                    </a:p>
                  </a:txBody>
                  <a:tcPr/>
                </a:tc>
              </a:tr>
              <a:tr h="750554"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X (m)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20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7.5</a:t>
                      </a:r>
                      <a:endParaRPr lang="es-CO" sz="36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Conector recto 6"/>
          <p:cNvCxnSpPr/>
          <p:nvPr/>
        </p:nvCxnSpPr>
        <p:spPr>
          <a:xfrm>
            <a:off x="418439" y="4904188"/>
            <a:ext cx="7919999" cy="0"/>
          </a:xfrm>
          <a:prstGeom prst="line">
            <a:avLst/>
          </a:prstGeom>
          <a:ln w="76200" cmpd="sng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8429280" y="4431954"/>
            <a:ext cx="515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 smtClean="0"/>
              <a:t>x</a:t>
            </a:r>
            <a:endParaRPr lang="es-ES" sz="4000" dirty="0"/>
          </a:p>
        </p:txBody>
      </p:sp>
      <p:cxnSp>
        <p:nvCxnSpPr>
          <p:cNvPr id="10" name="Conector recto 9"/>
          <p:cNvCxnSpPr/>
          <p:nvPr/>
        </p:nvCxnSpPr>
        <p:spPr>
          <a:xfrm flipV="1">
            <a:off x="445220" y="4678125"/>
            <a:ext cx="0" cy="431994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/>
          <p:cNvCxnSpPr/>
          <p:nvPr/>
        </p:nvCxnSpPr>
        <p:spPr>
          <a:xfrm>
            <a:off x="7869690" y="4676685"/>
            <a:ext cx="0" cy="180001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/>
          <p:cNvCxnSpPr/>
          <p:nvPr/>
        </p:nvCxnSpPr>
        <p:spPr>
          <a:xfrm flipV="1">
            <a:off x="4111287" y="4676685"/>
            <a:ext cx="0" cy="179997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V="1">
            <a:off x="2197824" y="4678125"/>
            <a:ext cx="0" cy="179997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 flipV="1">
            <a:off x="5990891" y="4678125"/>
            <a:ext cx="0" cy="179997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uadroTexto 15"/>
          <p:cNvSpPr txBox="1"/>
          <p:nvPr/>
        </p:nvSpPr>
        <p:spPr>
          <a:xfrm>
            <a:off x="242015" y="4123225"/>
            <a:ext cx="44378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0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1975931" y="4117310"/>
            <a:ext cx="51326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5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3854652" y="4091909"/>
            <a:ext cx="6580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10</a:t>
            </a:r>
            <a:endParaRPr lang="es-ES" sz="3200" dirty="0"/>
          </a:p>
        </p:txBody>
      </p:sp>
      <p:sp>
        <p:nvSpPr>
          <p:cNvPr id="19" name="CuadroTexto 18"/>
          <p:cNvSpPr txBox="1"/>
          <p:nvPr/>
        </p:nvSpPr>
        <p:spPr>
          <a:xfrm>
            <a:off x="5661850" y="4091909"/>
            <a:ext cx="6580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15</a:t>
            </a:r>
            <a:endParaRPr lang="es-ES" sz="3200" dirty="0"/>
          </a:p>
        </p:txBody>
      </p:sp>
      <p:sp>
        <p:nvSpPr>
          <p:cNvPr id="20" name="CuadroTexto 19"/>
          <p:cNvSpPr txBox="1"/>
          <p:nvPr/>
        </p:nvSpPr>
        <p:spPr>
          <a:xfrm>
            <a:off x="7540649" y="4104362"/>
            <a:ext cx="6580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20</a:t>
            </a:r>
            <a:endParaRPr lang="es-ES" sz="3200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4111287" y="5110119"/>
            <a:ext cx="1879604" cy="0"/>
          </a:xfrm>
          <a:prstGeom prst="line">
            <a:avLst/>
          </a:prstGeom>
          <a:ln w="76200" cmpd="sng">
            <a:solidFill>
              <a:srgbClr val="FF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7734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11758"/>
            <a:ext cx="8229600" cy="1143000"/>
          </a:xfrm>
        </p:spPr>
        <p:txBody>
          <a:bodyPr/>
          <a:lstStyle/>
          <a:p>
            <a:r>
              <a:rPr lang="es-ES" sz="6000" dirty="0" smtClean="0"/>
              <a:t>Movimiento en 1D</a:t>
            </a:r>
            <a:endParaRPr lang="es-ES" sz="6000" dirty="0"/>
          </a:p>
        </p:txBody>
      </p:sp>
      <p:graphicFrame>
        <p:nvGraphicFramePr>
          <p:cNvPr id="5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029486"/>
              </p:ext>
            </p:extLst>
          </p:nvPr>
        </p:nvGraphicFramePr>
        <p:xfrm>
          <a:off x="257187" y="1568967"/>
          <a:ext cx="8740888" cy="2241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458"/>
                <a:gridCol w="1133078"/>
                <a:gridCol w="1120626"/>
                <a:gridCol w="1195335"/>
                <a:gridCol w="1270043"/>
                <a:gridCol w="1220238"/>
                <a:gridCol w="1303110"/>
              </a:tblGrid>
              <a:tr h="740273"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Punto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2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3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4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5</a:t>
                      </a:r>
                      <a:endParaRPr lang="es-CO" sz="3600" dirty="0"/>
                    </a:p>
                  </a:txBody>
                  <a:tcPr/>
                </a:tc>
              </a:tr>
              <a:tr h="750554"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t (s)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12.5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25</a:t>
                      </a:r>
                      <a:endParaRPr lang="es-CO" sz="3600" dirty="0"/>
                    </a:p>
                  </a:txBody>
                  <a:tcPr/>
                </a:tc>
              </a:tr>
              <a:tr h="750554"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X (m)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20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7.5</a:t>
                      </a:r>
                      <a:endParaRPr lang="es-CO" sz="36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Conector recto 6"/>
          <p:cNvCxnSpPr/>
          <p:nvPr/>
        </p:nvCxnSpPr>
        <p:spPr>
          <a:xfrm>
            <a:off x="418439" y="4904188"/>
            <a:ext cx="7919999" cy="0"/>
          </a:xfrm>
          <a:prstGeom prst="line">
            <a:avLst/>
          </a:prstGeom>
          <a:ln w="76200" cmpd="sng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8429280" y="4431954"/>
            <a:ext cx="515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 smtClean="0"/>
              <a:t>x</a:t>
            </a:r>
            <a:endParaRPr lang="es-ES" sz="4000" dirty="0"/>
          </a:p>
        </p:txBody>
      </p:sp>
      <p:cxnSp>
        <p:nvCxnSpPr>
          <p:cNvPr id="10" name="Conector recto 9"/>
          <p:cNvCxnSpPr/>
          <p:nvPr/>
        </p:nvCxnSpPr>
        <p:spPr>
          <a:xfrm flipV="1">
            <a:off x="445220" y="4678125"/>
            <a:ext cx="0" cy="431994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/>
          <p:cNvCxnSpPr/>
          <p:nvPr/>
        </p:nvCxnSpPr>
        <p:spPr>
          <a:xfrm>
            <a:off x="7869690" y="4676685"/>
            <a:ext cx="0" cy="180001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/>
          <p:cNvCxnSpPr/>
          <p:nvPr/>
        </p:nvCxnSpPr>
        <p:spPr>
          <a:xfrm flipV="1">
            <a:off x="4111287" y="4676685"/>
            <a:ext cx="0" cy="179997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V="1">
            <a:off x="2197824" y="4678125"/>
            <a:ext cx="0" cy="179997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 flipV="1">
            <a:off x="5990891" y="4678125"/>
            <a:ext cx="0" cy="179997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uadroTexto 15"/>
          <p:cNvSpPr txBox="1"/>
          <p:nvPr/>
        </p:nvSpPr>
        <p:spPr>
          <a:xfrm>
            <a:off x="242015" y="4123225"/>
            <a:ext cx="44378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0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1975931" y="4117310"/>
            <a:ext cx="51326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5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3854652" y="4091909"/>
            <a:ext cx="6580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10</a:t>
            </a:r>
            <a:endParaRPr lang="es-ES" sz="3200" dirty="0"/>
          </a:p>
        </p:txBody>
      </p:sp>
      <p:sp>
        <p:nvSpPr>
          <p:cNvPr id="19" name="CuadroTexto 18"/>
          <p:cNvSpPr txBox="1"/>
          <p:nvPr/>
        </p:nvSpPr>
        <p:spPr>
          <a:xfrm>
            <a:off x="5661850" y="4091909"/>
            <a:ext cx="6580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15</a:t>
            </a:r>
            <a:endParaRPr lang="es-ES" sz="3200" dirty="0"/>
          </a:p>
        </p:txBody>
      </p:sp>
      <p:sp>
        <p:nvSpPr>
          <p:cNvPr id="20" name="CuadroTexto 19"/>
          <p:cNvSpPr txBox="1"/>
          <p:nvPr/>
        </p:nvSpPr>
        <p:spPr>
          <a:xfrm>
            <a:off x="7540649" y="4104362"/>
            <a:ext cx="6580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20</a:t>
            </a:r>
            <a:endParaRPr lang="es-ES" sz="3200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4111287" y="5110119"/>
            <a:ext cx="1879604" cy="0"/>
          </a:xfrm>
          <a:prstGeom prst="line">
            <a:avLst/>
          </a:prstGeom>
          <a:ln w="76200" cmpd="sng">
            <a:solidFill>
              <a:srgbClr val="FF0000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/>
          <p:cNvCxnSpPr/>
          <p:nvPr/>
        </p:nvCxnSpPr>
        <p:spPr>
          <a:xfrm>
            <a:off x="6015486" y="5114838"/>
            <a:ext cx="1879604" cy="0"/>
          </a:xfrm>
          <a:prstGeom prst="line">
            <a:avLst/>
          </a:prstGeom>
          <a:ln w="76200" cmpd="sng">
            <a:solidFill>
              <a:srgbClr val="FF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0095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11758"/>
            <a:ext cx="8229600" cy="1143000"/>
          </a:xfrm>
        </p:spPr>
        <p:txBody>
          <a:bodyPr/>
          <a:lstStyle/>
          <a:p>
            <a:r>
              <a:rPr lang="es-ES" sz="6000" dirty="0" smtClean="0"/>
              <a:t>Movimiento en 1D</a:t>
            </a:r>
            <a:endParaRPr lang="es-ES" sz="6000" dirty="0"/>
          </a:p>
        </p:txBody>
      </p:sp>
      <p:graphicFrame>
        <p:nvGraphicFramePr>
          <p:cNvPr id="5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734210"/>
              </p:ext>
            </p:extLst>
          </p:nvPr>
        </p:nvGraphicFramePr>
        <p:xfrm>
          <a:off x="257187" y="1568967"/>
          <a:ext cx="8740888" cy="2241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458"/>
                <a:gridCol w="1133078"/>
                <a:gridCol w="1120626"/>
                <a:gridCol w="1195335"/>
                <a:gridCol w="1270043"/>
                <a:gridCol w="1220238"/>
                <a:gridCol w="1303110"/>
              </a:tblGrid>
              <a:tr h="740273"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Punto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2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3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4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5</a:t>
                      </a:r>
                      <a:endParaRPr lang="es-CO" sz="3600" dirty="0"/>
                    </a:p>
                  </a:txBody>
                  <a:tcPr/>
                </a:tc>
              </a:tr>
              <a:tr h="750554"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t (s)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12.5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25</a:t>
                      </a:r>
                      <a:endParaRPr lang="es-CO" sz="3600" dirty="0"/>
                    </a:p>
                  </a:txBody>
                  <a:tcPr/>
                </a:tc>
              </a:tr>
              <a:tr h="750554"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X (m)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20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7.5</a:t>
                      </a:r>
                      <a:endParaRPr lang="es-CO" sz="36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Conector recto 6"/>
          <p:cNvCxnSpPr/>
          <p:nvPr/>
        </p:nvCxnSpPr>
        <p:spPr>
          <a:xfrm>
            <a:off x="418439" y="4904188"/>
            <a:ext cx="7919999" cy="0"/>
          </a:xfrm>
          <a:prstGeom prst="line">
            <a:avLst/>
          </a:prstGeom>
          <a:ln w="76200" cmpd="sng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8429280" y="4431954"/>
            <a:ext cx="515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 smtClean="0"/>
              <a:t>x</a:t>
            </a:r>
            <a:endParaRPr lang="es-ES" sz="4000" dirty="0"/>
          </a:p>
        </p:txBody>
      </p:sp>
      <p:cxnSp>
        <p:nvCxnSpPr>
          <p:cNvPr id="10" name="Conector recto 9"/>
          <p:cNvCxnSpPr/>
          <p:nvPr/>
        </p:nvCxnSpPr>
        <p:spPr>
          <a:xfrm flipV="1">
            <a:off x="445220" y="4678125"/>
            <a:ext cx="0" cy="431994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/>
          <p:cNvCxnSpPr/>
          <p:nvPr/>
        </p:nvCxnSpPr>
        <p:spPr>
          <a:xfrm>
            <a:off x="7869690" y="4676685"/>
            <a:ext cx="0" cy="180001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/>
          <p:cNvCxnSpPr/>
          <p:nvPr/>
        </p:nvCxnSpPr>
        <p:spPr>
          <a:xfrm flipV="1">
            <a:off x="4111287" y="4676685"/>
            <a:ext cx="0" cy="179997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V="1">
            <a:off x="2197824" y="4678125"/>
            <a:ext cx="0" cy="179997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 flipV="1">
            <a:off x="5990891" y="4678125"/>
            <a:ext cx="0" cy="179997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uadroTexto 15"/>
          <p:cNvSpPr txBox="1"/>
          <p:nvPr/>
        </p:nvSpPr>
        <p:spPr>
          <a:xfrm>
            <a:off x="242015" y="4123225"/>
            <a:ext cx="44378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0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1975931" y="4117310"/>
            <a:ext cx="51326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5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3854652" y="4091909"/>
            <a:ext cx="6580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10</a:t>
            </a:r>
            <a:endParaRPr lang="es-ES" sz="3200" dirty="0"/>
          </a:p>
        </p:txBody>
      </p:sp>
      <p:sp>
        <p:nvSpPr>
          <p:cNvPr id="19" name="CuadroTexto 18"/>
          <p:cNvSpPr txBox="1"/>
          <p:nvPr/>
        </p:nvSpPr>
        <p:spPr>
          <a:xfrm>
            <a:off x="5661850" y="4091909"/>
            <a:ext cx="6580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15</a:t>
            </a:r>
            <a:endParaRPr lang="es-ES" sz="3200" dirty="0"/>
          </a:p>
        </p:txBody>
      </p:sp>
      <p:sp>
        <p:nvSpPr>
          <p:cNvPr id="20" name="CuadroTexto 19"/>
          <p:cNvSpPr txBox="1"/>
          <p:nvPr/>
        </p:nvSpPr>
        <p:spPr>
          <a:xfrm>
            <a:off x="7540649" y="4104362"/>
            <a:ext cx="6580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20</a:t>
            </a:r>
            <a:endParaRPr lang="es-ES" sz="3200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4111287" y="5110119"/>
            <a:ext cx="1879604" cy="0"/>
          </a:xfrm>
          <a:prstGeom prst="line">
            <a:avLst/>
          </a:prstGeom>
          <a:ln w="76200" cmpd="sng">
            <a:solidFill>
              <a:srgbClr val="FF0000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/>
          <p:cNvCxnSpPr/>
          <p:nvPr/>
        </p:nvCxnSpPr>
        <p:spPr>
          <a:xfrm>
            <a:off x="6015486" y="5114838"/>
            <a:ext cx="1879604" cy="0"/>
          </a:xfrm>
          <a:prstGeom prst="line">
            <a:avLst/>
          </a:prstGeom>
          <a:ln w="76200" cmpd="sng">
            <a:solidFill>
              <a:srgbClr val="FF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/>
          <p:cNvCxnSpPr/>
          <p:nvPr/>
        </p:nvCxnSpPr>
        <p:spPr>
          <a:xfrm>
            <a:off x="5990086" y="5394238"/>
            <a:ext cx="1879604" cy="0"/>
          </a:xfrm>
          <a:prstGeom prst="line">
            <a:avLst/>
          </a:prstGeom>
          <a:ln w="76200" cmpd="sng">
            <a:solidFill>
              <a:srgbClr val="FF0000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0412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11758"/>
            <a:ext cx="8229600" cy="1143000"/>
          </a:xfrm>
        </p:spPr>
        <p:txBody>
          <a:bodyPr/>
          <a:lstStyle/>
          <a:p>
            <a:r>
              <a:rPr lang="es-ES" sz="6000" dirty="0" smtClean="0"/>
              <a:t>Movimiento en 1D</a:t>
            </a:r>
            <a:endParaRPr lang="es-ES" sz="6000" dirty="0"/>
          </a:p>
        </p:txBody>
      </p:sp>
      <p:graphicFrame>
        <p:nvGraphicFramePr>
          <p:cNvPr id="5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41113"/>
              </p:ext>
            </p:extLst>
          </p:nvPr>
        </p:nvGraphicFramePr>
        <p:xfrm>
          <a:off x="257187" y="1568967"/>
          <a:ext cx="8740888" cy="2241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458"/>
                <a:gridCol w="1133078"/>
                <a:gridCol w="1120626"/>
                <a:gridCol w="1195335"/>
                <a:gridCol w="1270043"/>
                <a:gridCol w="1220238"/>
                <a:gridCol w="1303110"/>
              </a:tblGrid>
              <a:tr h="740273"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Punto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2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3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4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5</a:t>
                      </a:r>
                      <a:endParaRPr lang="es-CO" sz="3600" dirty="0"/>
                    </a:p>
                  </a:txBody>
                  <a:tcPr/>
                </a:tc>
              </a:tr>
              <a:tr h="750554"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t (s)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12.5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25</a:t>
                      </a:r>
                      <a:endParaRPr lang="es-CO" sz="3600" dirty="0"/>
                    </a:p>
                  </a:txBody>
                  <a:tcPr/>
                </a:tc>
              </a:tr>
              <a:tr h="750554"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X (m)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20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7.5</a:t>
                      </a:r>
                      <a:endParaRPr lang="es-CO" sz="36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Conector recto 6"/>
          <p:cNvCxnSpPr/>
          <p:nvPr/>
        </p:nvCxnSpPr>
        <p:spPr>
          <a:xfrm>
            <a:off x="418439" y="4904188"/>
            <a:ext cx="7919999" cy="0"/>
          </a:xfrm>
          <a:prstGeom prst="line">
            <a:avLst/>
          </a:prstGeom>
          <a:ln w="76200" cmpd="sng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8429280" y="4431954"/>
            <a:ext cx="515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 smtClean="0"/>
              <a:t>x</a:t>
            </a:r>
            <a:endParaRPr lang="es-ES" sz="4000" dirty="0"/>
          </a:p>
        </p:txBody>
      </p:sp>
      <p:cxnSp>
        <p:nvCxnSpPr>
          <p:cNvPr id="10" name="Conector recto 9"/>
          <p:cNvCxnSpPr/>
          <p:nvPr/>
        </p:nvCxnSpPr>
        <p:spPr>
          <a:xfrm flipV="1">
            <a:off x="445220" y="4678125"/>
            <a:ext cx="0" cy="431994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/>
          <p:cNvCxnSpPr/>
          <p:nvPr/>
        </p:nvCxnSpPr>
        <p:spPr>
          <a:xfrm>
            <a:off x="7869690" y="4676685"/>
            <a:ext cx="0" cy="180001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/>
          <p:cNvCxnSpPr/>
          <p:nvPr/>
        </p:nvCxnSpPr>
        <p:spPr>
          <a:xfrm flipV="1">
            <a:off x="4111287" y="4676685"/>
            <a:ext cx="0" cy="179997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V="1">
            <a:off x="2197824" y="4678125"/>
            <a:ext cx="0" cy="179997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 flipV="1">
            <a:off x="5990891" y="4678125"/>
            <a:ext cx="0" cy="179997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uadroTexto 15"/>
          <p:cNvSpPr txBox="1"/>
          <p:nvPr/>
        </p:nvSpPr>
        <p:spPr>
          <a:xfrm>
            <a:off x="242015" y="4123225"/>
            <a:ext cx="44378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0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1975931" y="4117310"/>
            <a:ext cx="51326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5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3854652" y="4091909"/>
            <a:ext cx="6580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10</a:t>
            </a:r>
            <a:endParaRPr lang="es-ES" sz="3200" dirty="0"/>
          </a:p>
        </p:txBody>
      </p:sp>
      <p:sp>
        <p:nvSpPr>
          <p:cNvPr id="19" name="CuadroTexto 18"/>
          <p:cNvSpPr txBox="1"/>
          <p:nvPr/>
        </p:nvSpPr>
        <p:spPr>
          <a:xfrm>
            <a:off x="5661850" y="4091909"/>
            <a:ext cx="6580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15</a:t>
            </a:r>
            <a:endParaRPr lang="es-ES" sz="3200" dirty="0"/>
          </a:p>
        </p:txBody>
      </p:sp>
      <p:sp>
        <p:nvSpPr>
          <p:cNvPr id="20" name="CuadroTexto 19"/>
          <p:cNvSpPr txBox="1"/>
          <p:nvPr/>
        </p:nvSpPr>
        <p:spPr>
          <a:xfrm>
            <a:off x="7540649" y="4104362"/>
            <a:ext cx="6580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20</a:t>
            </a:r>
            <a:endParaRPr lang="es-ES" sz="3200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4111287" y="5110119"/>
            <a:ext cx="1879604" cy="0"/>
          </a:xfrm>
          <a:prstGeom prst="line">
            <a:avLst/>
          </a:prstGeom>
          <a:ln w="76200" cmpd="sng">
            <a:solidFill>
              <a:srgbClr val="FF0000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/>
          <p:cNvCxnSpPr/>
          <p:nvPr/>
        </p:nvCxnSpPr>
        <p:spPr>
          <a:xfrm>
            <a:off x="6015486" y="5114838"/>
            <a:ext cx="1879604" cy="0"/>
          </a:xfrm>
          <a:prstGeom prst="line">
            <a:avLst/>
          </a:prstGeom>
          <a:ln w="76200" cmpd="sng">
            <a:solidFill>
              <a:srgbClr val="FF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/>
          <p:cNvCxnSpPr/>
          <p:nvPr/>
        </p:nvCxnSpPr>
        <p:spPr>
          <a:xfrm>
            <a:off x="5990086" y="5394238"/>
            <a:ext cx="1879604" cy="0"/>
          </a:xfrm>
          <a:prstGeom prst="line">
            <a:avLst/>
          </a:prstGeom>
          <a:ln w="76200" cmpd="sng">
            <a:solidFill>
              <a:srgbClr val="FF0000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/>
          <p:cNvCxnSpPr/>
          <p:nvPr/>
        </p:nvCxnSpPr>
        <p:spPr>
          <a:xfrm>
            <a:off x="2243587" y="5394238"/>
            <a:ext cx="3707996" cy="0"/>
          </a:xfrm>
          <a:prstGeom prst="line">
            <a:avLst/>
          </a:prstGeom>
          <a:ln w="76200" cmpd="sng">
            <a:solidFill>
              <a:srgbClr val="FF0000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2647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11758"/>
            <a:ext cx="8229600" cy="1143000"/>
          </a:xfrm>
        </p:spPr>
        <p:txBody>
          <a:bodyPr/>
          <a:lstStyle/>
          <a:p>
            <a:r>
              <a:rPr lang="es-ES" sz="6000" dirty="0" smtClean="0"/>
              <a:t>Movimiento en 1D</a:t>
            </a:r>
            <a:endParaRPr lang="es-ES" sz="6000" dirty="0"/>
          </a:p>
        </p:txBody>
      </p:sp>
      <p:graphicFrame>
        <p:nvGraphicFramePr>
          <p:cNvPr id="5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123684"/>
              </p:ext>
            </p:extLst>
          </p:nvPr>
        </p:nvGraphicFramePr>
        <p:xfrm>
          <a:off x="257187" y="1568967"/>
          <a:ext cx="8740888" cy="2241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458"/>
                <a:gridCol w="1133078"/>
                <a:gridCol w="1120626"/>
                <a:gridCol w="1195335"/>
                <a:gridCol w="1270043"/>
                <a:gridCol w="1220238"/>
                <a:gridCol w="1303110"/>
              </a:tblGrid>
              <a:tr h="740273"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Punto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2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3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4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5</a:t>
                      </a:r>
                      <a:endParaRPr lang="es-CO" sz="3600" dirty="0"/>
                    </a:p>
                  </a:txBody>
                  <a:tcPr/>
                </a:tc>
              </a:tr>
              <a:tr h="750554"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t (s)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12,5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25</a:t>
                      </a:r>
                      <a:endParaRPr lang="es-CO" sz="3600" dirty="0"/>
                    </a:p>
                  </a:txBody>
                  <a:tcPr/>
                </a:tc>
              </a:tr>
              <a:tr h="750554"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X (m)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20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15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5</a:t>
                      </a:r>
                      <a:endParaRPr lang="es-CO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3600" dirty="0" smtClean="0"/>
                        <a:t>7,5</a:t>
                      </a:r>
                      <a:endParaRPr lang="es-CO" sz="36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Conector recto 6"/>
          <p:cNvCxnSpPr/>
          <p:nvPr/>
        </p:nvCxnSpPr>
        <p:spPr>
          <a:xfrm>
            <a:off x="418439" y="4904188"/>
            <a:ext cx="7919999" cy="0"/>
          </a:xfrm>
          <a:prstGeom prst="line">
            <a:avLst/>
          </a:prstGeom>
          <a:ln w="76200" cmpd="sng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8429280" y="4431954"/>
            <a:ext cx="515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 smtClean="0"/>
              <a:t>x</a:t>
            </a:r>
            <a:endParaRPr lang="es-ES" sz="4000" dirty="0"/>
          </a:p>
        </p:txBody>
      </p:sp>
      <p:cxnSp>
        <p:nvCxnSpPr>
          <p:cNvPr id="10" name="Conector recto 9"/>
          <p:cNvCxnSpPr/>
          <p:nvPr/>
        </p:nvCxnSpPr>
        <p:spPr>
          <a:xfrm flipV="1">
            <a:off x="445220" y="4678125"/>
            <a:ext cx="0" cy="431994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/>
          <p:cNvCxnSpPr/>
          <p:nvPr/>
        </p:nvCxnSpPr>
        <p:spPr>
          <a:xfrm>
            <a:off x="7869690" y="4676685"/>
            <a:ext cx="0" cy="180001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/>
          <p:cNvCxnSpPr/>
          <p:nvPr/>
        </p:nvCxnSpPr>
        <p:spPr>
          <a:xfrm flipV="1">
            <a:off x="4111287" y="4676685"/>
            <a:ext cx="0" cy="179997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V="1">
            <a:off x="2197824" y="4678125"/>
            <a:ext cx="0" cy="179997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 flipV="1">
            <a:off x="5990891" y="4678125"/>
            <a:ext cx="0" cy="179997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uadroTexto 15"/>
          <p:cNvSpPr txBox="1"/>
          <p:nvPr/>
        </p:nvSpPr>
        <p:spPr>
          <a:xfrm>
            <a:off x="242015" y="4123225"/>
            <a:ext cx="44378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0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1975931" y="4117310"/>
            <a:ext cx="51326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/>
              <a:t>5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3854652" y="4091909"/>
            <a:ext cx="6580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10</a:t>
            </a:r>
            <a:endParaRPr lang="es-ES" sz="3200" dirty="0"/>
          </a:p>
        </p:txBody>
      </p:sp>
      <p:sp>
        <p:nvSpPr>
          <p:cNvPr id="19" name="CuadroTexto 18"/>
          <p:cNvSpPr txBox="1"/>
          <p:nvPr/>
        </p:nvSpPr>
        <p:spPr>
          <a:xfrm>
            <a:off x="5661850" y="4091909"/>
            <a:ext cx="6580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15</a:t>
            </a:r>
            <a:endParaRPr lang="es-ES" sz="3200" dirty="0"/>
          </a:p>
        </p:txBody>
      </p:sp>
      <p:sp>
        <p:nvSpPr>
          <p:cNvPr id="20" name="CuadroTexto 19"/>
          <p:cNvSpPr txBox="1"/>
          <p:nvPr/>
        </p:nvSpPr>
        <p:spPr>
          <a:xfrm>
            <a:off x="7540649" y="4104362"/>
            <a:ext cx="6580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20</a:t>
            </a:r>
            <a:endParaRPr lang="es-ES" sz="3200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4111287" y="5110119"/>
            <a:ext cx="1879604" cy="0"/>
          </a:xfrm>
          <a:prstGeom prst="line">
            <a:avLst/>
          </a:prstGeom>
          <a:ln w="76200" cmpd="sng">
            <a:solidFill>
              <a:srgbClr val="FF0000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/>
          <p:cNvCxnSpPr/>
          <p:nvPr/>
        </p:nvCxnSpPr>
        <p:spPr>
          <a:xfrm>
            <a:off x="6015486" y="5114838"/>
            <a:ext cx="1879604" cy="0"/>
          </a:xfrm>
          <a:prstGeom prst="line">
            <a:avLst/>
          </a:prstGeom>
          <a:ln w="76200" cmpd="sng">
            <a:solidFill>
              <a:srgbClr val="FF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/>
          <p:cNvCxnSpPr/>
          <p:nvPr/>
        </p:nvCxnSpPr>
        <p:spPr>
          <a:xfrm>
            <a:off x="5990086" y="5394238"/>
            <a:ext cx="1879604" cy="0"/>
          </a:xfrm>
          <a:prstGeom prst="line">
            <a:avLst/>
          </a:prstGeom>
          <a:ln w="76200" cmpd="sng">
            <a:solidFill>
              <a:srgbClr val="FF0000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/>
          <p:cNvCxnSpPr/>
          <p:nvPr/>
        </p:nvCxnSpPr>
        <p:spPr>
          <a:xfrm>
            <a:off x="2243587" y="5394238"/>
            <a:ext cx="3707996" cy="0"/>
          </a:xfrm>
          <a:prstGeom prst="line">
            <a:avLst/>
          </a:prstGeom>
          <a:ln w="76200" cmpd="sng">
            <a:solidFill>
              <a:srgbClr val="FF0000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/>
          <p:cNvCxnSpPr/>
          <p:nvPr/>
        </p:nvCxnSpPr>
        <p:spPr>
          <a:xfrm>
            <a:off x="2243589" y="5719719"/>
            <a:ext cx="899993" cy="0"/>
          </a:xfrm>
          <a:prstGeom prst="line">
            <a:avLst/>
          </a:prstGeom>
          <a:ln w="76200" cmpd="sng">
            <a:solidFill>
              <a:srgbClr val="FF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/>
          <p:cNvCxnSpPr/>
          <p:nvPr/>
        </p:nvCxnSpPr>
        <p:spPr>
          <a:xfrm flipV="1">
            <a:off x="3143582" y="4765586"/>
            <a:ext cx="0" cy="143997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uadroTexto 26"/>
          <p:cNvSpPr txBox="1"/>
          <p:nvPr/>
        </p:nvSpPr>
        <p:spPr>
          <a:xfrm>
            <a:off x="2806700" y="4155410"/>
            <a:ext cx="86359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smtClean="0"/>
              <a:t>7,5</a:t>
            </a:r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22073638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043684"/>
            <a:ext cx="7620000" cy="5816600"/>
          </a:xfrm>
          <a:prstGeom prst="rect">
            <a:avLst/>
          </a:prstGeom>
        </p:spPr>
      </p:pic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457200" y="-11758"/>
            <a:ext cx="8229600" cy="1143000"/>
          </a:xfrm>
        </p:spPr>
        <p:txBody>
          <a:bodyPr/>
          <a:lstStyle/>
          <a:p>
            <a:r>
              <a:rPr lang="es-ES" sz="6000" dirty="0" smtClean="0"/>
              <a:t>Movimiento en 1D</a:t>
            </a:r>
            <a:endParaRPr lang="es-ES" sz="6000" dirty="0"/>
          </a:p>
        </p:txBody>
      </p:sp>
    </p:spTree>
    <p:extLst>
      <p:ext uri="{BB962C8B-B14F-4D97-AF65-F5344CB8AC3E}">
        <p14:creationId xmlns:p14="http://schemas.microsoft.com/office/powerpoint/2010/main" val="2947078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uadroTexto"/>
          <p:cNvSpPr txBox="1"/>
          <p:nvPr/>
        </p:nvSpPr>
        <p:spPr>
          <a:xfrm>
            <a:off x="6050914" y="5081536"/>
            <a:ext cx="2900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 smtClean="0">
                <a:latin typeface="Calisto MT"/>
                <a:cs typeface="Calisto MT"/>
              </a:rPr>
              <a:t>Velocidades       ,     </a:t>
            </a:r>
          </a:p>
          <a:p>
            <a:r>
              <a:rPr lang="es-CO" sz="2400" dirty="0" smtClean="0">
                <a:latin typeface="Calisto MT"/>
                <a:cs typeface="Calisto MT"/>
              </a:rPr>
              <a:t> y         </a:t>
            </a:r>
            <a:r>
              <a:rPr lang="es-CO" sz="2400" dirty="0" smtClean="0">
                <a:latin typeface="Calisto MT"/>
                <a:cs typeface="Calisto MT"/>
              </a:rPr>
              <a:t>?</a:t>
            </a:r>
            <a:endParaRPr lang="es-CO" sz="2400" dirty="0">
              <a:latin typeface="Calisto MT"/>
              <a:cs typeface="Calisto M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2762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6000" dirty="0" smtClean="0"/>
              <a:t>Velocidad Promedio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798206" y="3041570"/>
            <a:ext cx="3343619" cy="658258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s-ES_tradnl" dirty="0" smtClean="0"/>
              <a:t> rapidez promedio:</a:t>
            </a:r>
            <a:endParaRPr lang="es-ES_tradnl" sz="2800" dirty="0" smtClean="0"/>
          </a:p>
          <a:p>
            <a:pPr eaLnBrk="1" hangingPunct="1">
              <a:buFont typeface="Arial" charset="0"/>
              <a:buNone/>
            </a:pPr>
            <a:endParaRPr lang="es-ES_tradnl" sz="2800" dirty="0" smtClean="0"/>
          </a:p>
        </p:txBody>
      </p:sp>
      <p:graphicFrame>
        <p:nvGraphicFramePr>
          <p:cNvPr id="4" name="3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3485759"/>
              </p:ext>
            </p:extLst>
          </p:nvPr>
        </p:nvGraphicFramePr>
        <p:xfrm>
          <a:off x="4995863" y="2790825"/>
          <a:ext cx="2360612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6" name="EcuaciÛn" r:id="rId4" imgW="901700" imgH="393700" progId="Equation.3">
                  <p:embed/>
                </p:oleObj>
              </mc:Choice>
              <mc:Fallback>
                <p:oleObj name="EcuaciÛn" r:id="rId4" imgW="901700" imgH="3937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5863" y="2790825"/>
                        <a:ext cx="2360612" cy="1030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755939" y="1510248"/>
            <a:ext cx="3808166" cy="658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ES_tradnl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+mn-cs"/>
              </a:rPr>
              <a:t> velocidad promedio:</a:t>
            </a:r>
          </a:p>
        </p:txBody>
      </p:sp>
      <p:graphicFrame>
        <p:nvGraphicFramePr>
          <p:cNvPr id="6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1196758"/>
              </p:ext>
            </p:extLst>
          </p:nvPr>
        </p:nvGraphicFramePr>
        <p:xfrm>
          <a:off x="4894263" y="1224598"/>
          <a:ext cx="2962275" cy="131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7" name="Ecuación" r:id="rId6" imgW="1028700" imgH="457200" progId="Equation.3">
                  <p:embed/>
                </p:oleObj>
              </mc:Choice>
              <mc:Fallback>
                <p:oleObj name="Ecuación" r:id="rId6" imgW="1028700" imgH="457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4263" y="1224598"/>
                        <a:ext cx="2962275" cy="1316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6 CuadroTexto"/>
          <p:cNvSpPr txBox="1"/>
          <p:nvPr/>
        </p:nvSpPr>
        <p:spPr>
          <a:xfrm>
            <a:off x="820240" y="2390645"/>
            <a:ext cx="6671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ES_tradnl" sz="2400" dirty="0" smtClean="0">
                <a:latin typeface="+mn-lt"/>
              </a:rPr>
              <a:t>La velocidad indica la dirección del movimiento</a:t>
            </a:r>
            <a:r>
              <a:rPr lang="es-CO" sz="2400" dirty="0" smtClean="0">
                <a:latin typeface="+mn-lt"/>
              </a:rPr>
              <a:t>.</a:t>
            </a:r>
            <a:endParaRPr lang="es-ES_tradnl" sz="2400" dirty="0" smtClean="0">
              <a:latin typeface="+mn-lt"/>
            </a:endParaRPr>
          </a:p>
        </p:txBody>
      </p:sp>
      <p:graphicFrame>
        <p:nvGraphicFramePr>
          <p:cNvPr id="9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994186"/>
              </p:ext>
            </p:extLst>
          </p:nvPr>
        </p:nvGraphicFramePr>
        <p:xfrm>
          <a:off x="986104" y="4576862"/>
          <a:ext cx="4882508" cy="1554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0627"/>
                <a:gridCol w="1220627"/>
                <a:gridCol w="1220627"/>
                <a:gridCol w="1220627"/>
              </a:tblGrid>
              <a:tr h="409622">
                <a:tc>
                  <a:txBody>
                    <a:bodyPr/>
                    <a:lstStyle/>
                    <a:p>
                      <a:r>
                        <a:rPr lang="es-CO" sz="2800" dirty="0" smtClean="0"/>
                        <a:t>Punto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 smtClean="0"/>
                        <a:t>1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 smtClean="0"/>
                        <a:t>2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 smtClean="0"/>
                        <a:t>3</a:t>
                      </a:r>
                      <a:endParaRPr lang="es-CO" sz="2800" dirty="0"/>
                    </a:p>
                  </a:txBody>
                  <a:tcPr/>
                </a:tc>
              </a:tr>
              <a:tr h="409622">
                <a:tc>
                  <a:txBody>
                    <a:bodyPr/>
                    <a:lstStyle/>
                    <a:p>
                      <a:r>
                        <a:rPr lang="es-CO" sz="2800" dirty="0" smtClean="0"/>
                        <a:t>t (s)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 smtClean="0"/>
                        <a:t>1,9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 smtClean="0"/>
                        <a:t>5,8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 smtClean="0"/>
                        <a:t>7,7</a:t>
                      </a:r>
                      <a:endParaRPr lang="es-CO" sz="2800" dirty="0"/>
                    </a:p>
                  </a:txBody>
                  <a:tcPr/>
                </a:tc>
              </a:tr>
              <a:tr h="409622">
                <a:tc>
                  <a:txBody>
                    <a:bodyPr/>
                    <a:lstStyle/>
                    <a:p>
                      <a:r>
                        <a:rPr lang="es-CO" sz="2800" dirty="0" smtClean="0"/>
                        <a:t>x (m)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 smtClean="0"/>
                        <a:t>7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 smtClean="0"/>
                        <a:t>9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800" dirty="0" smtClean="0"/>
                        <a:t>5</a:t>
                      </a:r>
                      <a:endParaRPr lang="es-CO" sz="2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3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1415790"/>
              </p:ext>
            </p:extLst>
          </p:nvPr>
        </p:nvGraphicFramePr>
        <p:xfrm>
          <a:off x="7706360" y="5024595"/>
          <a:ext cx="584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8" name="EcuaciÛn" r:id="rId8" imgW="203200" imgH="203200" progId="Equation.3">
                  <p:embed/>
                </p:oleObj>
              </mc:Choice>
              <mc:Fallback>
                <p:oleObj name="EcuaciÛn" r:id="rId8" imgW="203200" imgH="203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6360" y="5024595"/>
                        <a:ext cx="584200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89613"/>
              </p:ext>
            </p:extLst>
          </p:nvPr>
        </p:nvGraphicFramePr>
        <p:xfrm>
          <a:off x="8311356" y="4984590"/>
          <a:ext cx="547687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9" name="Ecuación" r:id="rId10" imgW="190440" imgH="228600" progId="Equation.3">
                  <p:embed/>
                </p:oleObj>
              </mc:Choice>
              <mc:Fallback>
                <p:oleObj name="Ecuación" r:id="rId10" imgW="19044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1356" y="4984590"/>
                        <a:ext cx="547687" cy="657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990465"/>
              </p:ext>
            </p:extLst>
          </p:nvPr>
        </p:nvGraphicFramePr>
        <p:xfrm>
          <a:off x="6447155" y="5402579"/>
          <a:ext cx="5842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0" name="EcuaciÛn" r:id="rId12" imgW="203200" imgH="215900" progId="Equation.3">
                  <p:embed/>
                </p:oleObj>
              </mc:Choice>
              <mc:Fallback>
                <p:oleObj name="EcuaciÛn" r:id="rId12" imgW="203200" imgH="2159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7155" y="5402579"/>
                        <a:ext cx="584200" cy="620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17 CuadroTexto"/>
          <p:cNvSpPr txBox="1"/>
          <p:nvPr/>
        </p:nvSpPr>
        <p:spPr>
          <a:xfrm>
            <a:off x="904824" y="6192301"/>
            <a:ext cx="4671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latin typeface="+mn-lt"/>
              </a:rPr>
              <a:t>R</a:t>
            </a:r>
            <a:r>
              <a:rPr lang="es-CO" sz="2400" dirty="0" smtClean="0">
                <a:latin typeface="+mn-lt"/>
              </a:rPr>
              <a:t>apidez </a:t>
            </a:r>
            <a:r>
              <a:rPr lang="es-CO" sz="2400" dirty="0" smtClean="0">
                <a:latin typeface="+mn-lt"/>
              </a:rPr>
              <a:t>para los mismos puntos?</a:t>
            </a:r>
            <a:endParaRPr lang="es-CO" sz="2400" dirty="0">
              <a:latin typeface="+mn-lt"/>
            </a:endParaRPr>
          </a:p>
        </p:txBody>
      </p:sp>
      <p:sp>
        <p:nvSpPr>
          <p:cNvPr id="19" name="18 CuadroTexto"/>
          <p:cNvSpPr txBox="1"/>
          <p:nvPr/>
        </p:nvSpPr>
        <p:spPr>
          <a:xfrm>
            <a:off x="884504" y="3699828"/>
            <a:ext cx="7400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ES_tradnl" sz="2400" dirty="0" smtClean="0">
                <a:latin typeface="+mn-lt"/>
              </a:rPr>
              <a:t>La </a:t>
            </a:r>
            <a:r>
              <a:rPr lang="es-CO" sz="2400" dirty="0" smtClean="0">
                <a:latin typeface="+mn-lt"/>
              </a:rPr>
              <a:t>rapidez depende únicamente de la distancia recorrida </a:t>
            </a:r>
            <a:endParaRPr lang="es-ES_tradnl" sz="2400" dirty="0" smtClean="0">
              <a:latin typeface="+mn-lt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20700"/>
            <a:ext cx="7620000" cy="581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0125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0700"/>
            <a:ext cx="7620000" cy="5816600"/>
          </a:xfrm>
          <a:prstGeom prst="rect">
            <a:avLst/>
          </a:prstGeom>
        </p:spPr>
      </p:pic>
      <p:graphicFrame>
        <p:nvGraphicFramePr>
          <p:cNvPr id="5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414305"/>
              </p:ext>
            </p:extLst>
          </p:nvPr>
        </p:nvGraphicFramePr>
        <p:xfrm>
          <a:off x="3015334" y="440495"/>
          <a:ext cx="901570" cy="628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85" name="Ecuación" r:id="rId4" imgW="292100" imgH="203200" progId="Equation.3">
                  <p:embed/>
                </p:oleObj>
              </mc:Choice>
              <mc:Fallback>
                <p:oleObj name="Ecuación" r:id="rId4" imgW="2921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5334" y="440495"/>
                        <a:ext cx="901570" cy="62849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32114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0700"/>
            <a:ext cx="7620000" cy="5816600"/>
          </a:xfrm>
          <a:prstGeom prst="rect">
            <a:avLst/>
          </a:prstGeom>
        </p:spPr>
      </p:pic>
      <p:graphicFrame>
        <p:nvGraphicFramePr>
          <p:cNvPr id="4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414305"/>
              </p:ext>
            </p:extLst>
          </p:nvPr>
        </p:nvGraphicFramePr>
        <p:xfrm>
          <a:off x="3015334" y="440495"/>
          <a:ext cx="901570" cy="628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8" name="Ecuación" r:id="rId4" imgW="292100" imgH="203200" progId="Equation.3">
                  <p:embed/>
                </p:oleObj>
              </mc:Choice>
              <mc:Fallback>
                <p:oleObj name="Ecuación" r:id="rId4" imgW="2921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5334" y="440495"/>
                        <a:ext cx="901570" cy="62849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93349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0700"/>
            <a:ext cx="7620000" cy="5816600"/>
          </a:xfrm>
          <a:prstGeom prst="rect">
            <a:avLst/>
          </a:prstGeom>
        </p:spPr>
      </p:pic>
      <p:graphicFrame>
        <p:nvGraphicFramePr>
          <p:cNvPr id="8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4441383"/>
              </p:ext>
            </p:extLst>
          </p:nvPr>
        </p:nvGraphicFramePr>
        <p:xfrm>
          <a:off x="6622771" y="282547"/>
          <a:ext cx="1106488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0" name="Ecuación" r:id="rId4" imgW="546100" imgH="393700" progId="Equation.3">
                  <p:embed/>
                </p:oleObj>
              </mc:Choice>
              <mc:Fallback>
                <p:oleObj name="Ecuación" r:id="rId4" imgW="5461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2771" y="282547"/>
                        <a:ext cx="1106488" cy="7985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414305"/>
              </p:ext>
            </p:extLst>
          </p:nvPr>
        </p:nvGraphicFramePr>
        <p:xfrm>
          <a:off x="3015334" y="440495"/>
          <a:ext cx="901570" cy="628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01" name="Ecuación" r:id="rId6" imgW="292100" imgH="203200" progId="Equation.3">
                  <p:embed/>
                </p:oleObj>
              </mc:Choice>
              <mc:Fallback>
                <p:oleObj name="Ecuación" r:id="rId6" imgW="2921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5334" y="440495"/>
                        <a:ext cx="901570" cy="62849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86848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0700"/>
            <a:ext cx="7620000" cy="5816600"/>
          </a:xfrm>
          <a:prstGeom prst="rect">
            <a:avLst/>
          </a:prstGeom>
        </p:spPr>
      </p:pic>
      <p:graphicFrame>
        <p:nvGraphicFramePr>
          <p:cNvPr id="8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047566"/>
              </p:ext>
            </p:extLst>
          </p:nvPr>
        </p:nvGraphicFramePr>
        <p:xfrm>
          <a:off x="6617965" y="279400"/>
          <a:ext cx="221297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6" name="Ecuación" r:id="rId4" imgW="1092200" imgH="431800" progId="Equation.3">
                  <p:embed/>
                </p:oleObj>
              </mc:Choice>
              <mc:Fallback>
                <p:oleObj name="Ecuación" r:id="rId4" imgW="1092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7965" y="279400"/>
                        <a:ext cx="2212975" cy="8763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414305"/>
              </p:ext>
            </p:extLst>
          </p:nvPr>
        </p:nvGraphicFramePr>
        <p:xfrm>
          <a:off x="3015334" y="440495"/>
          <a:ext cx="901570" cy="628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7" name="Ecuación" r:id="rId6" imgW="292100" imgH="203200" progId="Equation.3">
                  <p:embed/>
                </p:oleObj>
              </mc:Choice>
              <mc:Fallback>
                <p:oleObj name="Ecuación" r:id="rId6" imgW="2921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5334" y="440495"/>
                        <a:ext cx="901570" cy="62849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03510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0700"/>
            <a:ext cx="7620000" cy="5816600"/>
          </a:xfrm>
          <a:prstGeom prst="rect">
            <a:avLst/>
          </a:prstGeom>
        </p:spPr>
      </p:pic>
      <p:graphicFrame>
        <p:nvGraphicFramePr>
          <p:cNvPr id="5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945750"/>
              </p:ext>
            </p:extLst>
          </p:nvPr>
        </p:nvGraphicFramePr>
        <p:xfrm>
          <a:off x="3015334" y="440495"/>
          <a:ext cx="901570" cy="628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4" name="Ecuación" r:id="rId4" imgW="292100" imgH="203200" progId="Equation.3">
                  <p:embed/>
                </p:oleObj>
              </mc:Choice>
              <mc:Fallback>
                <p:oleObj name="Ecuación" r:id="rId4" imgW="2921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5334" y="440495"/>
                        <a:ext cx="901570" cy="62849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728164"/>
              </p:ext>
            </p:extLst>
          </p:nvPr>
        </p:nvGraphicFramePr>
        <p:xfrm>
          <a:off x="6617965" y="279400"/>
          <a:ext cx="221297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5" name="Ecuación" r:id="rId6" imgW="1092200" imgH="431800" progId="Equation.3">
                  <p:embed/>
                </p:oleObj>
              </mc:Choice>
              <mc:Fallback>
                <p:oleObj name="Ecuación" r:id="rId6" imgW="1092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7965" y="279400"/>
                        <a:ext cx="2212975" cy="8763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066659"/>
              </p:ext>
            </p:extLst>
          </p:nvPr>
        </p:nvGraphicFramePr>
        <p:xfrm>
          <a:off x="6640513" y="1171575"/>
          <a:ext cx="2497137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6" name="Ecuación" r:id="rId8" imgW="1231900" imgH="393700" progId="Equation.3">
                  <p:embed/>
                </p:oleObj>
              </mc:Choice>
              <mc:Fallback>
                <p:oleObj name="Ecuación" r:id="rId8" imgW="12319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0513" y="1171575"/>
                        <a:ext cx="2497137" cy="7985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1305007"/>
              </p:ext>
            </p:extLst>
          </p:nvPr>
        </p:nvGraphicFramePr>
        <p:xfrm>
          <a:off x="7242175" y="2162175"/>
          <a:ext cx="18526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7" name="Ecuación" r:id="rId10" imgW="914400" imgH="228600" progId="Equation.3">
                  <p:embed/>
                </p:oleObj>
              </mc:Choice>
              <mc:Fallback>
                <p:oleObj name="Ecuación" r:id="rId10" imgW="914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2175" y="2162175"/>
                        <a:ext cx="1852613" cy="4635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75396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0700"/>
            <a:ext cx="7620000" cy="5816600"/>
          </a:xfrm>
          <a:prstGeom prst="rect">
            <a:avLst/>
          </a:prstGeom>
        </p:spPr>
      </p:pic>
      <p:graphicFrame>
        <p:nvGraphicFramePr>
          <p:cNvPr id="5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591790"/>
              </p:ext>
            </p:extLst>
          </p:nvPr>
        </p:nvGraphicFramePr>
        <p:xfrm>
          <a:off x="2882377" y="615946"/>
          <a:ext cx="862012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0" name="Ecuación" r:id="rId4" imgW="279400" imgH="215900" progId="Equation.3">
                  <p:embed/>
                </p:oleObj>
              </mc:Choice>
              <mc:Fallback>
                <p:oleObj name="Ecuación" r:id="rId4" imgW="2794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377" y="615946"/>
                        <a:ext cx="862012" cy="6683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2078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0700"/>
            <a:ext cx="7620000" cy="5816600"/>
          </a:xfrm>
          <a:prstGeom prst="rect">
            <a:avLst/>
          </a:prstGeom>
        </p:spPr>
      </p:pic>
      <p:graphicFrame>
        <p:nvGraphicFramePr>
          <p:cNvPr id="8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9258022"/>
              </p:ext>
            </p:extLst>
          </p:nvPr>
        </p:nvGraphicFramePr>
        <p:xfrm>
          <a:off x="6630988" y="279400"/>
          <a:ext cx="218598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" name="Ecuación" r:id="rId4" imgW="1079500" imgH="431800" progId="Equation.3">
                  <p:embed/>
                </p:oleObj>
              </mc:Choice>
              <mc:Fallback>
                <p:oleObj name="Ecuación" r:id="rId4" imgW="1079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0988" y="279400"/>
                        <a:ext cx="2185987" cy="8763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42695"/>
              </p:ext>
            </p:extLst>
          </p:nvPr>
        </p:nvGraphicFramePr>
        <p:xfrm>
          <a:off x="2882377" y="615946"/>
          <a:ext cx="862012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" name="Ecuación" r:id="rId6" imgW="279400" imgH="215900" progId="Equation.3">
                  <p:embed/>
                </p:oleObj>
              </mc:Choice>
              <mc:Fallback>
                <p:oleObj name="Ecuación" r:id="rId6" imgW="2794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377" y="615946"/>
                        <a:ext cx="862012" cy="6683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352668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0700"/>
            <a:ext cx="7620000" cy="5816600"/>
          </a:xfrm>
          <a:prstGeom prst="rect">
            <a:avLst/>
          </a:prstGeom>
        </p:spPr>
      </p:pic>
      <p:graphicFrame>
        <p:nvGraphicFramePr>
          <p:cNvPr id="6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3294862"/>
              </p:ext>
            </p:extLst>
          </p:nvPr>
        </p:nvGraphicFramePr>
        <p:xfrm>
          <a:off x="6653213" y="1171575"/>
          <a:ext cx="2471737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02" name="Ecuación" r:id="rId4" imgW="1219200" imgH="393700" progId="Equation.3">
                  <p:embed/>
                </p:oleObj>
              </mc:Choice>
              <mc:Fallback>
                <p:oleObj name="Ecuación" r:id="rId4" imgW="12192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3213" y="1171575"/>
                        <a:ext cx="2471737" cy="7985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315157"/>
              </p:ext>
            </p:extLst>
          </p:nvPr>
        </p:nvGraphicFramePr>
        <p:xfrm>
          <a:off x="6630988" y="279400"/>
          <a:ext cx="218598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03" name="Ecuación" r:id="rId6" imgW="1079500" imgH="431800" progId="Equation.3">
                  <p:embed/>
                </p:oleObj>
              </mc:Choice>
              <mc:Fallback>
                <p:oleObj name="Ecuación" r:id="rId6" imgW="1079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0988" y="279400"/>
                        <a:ext cx="2185987" cy="8763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295952"/>
              </p:ext>
            </p:extLst>
          </p:nvPr>
        </p:nvGraphicFramePr>
        <p:xfrm>
          <a:off x="7153275" y="2149475"/>
          <a:ext cx="20320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04" name="Ecuación" r:id="rId8" imgW="1003300" imgH="241300" progId="Equation.3">
                  <p:embed/>
                </p:oleObj>
              </mc:Choice>
              <mc:Fallback>
                <p:oleObj name="Ecuación" r:id="rId8" imgW="10033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3275" y="2149475"/>
                        <a:ext cx="2032000" cy="4889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42695"/>
              </p:ext>
            </p:extLst>
          </p:nvPr>
        </p:nvGraphicFramePr>
        <p:xfrm>
          <a:off x="2882377" y="615946"/>
          <a:ext cx="862012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05" name="Ecuación" r:id="rId10" imgW="279400" imgH="215900" progId="Equation.3">
                  <p:embed/>
                </p:oleObj>
              </mc:Choice>
              <mc:Fallback>
                <p:oleObj name="Ecuación" r:id="rId10" imgW="2794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377" y="615946"/>
                        <a:ext cx="862012" cy="6683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28495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0700"/>
            <a:ext cx="7620000" cy="5816600"/>
          </a:xfrm>
          <a:prstGeom prst="rect">
            <a:avLst/>
          </a:prstGeom>
        </p:spPr>
      </p:pic>
      <p:graphicFrame>
        <p:nvGraphicFramePr>
          <p:cNvPr id="3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13623"/>
              </p:ext>
            </p:extLst>
          </p:nvPr>
        </p:nvGraphicFramePr>
        <p:xfrm>
          <a:off x="2228209" y="619870"/>
          <a:ext cx="1672593" cy="49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24" name="Ecuación" r:id="rId4" imgW="685800" imgH="203200" progId="Equation.3">
                  <p:embed/>
                </p:oleObj>
              </mc:Choice>
              <mc:Fallback>
                <p:oleObj name="Ecuación" r:id="rId4" imgW="6858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209" y="619870"/>
                        <a:ext cx="1672593" cy="4965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9168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0700"/>
            <a:ext cx="7620000" cy="5816600"/>
          </a:xfrm>
          <a:prstGeom prst="rect">
            <a:avLst/>
          </a:prstGeom>
        </p:spPr>
      </p:pic>
      <p:graphicFrame>
        <p:nvGraphicFramePr>
          <p:cNvPr id="4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2264420"/>
              </p:ext>
            </p:extLst>
          </p:nvPr>
        </p:nvGraphicFramePr>
        <p:xfrm>
          <a:off x="6138887" y="143564"/>
          <a:ext cx="1450768" cy="748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90" name="Ecuación" r:id="rId4" imgW="838200" imgH="431800" progId="Equation.3">
                  <p:embed/>
                </p:oleObj>
              </mc:Choice>
              <mc:Fallback>
                <p:oleObj name="Ecuación" r:id="rId4" imgW="838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8887" y="143564"/>
                        <a:ext cx="1450768" cy="74845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9628647"/>
              </p:ext>
            </p:extLst>
          </p:nvPr>
        </p:nvGraphicFramePr>
        <p:xfrm>
          <a:off x="2228209" y="619870"/>
          <a:ext cx="1672593" cy="49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91" name="Ecuación" r:id="rId6" imgW="685800" imgH="203200" progId="Equation.3">
                  <p:embed/>
                </p:oleObj>
              </mc:Choice>
              <mc:Fallback>
                <p:oleObj name="Ecuación" r:id="rId6" imgW="6858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209" y="619870"/>
                        <a:ext cx="1672593" cy="4965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94381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0700"/>
            <a:ext cx="7620000" cy="5816600"/>
          </a:xfrm>
          <a:prstGeom prst="rect">
            <a:avLst/>
          </a:prstGeom>
        </p:spPr>
      </p:pic>
      <p:graphicFrame>
        <p:nvGraphicFramePr>
          <p:cNvPr id="3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7187671"/>
              </p:ext>
            </p:extLst>
          </p:nvPr>
        </p:nvGraphicFramePr>
        <p:xfrm>
          <a:off x="2649640" y="395663"/>
          <a:ext cx="1672593" cy="49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4" name="Ecuación" r:id="rId4" imgW="685800" imgH="203200" progId="Equation.3">
                  <p:embed/>
                </p:oleObj>
              </mc:Choice>
              <mc:Fallback>
                <p:oleObj name="Ecuación" r:id="rId4" imgW="6858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640" y="395663"/>
                        <a:ext cx="1672593" cy="4965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208433"/>
              </p:ext>
            </p:extLst>
          </p:nvPr>
        </p:nvGraphicFramePr>
        <p:xfrm>
          <a:off x="6133995" y="142875"/>
          <a:ext cx="2417762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5" name="Ecuación" r:id="rId6" imgW="1397000" imgH="431800" progId="Equation.3">
                  <p:embed/>
                </p:oleObj>
              </mc:Choice>
              <mc:Fallback>
                <p:oleObj name="Ecuación" r:id="rId6" imgW="13970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3995" y="142875"/>
                        <a:ext cx="2417762" cy="7493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82482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0700"/>
            <a:ext cx="7620000" cy="5816600"/>
          </a:xfrm>
          <a:prstGeom prst="rect">
            <a:avLst/>
          </a:prstGeom>
        </p:spPr>
      </p:pic>
      <p:graphicFrame>
        <p:nvGraphicFramePr>
          <p:cNvPr id="4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508875"/>
              </p:ext>
            </p:extLst>
          </p:nvPr>
        </p:nvGraphicFramePr>
        <p:xfrm>
          <a:off x="6133995" y="142875"/>
          <a:ext cx="2417762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25" name="Ecuación" r:id="rId4" imgW="1397000" imgH="431800" progId="Equation.3">
                  <p:embed/>
                </p:oleObj>
              </mc:Choice>
              <mc:Fallback>
                <p:oleObj name="Ecuación" r:id="rId4" imgW="13970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3995" y="142875"/>
                        <a:ext cx="2417762" cy="7493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5537850"/>
              </p:ext>
            </p:extLst>
          </p:nvPr>
        </p:nvGraphicFramePr>
        <p:xfrm>
          <a:off x="6456450" y="915477"/>
          <a:ext cx="2636272" cy="764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26" name="Ecuación" r:id="rId6" imgW="1358900" imgH="393700" progId="Equation.3">
                  <p:embed/>
                </p:oleObj>
              </mc:Choice>
              <mc:Fallback>
                <p:oleObj name="Ecuación" r:id="rId6" imgW="1358900" imgH="3937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456450" y="915477"/>
                        <a:ext cx="2636272" cy="7642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9090428"/>
              </p:ext>
            </p:extLst>
          </p:nvPr>
        </p:nvGraphicFramePr>
        <p:xfrm>
          <a:off x="7037721" y="1852489"/>
          <a:ext cx="2020045" cy="478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27" name="Ecuación" r:id="rId8" imgW="965200" imgH="228600" progId="Equation.3">
                  <p:embed/>
                </p:oleObj>
              </mc:Choice>
              <mc:Fallback>
                <p:oleObj name="Ecuación" r:id="rId8" imgW="96520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037721" y="1852489"/>
                        <a:ext cx="2020045" cy="478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5616129"/>
              </p:ext>
            </p:extLst>
          </p:nvPr>
        </p:nvGraphicFramePr>
        <p:xfrm>
          <a:off x="2649640" y="395663"/>
          <a:ext cx="1672593" cy="49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28" name="Ecuación" r:id="rId10" imgW="685800" imgH="203200" progId="Equation.3">
                  <p:embed/>
                </p:oleObj>
              </mc:Choice>
              <mc:Fallback>
                <p:oleObj name="Ecuación" r:id="rId10" imgW="6858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640" y="395663"/>
                        <a:ext cx="1672593" cy="4965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24462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57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6000" dirty="0" smtClean="0"/>
              <a:t>Velocidad instantánea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457200" y="3343497"/>
            <a:ext cx="8510530" cy="1275202"/>
          </a:xfrm>
        </p:spPr>
        <p:txBody>
          <a:bodyPr/>
          <a:lstStyle/>
          <a:p>
            <a:pPr eaLnBrk="1" hangingPunct="1">
              <a:buNone/>
            </a:pPr>
            <a:r>
              <a:rPr lang="es-ES_tradnl" dirty="0" smtClean="0"/>
              <a:t> </a:t>
            </a:r>
            <a:r>
              <a:rPr lang="es-ES_tradnl" sz="2800" dirty="0" smtClean="0"/>
              <a:t>La velocidad instantánea </a:t>
            </a:r>
            <a:r>
              <a:rPr lang="es-ES_tradnl" sz="2800" b="1" dirty="0" smtClean="0"/>
              <a:t>v </a:t>
            </a:r>
            <a:r>
              <a:rPr lang="es-ES_tradnl" sz="2800" dirty="0" smtClean="0"/>
              <a:t>a un momento t es igual al valor del cociente </a:t>
            </a:r>
            <a:r>
              <a:rPr lang="el-GR" sz="2800" b="1" dirty="0" smtClean="0">
                <a:latin typeface="Times New Roman"/>
                <a:cs typeface="Times New Roman"/>
              </a:rPr>
              <a:t>Δ</a:t>
            </a:r>
            <a:r>
              <a:rPr lang="es-ES_tradnl" sz="2800" b="1" dirty="0" smtClean="0">
                <a:latin typeface="Times New Roman"/>
                <a:cs typeface="Times New Roman"/>
              </a:rPr>
              <a:t>x/</a:t>
            </a:r>
            <a:r>
              <a:rPr lang="el-GR" sz="2800" b="1" dirty="0" smtClean="0">
                <a:latin typeface="Times New Roman"/>
                <a:cs typeface="Times New Roman"/>
              </a:rPr>
              <a:t>Δ</a:t>
            </a:r>
            <a:r>
              <a:rPr lang="es-ES_tradnl" sz="2800" b="1" dirty="0" smtClean="0">
                <a:latin typeface="Times New Roman"/>
                <a:cs typeface="Times New Roman"/>
              </a:rPr>
              <a:t>t</a:t>
            </a:r>
            <a:r>
              <a:rPr lang="es-ES_tradnl" sz="2800" dirty="0" smtClean="0">
                <a:latin typeface="Times New Roman"/>
                <a:cs typeface="Times New Roman"/>
              </a:rPr>
              <a:t> </a:t>
            </a:r>
            <a:r>
              <a:rPr lang="es-ES_tradnl" sz="2800" dirty="0" smtClean="0"/>
              <a:t>cuando </a:t>
            </a:r>
            <a:r>
              <a:rPr lang="el-GR" sz="2800" b="1" dirty="0" smtClean="0">
                <a:latin typeface="Times New Roman"/>
                <a:cs typeface="Times New Roman"/>
              </a:rPr>
              <a:t>Δ</a:t>
            </a:r>
            <a:r>
              <a:rPr lang="es-CO" sz="2800" b="1" dirty="0" smtClean="0">
                <a:latin typeface="Times New Roman"/>
                <a:cs typeface="Times New Roman"/>
              </a:rPr>
              <a:t>t</a:t>
            </a:r>
            <a:r>
              <a:rPr lang="el-GR" sz="2800" dirty="0" smtClean="0"/>
              <a:t> </a:t>
            </a:r>
            <a:r>
              <a:rPr lang="es-ES_tradnl" sz="2800" dirty="0" smtClean="0"/>
              <a:t>tiende a </a:t>
            </a:r>
            <a:r>
              <a:rPr lang="es-ES_tradnl" sz="2800" b="1" dirty="0" smtClean="0"/>
              <a:t>cero</a:t>
            </a:r>
            <a:r>
              <a:rPr lang="es-ES_tradnl" sz="2800" dirty="0" smtClean="0"/>
              <a:t>.</a:t>
            </a:r>
          </a:p>
        </p:txBody>
      </p:sp>
      <p:graphicFrame>
        <p:nvGraphicFramePr>
          <p:cNvPr id="4300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6189292"/>
              </p:ext>
            </p:extLst>
          </p:nvPr>
        </p:nvGraphicFramePr>
        <p:xfrm>
          <a:off x="660953" y="4975890"/>
          <a:ext cx="7532071" cy="1529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76" name="EcuaciÛn" r:id="rId3" imgW="1943100" imgH="393700" progId="Equation.3">
                  <p:embed/>
                </p:oleObj>
              </mc:Choice>
              <mc:Fallback>
                <p:oleObj name="EcuaciÛn" r:id="rId3" imgW="1943100" imgH="3937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953" y="4975890"/>
                        <a:ext cx="7532071" cy="152936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57200" y="1730597"/>
            <a:ext cx="8510530" cy="1275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s-ES_tradnl" dirty="0" smtClean="0"/>
              <a:t> </a:t>
            </a:r>
            <a:r>
              <a:rPr lang="es-ES_tradnl" sz="2800" dirty="0" smtClean="0"/>
              <a:t>La velocidad instantánea </a:t>
            </a:r>
            <a:r>
              <a:rPr lang="es-ES_tradnl" sz="2800" b="1" dirty="0" smtClean="0">
                <a:latin typeface="Times New Roman"/>
                <a:cs typeface="Times New Roman"/>
              </a:rPr>
              <a:t>v</a:t>
            </a:r>
            <a:r>
              <a:rPr lang="es-ES_tradnl" sz="2800" b="1" dirty="0" smtClean="0"/>
              <a:t> </a:t>
            </a:r>
            <a:r>
              <a:rPr lang="es-ES_tradnl" sz="2800" dirty="0" smtClean="0"/>
              <a:t>a un momento t es igual al valor del cociente </a:t>
            </a:r>
            <a:r>
              <a:rPr lang="el-GR" sz="2800" b="1" dirty="0" smtClean="0">
                <a:latin typeface="Times New Roman"/>
                <a:cs typeface="Times New Roman"/>
              </a:rPr>
              <a:t>Δ</a:t>
            </a:r>
            <a:r>
              <a:rPr lang="es-ES_tradnl" sz="2800" b="1" dirty="0" smtClean="0">
                <a:latin typeface="Times New Roman"/>
                <a:cs typeface="Times New Roman"/>
              </a:rPr>
              <a:t>x/</a:t>
            </a:r>
            <a:r>
              <a:rPr lang="el-GR" sz="2800" b="1" dirty="0" smtClean="0">
                <a:latin typeface="Times New Roman"/>
                <a:cs typeface="Times New Roman"/>
              </a:rPr>
              <a:t>Δ</a:t>
            </a:r>
            <a:r>
              <a:rPr lang="es-ES_tradnl" sz="2800" b="1" dirty="0" smtClean="0">
                <a:latin typeface="Times New Roman"/>
                <a:cs typeface="Times New Roman"/>
              </a:rPr>
              <a:t>t</a:t>
            </a:r>
            <a:r>
              <a:rPr lang="es-ES_tradnl" sz="2800" dirty="0" smtClean="0">
                <a:latin typeface="Times New Roman"/>
                <a:cs typeface="Times New Roman"/>
              </a:rPr>
              <a:t> </a:t>
            </a:r>
            <a:r>
              <a:rPr lang="es-ES_tradnl" sz="2800" dirty="0" smtClean="0"/>
              <a:t>cuando </a:t>
            </a:r>
            <a:r>
              <a:rPr lang="el-GR" sz="2800" b="1" dirty="0" smtClean="0">
                <a:latin typeface="Times New Roman"/>
                <a:cs typeface="Times New Roman"/>
              </a:rPr>
              <a:t>Δ</a:t>
            </a:r>
            <a:r>
              <a:rPr lang="es-CO" sz="2800" b="1" dirty="0" smtClean="0">
                <a:latin typeface="Times New Roman"/>
                <a:cs typeface="Times New Roman"/>
              </a:rPr>
              <a:t>t</a:t>
            </a:r>
            <a:r>
              <a:rPr lang="el-GR" sz="2800" dirty="0" smtClean="0"/>
              <a:t> </a:t>
            </a:r>
            <a:r>
              <a:rPr lang="es-ES_tradnl" sz="2800" dirty="0" smtClean="0"/>
              <a:t>tiende a </a:t>
            </a:r>
            <a:r>
              <a:rPr lang="es-ES_tradnl" sz="2800" b="1" dirty="0" smtClean="0"/>
              <a:t>cero</a:t>
            </a:r>
            <a:r>
              <a:rPr lang="es-ES_tradnl" sz="2800" dirty="0" smtClean="0"/>
              <a:t>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57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6000" dirty="0" smtClean="0"/>
              <a:t>Velocidad instantánea</a:t>
            </a:r>
          </a:p>
        </p:txBody>
      </p:sp>
      <p:graphicFrame>
        <p:nvGraphicFramePr>
          <p:cNvPr id="4300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091188"/>
              </p:ext>
            </p:extLst>
          </p:nvPr>
        </p:nvGraphicFramePr>
        <p:xfrm>
          <a:off x="647699" y="2400300"/>
          <a:ext cx="7934919" cy="275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04" name="EcuaciÛn" r:id="rId3" imgW="1943100" imgH="673100" progId="Equation.3">
                  <p:embed/>
                </p:oleObj>
              </mc:Choice>
              <mc:Fallback>
                <p:oleObj name="EcuaciÛn" r:id="rId3" imgW="1943100" imgH="673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699" y="2400300"/>
                        <a:ext cx="7934919" cy="2755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66902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825512"/>
            <a:ext cx="7620000" cy="5816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064" y="34950"/>
            <a:ext cx="8229600" cy="9399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000" dirty="0" smtClean="0"/>
              <a:t>Velocidad instantánea</a:t>
            </a:r>
          </a:p>
        </p:txBody>
      </p:sp>
      <p:graphicFrame>
        <p:nvGraphicFramePr>
          <p:cNvPr id="1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347911"/>
              </p:ext>
            </p:extLst>
          </p:nvPr>
        </p:nvGraphicFramePr>
        <p:xfrm>
          <a:off x="6652480" y="941032"/>
          <a:ext cx="1590900" cy="91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8" name="Ecuación" r:id="rId4" imgW="685800" imgH="393700" progId="Equation.3">
                  <p:embed/>
                </p:oleObj>
              </mc:Choice>
              <mc:Fallback>
                <p:oleObj name="Ecuación" r:id="rId4" imgW="685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2480" y="941032"/>
                        <a:ext cx="1590900" cy="9136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96401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825512"/>
            <a:ext cx="7620000" cy="5816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064" y="34950"/>
            <a:ext cx="8229600" cy="9399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000" dirty="0" smtClean="0"/>
              <a:t>Velocidad instantánea</a:t>
            </a:r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335191"/>
              </p:ext>
            </p:extLst>
          </p:nvPr>
        </p:nvGraphicFramePr>
        <p:xfrm>
          <a:off x="6652480" y="941032"/>
          <a:ext cx="1590900" cy="91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6" name="Ecuación" r:id="rId4" imgW="685800" imgH="393700" progId="Equation.3">
                  <p:embed/>
                </p:oleObj>
              </mc:Choice>
              <mc:Fallback>
                <p:oleObj name="Ecuación" r:id="rId4" imgW="685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2480" y="941032"/>
                        <a:ext cx="1590900" cy="9136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67277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825512"/>
            <a:ext cx="7620000" cy="5816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064" y="34950"/>
            <a:ext cx="8229600" cy="9399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000" dirty="0" smtClean="0"/>
              <a:t>Velocidad instantánea</a:t>
            </a:r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335191"/>
              </p:ext>
            </p:extLst>
          </p:nvPr>
        </p:nvGraphicFramePr>
        <p:xfrm>
          <a:off x="6652480" y="941032"/>
          <a:ext cx="1590900" cy="91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0" name="Ecuación" r:id="rId4" imgW="685800" imgH="393700" progId="Equation.3">
                  <p:embed/>
                </p:oleObj>
              </mc:Choice>
              <mc:Fallback>
                <p:oleObj name="Ecuación" r:id="rId4" imgW="685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2480" y="941032"/>
                        <a:ext cx="1590900" cy="9136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00916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825512"/>
            <a:ext cx="7620000" cy="5816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064" y="34950"/>
            <a:ext cx="8229600" cy="9399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000" dirty="0" smtClean="0"/>
              <a:t>Velocidad instantánea</a:t>
            </a:r>
          </a:p>
        </p:txBody>
      </p:sp>
      <p:graphicFrame>
        <p:nvGraphicFramePr>
          <p:cNvPr id="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335191"/>
              </p:ext>
            </p:extLst>
          </p:nvPr>
        </p:nvGraphicFramePr>
        <p:xfrm>
          <a:off x="6652480" y="941032"/>
          <a:ext cx="1590900" cy="91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14" name="Ecuación" r:id="rId4" imgW="685800" imgH="393700" progId="Equation.3">
                  <p:embed/>
                </p:oleObj>
              </mc:Choice>
              <mc:Fallback>
                <p:oleObj name="Ecuación" r:id="rId4" imgW="685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2480" y="941032"/>
                        <a:ext cx="1590900" cy="9136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75018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825512"/>
            <a:ext cx="7620000" cy="5816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064" y="34950"/>
            <a:ext cx="8229600" cy="9399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000" dirty="0" smtClean="0"/>
              <a:t>Velocidad instantánea</a:t>
            </a:r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335191"/>
              </p:ext>
            </p:extLst>
          </p:nvPr>
        </p:nvGraphicFramePr>
        <p:xfrm>
          <a:off x="6652480" y="941032"/>
          <a:ext cx="1590900" cy="91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38" name="Ecuación" r:id="rId4" imgW="685800" imgH="393700" progId="Equation.3">
                  <p:embed/>
                </p:oleObj>
              </mc:Choice>
              <mc:Fallback>
                <p:oleObj name="Ecuación" r:id="rId4" imgW="685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2480" y="941032"/>
                        <a:ext cx="1590900" cy="9136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99991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825512"/>
            <a:ext cx="7620000" cy="5816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064" y="34950"/>
            <a:ext cx="8229600" cy="9399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000" dirty="0" smtClean="0"/>
              <a:t>Velocidad instantánea</a:t>
            </a:r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869558"/>
              </p:ext>
            </p:extLst>
          </p:nvPr>
        </p:nvGraphicFramePr>
        <p:xfrm>
          <a:off x="6677881" y="1854644"/>
          <a:ext cx="1027971" cy="939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22" name="Ecuación" r:id="rId4" imgW="431800" imgH="393700" progId="Equation.3">
                  <p:embed/>
                </p:oleObj>
              </mc:Choice>
              <mc:Fallback>
                <p:oleObj name="Ecuación" r:id="rId4" imgW="431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7881" y="1854644"/>
                        <a:ext cx="1027971" cy="93982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335191"/>
              </p:ext>
            </p:extLst>
          </p:nvPr>
        </p:nvGraphicFramePr>
        <p:xfrm>
          <a:off x="6652480" y="941032"/>
          <a:ext cx="1590900" cy="91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23" name="Ecuación" r:id="rId6" imgW="685800" imgH="393700" progId="Equation.3">
                  <p:embed/>
                </p:oleObj>
              </mc:Choice>
              <mc:Fallback>
                <p:oleObj name="Ecuación" r:id="rId6" imgW="685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2480" y="941032"/>
                        <a:ext cx="1590900" cy="9136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71896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000" dirty="0" smtClean="0"/>
              <a:t>Velocidad instantánea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510530" cy="1275202"/>
          </a:xfrm>
        </p:spPr>
        <p:txBody>
          <a:bodyPr/>
          <a:lstStyle/>
          <a:p>
            <a:pPr eaLnBrk="1" hangingPunct="1">
              <a:buNone/>
            </a:pPr>
            <a:r>
              <a:rPr lang="es-ES_tradnl" dirty="0" smtClean="0"/>
              <a:t> </a:t>
            </a:r>
            <a:r>
              <a:rPr lang="es-ES_tradnl" sz="2800" dirty="0" smtClean="0"/>
              <a:t>La velocidad instantánea </a:t>
            </a:r>
            <a:r>
              <a:rPr lang="es-ES_tradnl" sz="2800" b="1" dirty="0" smtClean="0">
                <a:latin typeface="Times New Roman"/>
                <a:cs typeface="Times New Roman"/>
              </a:rPr>
              <a:t>v</a:t>
            </a:r>
            <a:r>
              <a:rPr lang="es-ES_tradnl" sz="2800" b="1" dirty="0" smtClean="0"/>
              <a:t> </a:t>
            </a:r>
            <a:r>
              <a:rPr lang="es-ES_tradnl" sz="2800" dirty="0" smtClean="0"/>
              <a:t>a un momento t es igual al valor del cociente </a:t>
            </a:r>
            <a:r>
              <a:rPr lang="el-GR" sz="2800" b="1" dirty="0" smtClean="0">
                <a:latin typeface="Times New Roman"/>
                <a:cs typeface="Times New Roman"/>
              </a:rPr>
              <a:t>Δ</a:t>
            </a:r>
            <a:r>
              <a:rPr lang="es-ES_tradnl" sz="2800" b="1" dirty="0" smtClean="0">
                <a:latin typeface="Times New Roman"/>
                <a:cs typeface="Times New Roman"/>
              </a:rPr>
              <a:t>x/</a:t>
            </a:r>
            <a:r>
              <a:rPr lang="el-GR" sz="2800" b="1" dirty="0" smtClean="0">
                <a:latin typeface="Times New Roman"/>
                <a:cs typeface="Times New Roman"/>
              </a:rPr>
              <a:t>Δ</a:t>
            </a:r>
            <a:r>
              <a:rPr lang="es-ES_tradnl" sz="2800" b="1" dirty="0" smtClean="0">
                <a:latin typeface="Times New Roman"/>
                <a:cs typeface="Times New Roman"/>
              </a:rPr>
              <a:t>t</a:t>
            </a:r>
            <a:r>
              <a:rPr lang="es-ES_tradnl" sz="2800" dirty="0" smtClean="0"/>
              <a:t> cuando </a:t>
            </a:r>
            <a:r>
              <a:rPr lang="el-GR" sz="2800" b="1" dirty="0" smtClean="0">
                <a:latin typeface="Times New Roman"/>
                <a:cs typeface="Times New Roman"/>
              </a:rPr>
              <a:t>Δ</a:t>
            </a:r>
            <a:r>
              <a:rPr lang="es-CO" sz="2800" b="1" dirty="0" smtClean="0">
                <a:latin typeface="Times New Roman"/>
                <a:cs typeface="Times New Roman"/>
              </a:rPr>
              <a:t>t</a:t>
            </a:r>
            <a:r>
              <a:rPr lang="el-GR" sz="2800" dirty="0" smtClean="0"/>
              <a:t> </a:t>
            </a:r>
            <a:r>
              <a:rPr lang="es-ES_tradnl" sz="2800" dirty="0" smtClean="0"/>
              <a:t>tiende a </a:t>
            </a:r>
            <a:r>
              <a:rPr lang="es-ES_tradnl" sz="2800" b="1" dirty="0" smtClean="0"/>
              <a:t>cero</a:t>
            </a:r>
            <a:r>
              <a:rPr lang="es-ES_tradnl" sz="2800" dirty="0" smtClean="0"/>
              <a:t>.</a:t>
            </a:r>
          </a:p>
        </p:txBody>
      </p:sp>
      <p:graphicFrame>
        <p:nvGraphicFramePr>
          <p:cNvPr id="43009" name="Object 1"/>
          <p:cNvGraphicFramePr>
            <a:graphicFrameLocks noChangeAspect="1"/>
          </p:cNvGraphicFramePr>
          <p:nvPr/>
        </p:nvGraphicFramePr>
        <p:xfrm>
          <a:off x="758825" y="2909100"/>
          <a:ext cx="5595938" cy="226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12" name="Ecuación" r:id="rId3" imgW="2006280" imgH="812520" progId="Equation.3">
                  <p:embed/>
                </p:oleObj>
              </mc:Choice>
              <mc:Fallback>
                <p:oleObj name="Ecuación" r:id="rId3" imgW="200628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2909100"/>
                        <a:ext cx="5595938" cy="2268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4 CuadroTexto"/>
          <p:cNvSpPr txBox="1"/>
          <p:nvPr/>
        </p:nvSpPr>
        <p:spPr>
          <a:xfrm>
            <a:off x="2500835" y="4362662"/>
            <a:ext cx="3853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 smtClean="0">
                <a:latin typeface="+mn-lt"/>
              </a:rPr>
              <a:t>Derivada de </a:t>
            </a:r>
            <a:r>
              <a:rPr lang="es-CO" sz="2400" b="1" dirty="0" smtClean="0">
                <a:latin typeface="+mn-lt"/>
              </a:rPr>
              <a:t>x</a:t>
            </a:r>
            <a:r>
              <a:rPr lang="es-CO" sz="2400" dirty="0" smtClean="0">
                <a:latin typeface="+mn-lt"/>
              </a:rPr>
              <a:t> respecto a </a:t>
            </a:r>
            <a:r>
              <a:rPr lang="es-CO" sz="2400" b="1" dirty="0" smtClean="0">
                <a:latin typeface="+mn-lt"/>
              </a:rPr>
              <a:t>t</a:t>
            </a:r>
            <a:endParaRPr lang="es-CO" sz="2400" b="1" dirty="0">
              <a:latin typeface="+mn-lt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457200" y="5673687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 smtClean="0">
                <a:latin typeface="+mn-lt"/>
              </a:rPr>
              <a:t>Este valor corresponde a la pendiente de la tangente en este punto</a:t>
            </a:r>
            <a:endParaRPr lang="es-CO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132786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825512"/>
            <a:ext cx="7620000" cy="5816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064" y="34950"/>
            <a:ext cx="8229600" cy="9399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4000" dirty="0" smtClean="0"/>
              <a:t>Velocidad instantánea</a:t>
            </a:r>
          </a:p>
        </p:txBody>
      </p:sp>
      <p:graphicFrame>
        <p:nvGraphicFramePr>
          <p:cNvPr id="6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118238"/>
              </p:ext>
            </p:extLst>
          </p:nvPr>
        </p:nvGraphicFramePr>
        <p:xfrm>
          <a:off x="5461251" y="902573"/>
          <a:ext cx="1590900" cy="91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7" name="Ecuación" r:id="rId4" imgW="685800" imgH="393700" progId="Equation.3">
                  <p:embed/>
                </p:oleObj>
              </mc:Choice>
              <mc:Fallback>
                <p:oleObj name="Ecuación" r:id="rId4" imgW="685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251" y="902573"/>
                        <a:ext cx="1590900" cy="9136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960091"/>
              </p:ext>
            </p:extLst>
          </p:nvPr>
        </p:nvGraphicFramePr>
        <p:xfrm>
          <a:off x="7303228" y="893248"/>
          <a:ext cx="1027971" cy="939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8" name="Ecuación" r:id="rId6" imgW="431800" imgH="393700" progId="Equation.3">
                  <p:embed/>
                </p:oleObj>
              </mc:Choice>
              <mc:Fallback>
                <p:oleObj name="Ecuación" r:id="rId6" imgW="431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3228" y="893248"/>
                        <a:ext cx="1027971" cy="93982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7131466"/>
              </p:ext>
            </p:extLst>
          </p:nvPr>
        </p:nvGraphicFramePr>
        <p:xfrm>
          <a:off x="6129838" y="1807667"/>
          <a:ext cx="22987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9" name="EcuaciÛn" r:id="rId8" imgW="965200" imgH="203200" progId="Equation.3">
                  <p:embed/>
                </p:oleObj>
              </mc:Choice>
              <mc:Fallback>
                <p:oleObj name="EcuaciÛn" r:id="rId8" imgW="9652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9838" y="1807667"/>
                        <a:ext cx="2298700" cy="4857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95605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4000" dirty="0" smtClean="0"/>
              <a:t>Velocidad Constante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type="body" idx="1"/>
          </p:nvPr>
        </p:nvSpPr>
        <p:spPr>
          <a:xfrm>
            <a:off x="899040" y="5647441"/>
            <a:ext cx="3637080" cy="644970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buFont typeface="Arial" charset="0"/>
              <a:buNone/>
            </a:pPr>
            <a:r>
              <a:rPr lang="es-ES" sz="3000" dirty="0" smtClean="0"/>
              <a:t>Si </a:t>
            </a:r>
            <a:r>
              <a:rPr lang="es-ES" sz="3000" dirty="0" smtClean="0">
                <a:latin typeface="Times New Roman"/>
                <a:cs typeface="Times New Roman"/>
              </a:rPr>
              <a:t>x</a:t>
            </a:r>
            <a:r>
              <a:rPr lang="es-ES" sz="3000" baseline="-25000" dirty="0" smtClean="0">
                <a:latin typeface="Times New Roman"/>
                <a:cs typeface="Times New Roman"/>
              </a:rPr>
              <a:t>i</a:t>
            </a:r>
            <a:r>
              <a:rPr lang="es-ES" sz="3000" dirty="0" smtClean="0">
                <a:latin typeface="Times New Roman"/>
                <a:cs typeface="Times New Roman"/>
              </a:rPr>
              <a:t> = x</a:t>
            </a:r>
            <a:r>
              <a:rPr lang="es-ES" sz="3000" baseline="-25000" dirty="0" smtClean="0">
                <a:latin typeface="Times New Roman"/>
                <a:cs typeface="Times New Roman"/>
              </a:rPr>
              <a:t>0</a:t>
            </a:r>
            <a:r>
              <a:rPr lang="es-ES" sz="3000" dirty="0" smtClean="0">
                <a:latin typeface="Times New Roman"/>
                <a:cs typeface="Times New Roman"/>
              </a:rPr>
              <a:t> </a:t>
            </a:r>
            <a:r>
              <a:rPr lang="es-ES" sz="3000" dirty="0" smtClean="0"/>
              <a:t>cuando </a:t>
            </a:r>
            <a:r>
              <a:rPr lang="es-ES" sz="3000" dirty="0" smtClean="0">
                <a:latin typeface="Times New Roman"/>
                <a:cs typeface="Times New Roman"/>
              </a:rPr>
              <a:t>t</a:t>
            </a:r>
            <a:r>
              <a:rPr lang="es-ES" sz="3000" baseline="-25000" dirty="0" smtClean="0">
                <a:latin typeface="Times New Roman"/>
                <a:cs typeface="Times New Roman"/>
              </a:rPr>
              <a:t>i</a:t>
            </a:r>
            <a:r>
              <a:rPr lang="es-ES" sz="3000" dirty="0" smtClean="0">
                <a:latin typeface="Times New Roman"/>
                <a:cs typeface="Times New Roman"/>
              </a:rPr>
              <a:t> = 0</a:t>
            </a:r>
            <a:r>
              <a:rPr lang="es-ES" sz="3000" dirty="0" smtClean="0"/>
              <a:t>: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619480"/>
            <a:ext cx="8510530" cy="925417"/>
          </a:xfrm>
        </p:spPr>
        <p:txBody>
          <a:bodyPr>
            <a:normAutofit fontScale="92500"/>
          </a:bodyPr>
          <a:lstStyle/>
          <a:p>
            <a:pPr eaLnBrk="1" hangingPunct="1">
              <a:buNone/>
            </a:pPr>
            <a:r>
              <a:rPr lang="es-ES_tradnl" b="0" dirty="0" smtClean="0"/>
              <a:t> </a:t>
            </a:r>
            <a:r>
              <a:rPr lang="es-CO" sz="2800" b="0" dirty="0" smtClean="0"/>
              <a:t>Cuando un objeto tiene una velocidad constante, la velocidad instantánea es igual a la velocidad promedio:</a:t>
            </a:r>
            <a:endParaRPr lang="es-ES_tradnl" sz="2800" b="0" dirty="0" smtClean="0"/>
          </a:p>
        </p:txBody>
      </p:sp>
      <p:sp>
        <p:nvSpPr>
          <p:cNvPr id="1030" name="Content Placeholder 2"/>
          <p:cNvSpPr>
            <a:spLocks noGrp="1"/>
          </p:cNvSpPr>
          <p:nvPr>
            <p:ph sz="quarter" idx="4"/>
          </p:nvPr>
        </p:nvSpPr>
        <p:spPr>
          <a:xfrm>
            <a:off x="927102" y="4807639"/>
            <a:ext cx="8053330" cy="64497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Arial" charset="0"/>
              <a:buNone/>
            </a:pPr>
            <a:r>
              <a:rPr lang="es-ES" dirty="0"/>
              <a:t>L</a:t>
            </a:r>
            <a:r>
              <a:rPr lang="es-ES" dirty="0" smtClean="0"/>
              <a:t>a posición aumenta/disminuye linealmente en función del tiempo: movimiento lineal uniforme</a:t>
            </a:r>
          </a:p>
        </p:txBody>
      </p:sp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844550" y="2731275"/>
          <a:ext cx="2243138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6" name="Ecuación" r:id="rId4" imgW="698400" imgH="393480" progId="Equation.3">
                  <p:embed/>
                </p:oleObj>
              </mc:Choice>
              <mc:Fallback>
                <p:oleObj name="Ecuación" r:id="rId4" imgW="69840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50" y="2731275"/>
                        <a:ext cx="2243138" cy="1263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970276"/>
              </p:ext>
            </p:extLst>
          </p:nvPr>
        </p:nvGraphicFramePr>
        <p:xfrm>
          <a:off x="4578350" y="3006725"/>
          <a:ext cx="3805238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7" name="EcuaciÛn" r:id="rId6" imgW="1104900" imgH="482600" progId="Equation.3">
                  <p:embed/>
                </p:oleObj>
              </mc:Choice>
              <mc:Fallback>
                <p:oleObj name="EcuaciÛn" r:id="rId6" imgW="1104900" imgH="482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8350" y="3006725"/>
                        <a:ext cx="3805238" cy="166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10 Objeto"/>
          <p:cNvGraphicFramePr>
            <a:graphicFrameLocks noChangeAspect="1"/>
          </p:cNvGraphicFramePr>
          <p:nvPr/>
        </p:nvGraphicFramePr>
        <p:xfrm>
          <a:off x="3475822" y="3069678"/>
          <a:ext cx="732621" cy="586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8" name="Ecuación" r:id="rId8" imgW="190440" imgH="152280" progId="Equation.3">
                  <p:embed/>
                </p:oleObj>
              </mc:Choice>
              <mc:Fallback>
                <p:oleObj name="Ecuación" r:id="rId8" imgW="190440" imgH="1522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5822" y="3069678"/>
                        <a:ext cx="732621" cy="5860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340368"/>
              </p:ext>
            </p:extLst>
          </p:nvPr>
        </p:nvGraphicFramePr>
        <p:xfrm>
          <a:off x="4715648" y="5719886"/>
          <a:ext cx="2230437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9" name="Ecuación" r:id="rId10" imgW="647700" imgH="215900" progId="Equation.3">
                  <p:embed/>
                </p:oleObj>
              </mc:Choice>
              <mc:Fallback>
                <p:oleObj name="Ecuación" r:id="rId10" imgW="6477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5648" y="5719886"/>
                        <a:ext cx="2230437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808578"/>
            <a:ext cx="7620000" cy="5816600"/>
          </a:xfrm>
          <a:prstGeom prst="rect">
            <a:avLst/>
          </a:prstGeom>
        </p:spPr>
      </p:pic>
      <p:graphicFrame>
        <p:nvGraphicFramePr>
          <p:cNvPr id="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891526"/>
              </p:ext>
            </p:extLst>
          </p:nvPr>
        </p:nvGraphicFramePr>
        <p:xfrm>
          <a:off x="6041047" y="1751274"/>
          <a:ext cx="2230437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33" name="Ecuación" r:id="rId5" imgW="647700" imgH="215900" progId="Equation.3">
                  <p:embed/>
                </p:oleObj>
              </mc:Choice>
              <mc:Fallback>
                <p:oleObj name="Ecuación" r:id="rId5" imgW="6477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1047" y="1751274"/>
                        <a:ext cx="2230437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itle 1"/>
          <p:cNvSpPr>
            <a:spLocks noGrp="1"/>
          </p:cNvSpPr>
          <p:nvPr>
            <p:ph type="title"/>
          </p:nvPr>
        </p:nvSpPr>
        <p:spPr>
          <a:xfrm>
            <a:off x="1796253" y="13976"/>
            <a:ext cx="6977792" cy="896938"/>
          </a:xfrm>
        </p:spPr>
        <p:txBody>
          <a:bodyPr/>
          <a:lstStyle/>
          <a:p>
            <a:pPr eaLnBrk="1" hangingPunct="1"/>
            <a:r>
              <a:rPr lang="es-ES" sz="4000" dirty="0" smtClean="0"/>
              <a:t>Velocidad Constante</a:t>
            </a:r>
          </a:p>
        </p:txBody>
      </p:sp>
      <p:graphicFrame>
        <p:nvGraphicFramePr>
          <p:cNvPr id="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430630"/>
              </p:ext>
            </p:extLst>
          </p:nvPr>
        </p:nvGraphicFramePr>
        <p:xfrm>
          <a:off x="5944500" y="2965453"/>
          <a:ext cx="1071562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34" name="EcuaciÛn" r:id="rId7" imgW="457200" imgH="622300" progId="Equation.3">
                  <p:embed/>
                </p:oleObj>
              </mc:Choice>
              <mc:Fallback>
                <p:oleObj name="EcuaciÛn" r:id="rId7" imgW="457200" imgH="622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4500" y="2965453"/>
                        <a:ext cx="1071562" cy="14605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84755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808578"/>
            <a:ext cx="7620000" cy="5816600"/>
          </a:xfrm>
          <a:prstGeom prst="rect">
            <a:avLst/>
          </a:prstGeom>
        </p:spPr>
      </p:pic>
      <p:sp>
        <p:nvSpPr>
          <p:cNvPr id="1029" name="Title 1"/>
          <p:cNvSpPr>
            <a:spLocks noGrp="1"/>
          </p:cNvSpPr>
          <p:nvPr>
            <p:ph type="title"/>
          </p:nvPr>
        </p:nvSpPr>
        <p:spPr>
          <a:xfrm>
            <a:off x="1796253" y="13976"/>
            <a:ext cx="6977792" cy="896938"/>
          </a:xfrm>
        </p:spPr>
        <p:txBody>
          <a:bodyPr/>
          <a:lstStyle/>
          <a:p>
            <a:pPr eaLnBrk="1" hangingPunct="1"/>
            <a:r>
              <a:rPr lang="es-ES" sz="4000" dirty="0" smtClean="0"/>
              <a:t>Velocidad Constante</a:t>
            </a:r>
          </a:p>
        </p:txBody>
      </p:sp>
      <p:graphicFrame>
        <p:nvGraphicFramePr>
          <p:cNvPr id="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415157"/>
              </p:ext>
            </p:extLst>
          </p:nvPr>
        </p:nvGraphicFramePr>
        <p:xfrm>
          <a:off x="5946233" y="2954871"/>
          <a:ext cx="2355850" cy="155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89" name="EcuaciÛn" r:id="rId5" imgW="1003300" imgH="660400" progId="Equation.3">
                  <p:embed/>
                </p:oleObj>
              </mc:Choice>
              <mc:Fallback>
                <p:oleObj name="EcuaciÛn" r:id="rId5" imgW="10033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6233" y="2954871"/>
                        <a:ext cx="2355850" cy="155098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489620"/>
              </p:ext>
            </p:extLst>
          </p:nvPr>
        </p:nvGraphicFramePr>
        <p:xfrm>
          <a:off x="6041047" y="1751274"/>
          <a:ext cx="2230437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90" name="Ecuación" r:id="rId7" imgW="647700" imgH="215900" progId="Equation.3">
                  <p:embed/>
                </p:oleObj>
              </mc:Choice>
              <mc:Fallback>
                <p:oleObj name="Ecuación" r:id="rId7" imgW="6477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1047" y="1751274"/>
                        <a:ext cx="2230437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36226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808578"/>
            <a:ext cx="7620000" cy="5816600"/>
          </a:xfrm>
          <a:prstGeom prst="rect">
            <a:avLst/>
          </a:prstGeom>
        </p:spPr>
      </p:pic>
      <p:sp>
        <p:nvSpPr>
          <p:cNvPr id="1029" name="Title 1"/>
          <p:cNvSpPr>
            <a:spLocks noGrp="1"/>
          </p:cNvSpPr>
          <p:nvPr>
            <p:ph type="title"/>
          </p:nvPr>
        </p:nvSpPr>
        <p:spPr>
          <a:xfrm>
            <a:off x="1796253" y="13976"/>
            <a:ext cx="6977792" cy="896938"/>
          </a:xfrm>
        </p:spPr>
        <p:txBody>
          <a:bodyPr/>
          <a:lstStyle/>
          <a:p>
            <a:pPr eaLnBrk="1" hangingPunct="1"/>
            <a:r>
              <a:rPr lang="es-ES" sz="4000" dirty="0" smtClean="0"/>
              <a:t>Velocidad Constante</a:t>
            </a:r>
          </a:p>
        </p:txBody>
      </p:sp>
      <p:graphicFrame>
        <p:nvGraphicFramePr>
          <p:cNvPr id="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8512990"/>
              </p:ext>
            </p:extLst>
          </p:nvPr>
        </p:nvGraphicFramePr>
        <p:xfrm>
          <a:off x="5946760" y="2956996"/>
          <a:ext cx="2265363" cy="196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65" name="EcuaciÛn" r:id="rId5" imgW="965200" imgH="838200" progId="Equation.3">
                  <p:embed/>
                </p:oleObj>
              </mc:Choice>
              <mc:Fallback>
                <p:oleObj name="EcuaciÛn" r:id="rId5" imgW="9652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6760" y="2956996"/>
                        <a:ext cx="2265363" cy="19685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489620"/>
              </p:ext>
            </p:extLst>
          </p:nvPr>
        </p:nvGraphicFramePr>
        <p:xfrm>
          <a:off x="6041047" y="1751274"/>
          <a:ext cx="2230437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66" name="Ecuación" r:id="rId7" imgW="647700" imgH="215900" progId="Equation.3">
                  <p:embed/>
                </p:oleObj>
              </mc:Choice>
              <mc:Fallback>
                <p:oleObj name="Ecuación" r:id="rId7" imgW="6477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1047" y="1751274"/>
                        <a:ext cx="2230437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97352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808578"/>
            <a:ext cx="7620000" cy="5816600"/>
          </a:xfrm>
          <a:prstGeom prst="rect">
            <a:avLst/>
          </a:prstGeom>
        </p:spPr>
      </p:pic>
      <p:graphicFrame>
        <p:nvGraphicFramePr>
          <p:cNvPr id="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668476"/>
              </p:ext>
            </p:extLst>
          </p:nvPr>
        </p:nvGraphicFramePr>
        <p:xfrm>
          <a:off x="5944130" y="2973912"/>
          <a:ext cx="2236787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54" name="EcuaciÛn" r:id="rId5" imgW="952500" imgH="622300" progId="Equation.3">
                  <p:embed/>
                </p:oleObj>
              </mc:Choice>
              <mc:Fallback>
                <p:oleObj name="EcuaciÛn" r:id="rId5" imgW="952500" imgH="622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4130" y="2973912"/>
                        <a:ext cx="2236787" cy="14605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itle 1"/>
          <p:cNvSpPr>
            <a:spLocks noGrp="1"/>
          </p:cNvSpPr>
          <p:nvPr>
            <p:ph type="title"/>
          </p:nvPr>
        </p:nvSpPr>
        <p:spPr>
          <a:xfrm>
            <a:off x="1796253" y="13976"/>
            <a:ext cx="6977792" cy="896938"/>
          </a:xfrm>
        </p:spPr>
        <p:txBody>
          <a:bodyPr/>
          <a:lstStyle/>
          <a:p>
            <a:pPr eaLnBrk="1" hangingPunct="1"/>
            <a:r>
              <a:rPr lang="es-ES" sz="4000" dirty="0" smtClean="0"/>
              <a:t>Velocidad Constante</a:t>
            </a: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489620"/>
              </p:ext>
            </p:extLst>
          </p:nvPr>
        </p:nvGraphicFramePr>
        <p:xfrm>
          <a:off x="6041047" y="1751274"/>
          <a:ext cx="2230437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55" name="Ecuación" r:id="rId7" imgW="647700" imgH="215900" progId="Equation.3">
                  <p:embed/>
                </p:oleObj>
              </mc:Choice>
              <mc:Fallback>
                <p:oleObj name="Ecuación" r:id="rId7" imgW="6477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1047" y="1751274"/>
                        <a:ext cx="2230437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79480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6141" y="1773028"/>
            <a:ext cx="7691719" cy="2053914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An elevator starts it way up from rest at ground floor. When it reaches the height of 2 m above the ground it starts to move at constant speed of 1.5 m/s. How high above the ground will it be 10 s later?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1119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5444" y="264405"/>
            <a:ext cx="8964488" cy="1143000"/>
          </a:xfrm>
        </p:spPr>
        <p:txBody>
          <a:bodyPr>
            <a:noAutofit/>
          </a:bodyPr>
          <a:lstStyle/>
          <a:p>
            <a:r>
              <a:rPr lang="es-MX" sz="2000" dirty="0" smtClean="0"/>
              <a:t>El diagrama representa una fotografía tomada con una lámpara de flash a un objeto moviéndose a lo largo de una superficie horizontal. Las posiciones mostradas en el diagrama están separadas por intervalos de tiempo iguales. El primer flash ocurre cuando el objeto empieza a moverse y el último justo cuando el objeto se detiene.</a:t>
            </a:r>
            <a:endParaRPr lang="en-US" sz="2400" dirty="0"/>
          </a:p>
        </p:txBody>
      </p:sp>
      <p:sp>
        <p:nvSpPr>
          <p:cNvPr id="4" name="2 Marcador de contenido"/>
          <p:cNvSpPr txBox="1">
            <a:spLocks/>
          </p:cNvSpPr>
          <p:nvPr/>
        </p:nvSpPr>
        <p:spPr>
          <a:xfrm>
            <a:off x="395536" y="2060849"/>
            <a:ext cx="1080120" cy="2448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MX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endParaRPr kumimoji="0" lang="es-CO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MX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endParaRPr kumimoji="0" lang="es-CO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MX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endParaRPr kumimoji="0" lang="es-CO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MX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MX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endParaRPr kumimoji="0" lang="es-CO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2195736" y="2204864"/>
            <a:ext cx="6336704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8 Conector recto"/>
          <p:cNvCxnSpPr/>
          <p:nvPr/>
        </p:nvCxnSpPr>
        <p:spPr>
          <a:xfrm rot="5400000">
            <a:off x="3095836" y="2312876"/>
            <a:ext cx="216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rot="5400000">
            <a:off x="4031940" y="2312876"/>
            <a:ext cx="216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 rot="5400000">
            <a:off x="4968044" y="2312876"/>
            <a:ext cx="216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rot="5400000">
            <a:off x="5904148" y="2312876"/>
            <a:ext cx="216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 rot="5400000">
            <a:off x="6840252" y="2312876"/>
            <a:ext cx="216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rot="5400000">
            <a:off x="7704348" y="2312876"/>
            <a:ext cx="216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rot="5400000">
            <a:off x="2627784" y="227687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rot="5400000">
            <a:off x="3635896" y="227687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rot="5400000">
            <a:off x="4572000" y="227687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 rot="5400000">
            <a:off x="5508104" y="227687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 rot="5400000">
            <a:off x="6444208" y="227687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 rot="5400000">
            <a:off x="7308304" y="227687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/>
          <p:nvPr/>
        </p:nvCxnSpPr>
        <p:spPr>
          <a:xfrm rot="5400000">
            <a:off x="8172400" y="227687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 de flecha"/>
          <p:cNvCxnSpPr/>
          <p:nvPr/>
        </p:nvCxnSpPr>
        <p:spPr>
          <a:xfrm>
            <a:off x="4355976" y="1772816"/>
            <a:ext cx="1512168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27 Elipse"/>
          <p:cNvSpPr/>
          <p:nvPr/>
        </p:nvSpPr>
        <p:spPr>
          <a:xfrm>
            <a:off x="2123728" y="1916832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28 Elipse"/>
          <p:cNvSpPr/>
          <p:nvPr/>
        </p:nvSpPr>
        <p:spPr>
          <a:xfrm>
            <a:off x="2195736" y="1916832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29 Elipse"/>
          <p:cNvSpPr/>
          <p:nvPr/>
        </p:nvSpPr>
        <p:spPr>
          <a:xfrm>
            <a:off x="2411760" y="1916832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30 Elipse"/>
          <p:cNvSpPr/>
          <p:nvPr/>
        </p:nvSpPr>
        <p:spPr>
          <a:xfrm>
            <a:off x="2771800" y="1916832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31 Elipse"/>
          <p:cNvSpPr/>
          <p:nvPr/>
        </p:nvSpPr>
        <p:spPr>
          <a:xfrm>
            <a:off x="3707904" y="1916832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32 Elipse"/>
          <p:cNvSpPr/>
          <p:nvPr/>
        </p:nvSpPr>
        <p:spPr>
          <a:xfrm>
            <a:off x="4644008" y="1916832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33 Elipse"/>
          <p:cNvSpPr/>
          <p:nvPr/>
        </p:nvSpPr>
        <p:spPr>
          <a:xfrm>
            <a:off x="5580112" y="1916832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34 Elipse"/>
          <p:cNvSpPr/>
          <p:nvPr/>
        </p:nvSpPr>
        <p:spPr>
          <a:xfrm>
            <a:off x="6444208" y="1916832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35 Elipse"/>
          <p:cNvSpPr/>
          <p:nvPr/>
        </p:nvSpPr>
        <p:spPr>
          <a:xfrm>
            <a:off x="7380312" y="1916832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36 Elipse"/>
          <p:cNvSpPr/>
          <p:nvPr/>
        </p:nvSpPr>
        <p:spPr>
          <a:xfrm>
            <a:off x="7740352" y="1916832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37 Elipse"/>
          <p:cNvSpPr/>
          <p:nvPr/>
        </p:nvSpPr>
        <p:spPr>
          <a:xfrm>
            <a:off x="8028384" y="1916832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38 Elipse"/>
          <p:cNvSpPr/>
          <p:nvPr/>
        </p:nvSpPr>
        <p:spPr>
          <a:xfrm>
            <a:off x="8172400" y="1916832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39 Elipse"/>
          <p:cNvSpPr/>
          <p:nvPr/>
        </p:nvSpPr>
        <p:spPr>
          <a:xfrm>
            <a:off x="8244408" y="1916832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42 Conector recto de flecha"/>
          <p:cNvCxnSpPr/>
          <p:nvPr/>
        </p:nvCxnSpPr>
        <p:spPr>
          <a:xfrm rot="5400000" flipH="1" flipV="1">
            <a:off x="1260426" y="4220294"/>
            <a:ext cx="1152128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 de flecha"/>
          <p:cNvCxnSpPr/>
          <p:nvPr/>
        </p:nvCxnSpPr>
        <p:spPr>
          <a:xfrm flipV="1">
            <a:off x="1836490" y="4220294"/>
            <a:ext cx="1144538" cy="917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"/>
          <p:cNvCxnSpPr/>
          <p:nvPr/>
        </p:nvCxnSpPr>
        <p:spPr>
          <a:xfrm rot="5400000">
            <a:off x="1836490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 rot="5400000">
            <a:off x="1908498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/>
          <p:nvPr/>
        </p:nvCxnSpPr>
        <p:spPr>
          <a:xfrm rot="5400000">
            <a:off x="1980506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 rot="5400000">
            <a:off x="2052514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"/>
          <p:cNvCxnSpPr/>
          <p:nvPr/>
        </p:nvCxnSpPr>
        <p:spPr>
          <a:xfrm rot="5400000">
            <a:off x="2124522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 rot="5400000">
            <a:off x="2196530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 rot="5400000">
            <a:off x="2268538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 rot="5400000">
            <a:off x="2340546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 rot="5400000">
            <a:off x="2412554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"/>
          <p:cNvCxnSpPr/>
          <p:nvPr/>
        </p:nvCxnSpPr>
        <p:spPr>
          <a:xfrm rot="5400000">
            <a:off x="2484562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55 Conector recto"/>
          <p:cNvCxnSpPr/>
          <p:nvPr/>
        </p:nvCxnSpPr>
        <p:spPr>
          <a:xfrm rot="5400000">
            <a:off x="2556570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"/>
          <p:cNvCxnSpPr/>
          <p:nvPr/>
        </p:nvCxnSpPr>
        <p:spPr>
          <a:xfrm rot="5400000">
            <a:off x="2628578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"/>
          <p:cNvCxnSpPr/>
          <p:nvPr/>
        </p:nvCxnSpPr>
        <p:spPr>
          <a:xfrm rot="10800000">
            <a:off x="2052514" y="3788246"/>
            <a:ext cx="43204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68 Conector recto"/>
          <p:cNvCxnSpPr/>
          <p:nvPr/>
        </p:nvCxnSpPr>
        <p:spPr>
          <a:xfrm rot="5400000" flipH="1" flipV="1">
            <a:off x="1836490" y="4004270"/>
            <a:ext cx="432048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Conector recto"/>
          <p:cNvCxnSpPr/>
          <p:nvPr/>
        </p:nvCxnSpPr>
        <p:spPr>
          <a:xfrm rot="5400000" flipH="1" flipV="1">
            <a:off x="2268538" y="4004270"/>
            <a:ext cx="432048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73 Conector recto de flecha"/>
          <p:cNvCxnSpPr/>
          <p:nvPr/>
        </p:nvCxnSpPr>
        <p:spPr>
          <a:xfrm rot="5400000" flipH="1" flipV="1">
            <a:off x="2701380" y="4220294"/>
            <a:ext cx="1152128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74 Conector recto de flecha"/>
          <p:cNvCxnSpPr/>
          <p:nvPr/>
        </p:nvCxnSpPr>
        <p:spPr>
          <a:xfrm flipV="1">
            <a:off x="3277444" y="4220294"/>
            <a:ext cx="1144538" cy="917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75 Conector recto"/>
          <p:cNvCxnSpPr/>
          <p:nvPr/>
        </p:nvCxnSpPr>
        <p:spPr>
          <a:xfrm rot="5400000">
            <a:off x="3277444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76 Conector recto"/>
          <p:cNvCxnSpPr/>
          <p:nvPr/>
        </p:nvCxnSpPr>
        <p:spPr>
          <a:xfrm rot="5400000">
            <a:off x="3349452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77 Conector recto"/>
          <p:cNvCxnSpPr/>
          <p:nvPr/>
        </p:nvCxnSpPr>
        <p:spPr>
          <a:xfrm rot="5400000">
            <a:off x="3421460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78 Conector recto"/>
          <p:cNvCxnSpPr/>
          <p:nvPr/>
        </p:nvCxnSpPr>
        <p:spPr>
          <a:xfrm rot="5400000">
            <a:off x="3493468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79 Conector recto"/>
          <p:cNvCxnSpPr/>
          <p:nvPr/>
        </p:nvCxnSpPr>
        <p:spPr>
          <a:xfrm rot="5400000">
            <a:off x="3565476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80 Conector recto"/>
          <p:cNvCxnSpPr/>
          <p:nvPr/>
        </p:nvCxnSpPr>
        <p:spPr>
          <a:xfrm rot="5400000">
            <a:off x="3637484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81 Conector recto"/>
          <p:cNvCxnSpPr/>
          <p:nvPr/>
        </p:nvCxnSpPr>
        <p:spPr>
          <a:xfrm rot="5400000">
            <a:off x="3709492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82 Conector recto"/>
          <p:cNvCxnSpPr/>
          <p:nvPr/>
        </p:nvCxnSpPr>
        <p:spPr>
          <a:xfrm rot="5400000">
            <a:off x="3781500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83 Conector recto"/>
          <p:cNvCxnSpPr/>
          <p:nvPr/>
        </p:nvCxnSpPr>
        <p:spPr>
          <a:xfrm rot="5400000">
            <a:off x="3853508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84 Conector recto"/>
          <p:cNvCxnSpPr/>
          <p:nvPr/>
        </p:nvCxnSpPr>
        <p:spPr>
          <a:xfrm rot="5400000">
            <a:off x="3925516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85 Conector recto"/>
          <p:cNvCxnSpPr/>
          <p:nvPr/>
        </p:nvCxnSpPr>
        <p:spPr>
          <a:xfrm rot="5400000">
            <a:off x="3997524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86 Conector recto"/>
          <p:cNvCxnSpPr/>
          <p:nvPr/>
        </p:nvCxnSpPr>
        <p:spPr>
          <a:xfrm rot="5400000">
            <a:off x="4069532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87 Conector recto"/>
          <p:cNvCxnSpPr/>
          <p:nvPr/>
        </p:nvCxnSpPr>
        <p:spPr>
          <a:xfrm rot="5400000" flipH="1" flipV="1">
            <a:off x="3169432" y="3896258"/>
            <a:ext cx="432048" cy="2160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88 Conector recto"/>
          <p:cNvCxnSpPr/>
          <p:nvPr/>
        </p:nvCxnSpPr>
        <p:spPr>
          <a:xfrm rot="16200000" flipV="1">
            <a:off x="3817504" y="3896258"/>
            <a:ext cx="432048" cy="2160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90 Conector recto"/>
          <p:cNvCxnSpPr/>
          <p:nvPr/>
        </p:nvCxnSpPr>
        <p:spPr>
          <a:xfrm rot="5400000" flipH="1" flipV="1">
            <a:off x="3709492" y="4004270"/>
            <a:ext cx="432048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95 Conector recto"/>
          <p:cNvCxnSpPr/>
          <p:nvPr/>
        </p:nvCxnSpPr>
        <p:spPr>
          <a:xfrm rot="5400000" flipH="1" flipV="1">
            <a:off x="3277444" y="4004270"/>
            <a:ext cx="432048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97 Conector recto de flecha"/>
          <p:cNvCxnSpPr/>
          <p:nvPr/>
        </p:nvCxnSpPr>
        <p:spPr>
          <a:xfrm rot="5400000" flipH="1" flipV="1">
            <a:off x="4213548" y="4220294"/>
            <a:ext cx="1152128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98 Conector recto de flecha"/>
          <p:cNvCxnSpPr/>
          <p:nvPr/>
        </p:nvCxnSpPr>
        <p:spPr>
          <a:xfrm flipV="1">
            <a:off x="4789612" y="4220294"/>
            <a:ext cx="1144538" cy="917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99 Conector recto"/>
          <p:cNvCxnSpPr/>
          <p:nvPr/>
        </p:nvCxnSpPr>
        <p:spPr>
          <a:xfrm rot="5400000">
            <a:off x="4789612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100 Conector recto"/>
          <p:cNvCxnSpPr/>
          <p:nvPr/>
        </p:nvCxnSpPr>
        <p:spPr>
          <a:xfrm rot="5400000">
            <a:off x="4861620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101 Conector recto"/>
          <p:cNvCxnSpPr/>
          <p:nvPr/>
        </p:nvCxnSpPr>
        <p:spPr>
          <a:xfrm rot="5400000">
            <a:off x="4933628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102 Conector recto"/>
          <p:cNvCxnSpPr/>
          <p:nvPr/>
        </p:nvCxnSpPr>
        <p:spPr>
          <a:xfrm rot="5400000">
            <a:off x="5005636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103 Conector recto"/>
          <p:cNvCxnSpPr/>
          <p:nvPr/>
        </p:nvCxnSpPr>
        <p:spPr>
          <a:xfrm rot="5400000">
            <a:off x="5077644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104 Conector recto"/>
          <p:cNvCxnSpPr/>
          <p:nvPr/>
        </p:nvCxnSpPr>
        <p:spPr>
          <a:xfrm rot="5400000">
            <a:off x="5149652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105 Conector recto"/>
          <p:cNvCxnSpPr/>
          <p:nvPr/>
        </p:nvCxnSpPr>
        <p:spPr>
          <a:xfrm rot="5400000">
            <a:off x="5221660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106 Conector recto"/>
          <p:cNvCxnSpPr/>
          <p:nvPr/>
        </p:nvCxnSpPr>
        <p:spPr>
          <a:xfrm rot="5400000">
            <a:off x="5293668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107 Conector recto"/>
          <p:cNvCxnSpPr/>
          <p:nvPr/>
        </p:nvCxnSpPr>
        <p:spPr>
          <a:xfrm rot="5400000">
            <a:off x="5365676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108 Conector recto"/>
          <p:cNvCxnSpPr/>
          <p:nvPr/>
        </p:nvCxnSpPr>
        <p:spPr>
          <a:xfrm rot="5400000">
            <a:off x="5437684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109 Conector recto"/>
          <p:cNvCxnSpPr/>
          <p:nvPr/>
        </p:nvCxnSpPr>
        <p:spPr>
          <a:xfrm rot="5400000">
            <a:off x="5509692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110 Conector recto"/>
          <p:cNvCxnSpPr/>
          <p:nvPr/>
        </p:nvCxnSpPr>
        <p:spPr>
          <a:xfrm rot="5400000">
            <a:off x="5581700" y="4292302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111 Conector recto"/>
          <p:cNvCxnSpPr/>
          <p:nvPr/>
        </p:nvCxnSpPr>
        <p:spPr>
          <a:xfrm rot="5400000" flipH="1" flipV="1">
            <a:off x="4681600" y="3896258"/>
            <a:ext cx="432048" cy="2160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112 Conector recto"/>
          <p:cNvCxnSpPr/>
          <p:nvPr/>
        </p:nvCxnSpPr>
        <p:spPr>
          <a:xfrm rot="16200000" flipV="1">
            <a:off x="5329672" y="3896258"/>
            <a:ext cx="432048" cy="2160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114 Conector recto"/>
          <p:cNvCxnSpPr/>
          <p:nvPr/>
        </p:nvCxnSpPr>
        <p:spPr>
          <a:xfrm rot="10800000">
            <a:off x="5005636" y="3788246"/>
            <a:ext cx="432048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116 Conector recto de flecha"/>
          <p:cNvCxnSpPr/>
          <p:nvPr/>
        </p:nvCxnSpPr>
        <p:spPr>
          <a:xfrm rot="5400000" flipH="1" flipV="1">
            <a:off x="5652914" y="4148286"/>
            <a:ext cx="1152128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117 Conector recto de flecha"/>
          <p:cNvCxnSpPr/>
          <p:nvPr/>
        </p:nvCxnSpPr>
        <p:spPr>
          <a:xfrm flipV="1">
            <a:off x="6228978" y="4148286"/>
            <a:ext cx="1144538" cy="917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118 Conector recto"/>
          <p:cNvCxnSpPr/>
          <p:nvPr/>
        </p:nvCxnSpPr>
        <p:spPr>
          <a:xfrm rot="5400000">
            <a:off x="6228978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119 Conector recto"/>
          <p:cNvCxnSpPr/>
          <p:nvPr/>
        </p:nvCxnSpPr>
        <p:spPr>
          <a:xfrm rot="5400000">
            <a:off x="6300986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120 Conector recto"/>
          <p:cNvCxnSpPr/>
          <p:nvPr/>
        </p:nvCxnSpPr>
        <p:spPr>
          <a:xfrm rot="5400000">
            <a:off x="6372994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121 Conector recto"/>
          <p:cNvCxnSpPr/>
          <p:nvPr/>
        </p:nvCxnSpPr>
        <p:spPr>
          <a:xfrm rot="5400000">
            <a:off x="6445002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122 Conector recto"/>
          <p:cNvCxnSpPr/>
          <p:nvPr/>
        </p:nvCxnSpPr>
        <p:spPr>
          <a:xfrm rot="5400000">
            <a:off x="6517010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123 Conector recto"/>
          <p:cNvCxnSpPr/>
          <p:nvPr/>
        </p:nvCxnSpPr>
        <p:spPr>
          <a:xfrm rot="5400000">
            <a:off x="6589018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124 Conector recto"/>
          <p:cNvCxnSpPr/>
          <p:nvPr/>
        </p:nvCxnSpPr>
        <p:spPr>
          <a:xfrm rot="5400000">
            <a:off x="6661026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125 Conector recto"/>
          <p:cNvCxnSpPr/>
          <p:nvPr/>
        </p:nvCxnSpPr>
        <p:spPr>
          <a:xfrm rot="5400000">
            <a:off x="6733034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126 Conector recto"/>
          <p:cNvCxnSpPr/>
          <p:nvPr/>
        </p:nvCxnSpPr>
        <p:spPr>
          <a:xfrm rot="5400000">
            <a:off x="6805042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127 Conector recto"/>
          <p:cNvCxnSpPr/>
          <p:nvPr/>
        </p:nvCxnSpPr>
        <p:spPr>
          <a:xfrm rot="5400000">
            <a:off x="6877050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128 Conector recto"/>
          <p:cNvCxnSpPr/>
          <p:nvPr/>
        </p:nvCxnSpPr>
        <p:spPr>
          <a:xfrm rot="5400000">
            <a:off x="6949058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129 Conector recto"/>
          <p:cNvCxnSpPr/>
          <p:nvPr/>
        </p:nvCxnSpPr>
        <p:spPr>
          <a:xfrm rot="5400000">
            <a:off x="7021066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130 Conector recto"/>
          <p:cNvCxnSpPr/>
          <p:nvPr/>
        </p:nvCxnSpPr>
        <p:spPr>
          <a:xfrm rot="5400000" flipH="1" flipV="1">
            <a:off x="6120966" y="3824250"/>
            <a:ext cx="432048" cy="2160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131 Conector recto"/>
          <p:cNvCxnSpPr/>
          <p:nvPr/>
        </p:nvCxnSpPr>
        <p:spPr>
          <a:xfrm rot="5400000">
            <a:off x="6697030" y="4328306"/>
            <a:ext cx="576064" cy="2160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132 Conector recto"/>
          <p:cNvCxnSpPr/>
          <p:nvPr/>
        </p:nvCxnSpPr>
        <p:spPr>
          <a:xfrm rot="5400000">
            <a:off x="6625022" y="4400314"/>
            <a:ext cx="504056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133 Conector recto"/>
          <p:cNvCxnSpPr/>
          <p:nvPr/>
        </p:nvCxnSpPr>
        <p:spPr>
          <a:xfrm rot="5400000" flipH="1" flipV="1">
            <a:off x="6228978" y="3932262"/>
            <a:ext cx="432048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136 Conector recto de flecha"/>
          <p:cNvCxnSpPr/>
          <p:nvPr/>
        </p:nvCxnSpPr>
        <p:spPr>
          <a:xfrm rot="5400000" flipH="1" flipV="1">
            <a:off x="7093074" y="4148286"/>
            <a:ext cx="1152128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137 Conector recto de flecha"/>
          <p:cNvCxnSpPr/>
          <p:nvPr/>
        </p:nvCxnSpPr>
        <p:spPr>
          <a:xfrm flipV="1">
            <a:off x="7669138" y="4148286"/>
            <a:ext cx="1144538" cy="917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138 Conector recto"/>
          <p:cNvCxnSpPr/>
          <p:nvPr/>
        </p:nvCxnSpPr>
        <p:spPr>
          <a:xfrm rot="5400000">
            <a:off x="7669138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139 Conector recto"/>
          <p:cNvCxnSpPr/>
          <p:nvPr/>
        </p:nvCxnSpPr>
        <p:spPr>
          <a:xfrm rot="5400000">
            <a:off x="7741146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140 Conector recto"/>
          <p:cNvCxnSpPr/>
          <p:nvPr/>
        </p:nvCxnSpPr>
        <p:spPr>
          <a:xfrm rot="5400000">
            <a:off x="7813154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141 Conector recto"/>
          <p:cNvCxnSpPr/>
          <p:nvPr/>
        </p:nvCxnSpPr>
        <p:spPr>
          <a:xfrm rot="5400000">
            <a:off x="7885162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142 Conector recto"/>
          <p:cNvCxnSpPr/>
          <p:nvPr/>
        </p:nvCxnSpPr>
        <p:spPr>
          <a:xfrm rot="5400000">
            <a:off x="7957170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143 Conector recto"/>
          <p:cNvCxnSpPr/>
          <p:nvPr/>
        </p:nvCxnSpPr>
        <p:spPr>
          <a:xfrm rot="5400000">
            <a:off x="8029178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144 Conector recto"/>
          <p:cNvCxnSpPr/>
          <p:nvPr/>
        </p:nvCxnSpPr>
        <p:spPr>
          <a:xfrm rot="5400000">
            <a:off x="8101186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145 Conector recto"/>
          <p:cNvCxnSpPr/>
          <p:nvPr/>
        </p:nvCxnSpPr>
        <p:spPr>
          <a:xfrm rot="5400000">
            <a:off x="8173194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146 Conector recto"/>
          <p:cNvCxnSpPr/>
          <p:nvPr/>
        </p:nvCxnSpPr>
        <p:spPr>
          <a:xfrm rot="5400000">
            <a:off x="8245202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147 Conector recto"/>
          <p:cNvCxnSpPr/>
          <p:nvPr/>
        </p:nvCxnSpPr>
        <p:spPr>
          <a:xfrm rot="5400000">
            <a:off x="8317210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148 Conector recto"/>
          <p:cNvCxnSpPr/>
          <p:nvPr/>
        </p:nvCxnSpPr>
        <p:spPr>
          <a:xfrm rot="5400000">
            <a:off x="8389218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149 Conector recto"/>
          <p:cNvCxnSpPr/>
          <p:nvPr/>
        </p:nvCxnSpPr>
        <p:spPr>
          <a:xfrm rot="5400000">
            <a:off x="8461226" y="4220294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150 Conector recto"/>
          <p:cNvCxnSpPr/>
          <p:nvPr/>
        </p:nvCxnSpPr>
        <p:spPr>
          <a:xfrm rot="5400000" flipH="1" flipV="1">
            <a:off x="7561126" y="3824250"/>
            <a:ext cx="432048" cy="2160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151 Conector recto"/>
          <p:cNvCxnSpPr/>
          <p:nvPr/>
        </p:nvCxnSpPr>
        <p:spPr>
          <a:xfrm rot="5400000">
            <a:off x="8173194" y="4292302"/>
            <a:ext cx="504056" cy="2160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152 Conector recto"/>
          <p:cNvCxnSpPr/>
          <p:nvPr/>
        </p:nvCxnSpPr>
        <p:spPr>
          <a:xfrm rot="5400000" flipH="1" flipV="1">
            <a:off x="7885162" y="4148286"/>
            <a:ext cx="864096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153 Conector recto"/>
          <p:cNvCxnSpPr/>
          <p:nvPr/>
        </p:nvCxnSpPr>
        <p:spPr>
          <a:xfrm rot="5400000" flipH="1" flipV="1">
            <a:off x="7669138" y="3932262"/>
            <a:ext cx="432048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154 Conector recto"/>
          <p:cNvCxnSpPr/>
          <p:nvPr/>
        </p:nvCxnSpPr>
        <p:spPr>
          <a:xfrm rot="10800000">
            <a:off x="7885162" y="3716238"/>
            <a:ext cx="432048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157 CuadroTexto"/>
          <p:cNvSpPr txBox="1"/>
          <p:nvPr/>
        </p:nvSpPr>
        <p:spPr>
          <a:xfrm>
            <a:off x="2052514" y="4724350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A</a:t>
            </a:r>
            <a:endParaRPr lang="en-US" sz="2800" dirty="0"/>
          </a:p>
        </p:txBody>
      </p:sp>
      <p:sp>
        <p:nvSpPr>
          <p:cNvPr id="159" name="158 CuadroTexto"/>
          <p:cNvSpPr txBox="1"/>
          <p:nvPr/>
        </p:nvSpPr>
        <p:spPr>
          <a:xfrm>
            <a:off x="3492674" y="479635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B</a:t>
            </a:r>
            <a:endParaRPr lang="en-US" sz="2800" dirty="0"/>
          </a:p>
        </p:txBody>
      </p:sp>
      <p:sp>
        <p:nvSpPr>
          <p:cNvPr id="160" name="159 CuadroTexto"/>
          <p:cNvSpPr txBox="1"/>
          <p:nvPr/>
        </p:nvSpPr>
        <p:spPr>
          <a:xfrm>
            <a:off x="4932834" y="479635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C</a:t>
            </a:r>
            <a:endParaRPr lang="en-US" sz="2800" dirty="0"/>
          </a:p>
        </p:txBody>
      </p:sp>
      <p:sp>
        <p:nvSpPr>
          <p:cNvPr id="161" name="160 CuadroTexto"/>
          <p:cNvSpPr txBox="1"/>
          <p:nvPr/>
        </p:nvSpPr>
        <p:spPr>
          <a:xfrm>
            <a:off x="6300986" y="479635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D</a:t>
            </a:r>
            <a:endParaRPr lang="en-US" sz="2800" dirty="0"/>
          </a:p>
        </p:txBody>
      </p:sp>
      <p:sp>
        <p:nvSpPr>
          <p:cNvPr id="162" name="161 CuadroTexto"/>
          <p:cNvSpPr txBox="1"/>
          <p:nvPr/>
        </p:nvSpPr>
        <p:spPr>
          <a:xfrm>
            <a:off x="7813154" y="479635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E</a:t>
            </a:r>
            <a:endParaRPr lang="en-US" sz="2800" dirty="0"/>
          </a:p>
        </p:txBody>
      </p:sp>
      <p:sp>
        <p:nvSpPr>
          <p:cNvPr id="163" name="162 CuadroTexto"/>
          <p:cNvSpPr txBox="1"/>
          <p:nvPr/>
        </p:nvSpPr>
        <p:spPr>
          <a:xfrm>
            <a:off x="1763688" y="3284984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v</a:t>
            </a:r>
            <a:endParaRPr lang="en-US" sz="2400" dirty="0"/>
          </a:p>
        </p:txBody>
      </p:sp>
      <p:sp>
        <p:nvSpPr>
          <p:cNvPr id="167" name="166 CuadroTexto"/>
          <p:cNvSpPr txBox="1"/>
          <p:nvPr/>
        </p:nvSpPr>
        <p:spPr>
          <a:xfrm>
            <a:off x="1558681" y="2600340"/>
            <a:ext cx="7411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Cuál de las gráficas </a:t>
            </a:r>
            <a:r>
              <a:rPr lang="es-MX" b="1" dirty="0" smtClean="0"/>
              <a:t>representa </a:t>
            </a:r>
            <a:r>
              <a:rPr lang="es-MX" b="1" dirty="0"/>
              <a:t>la velocidad del objeto en función del tiempo</a:t>
            </a:r>
            <a:endParaRPr lang="es-CO" b="1" dirty="0"/>
          </a:p>
          <a:p>
            <a:endParaRPr lang="en-US" b="1" dirty="0"/>
          </a:p>
        </p:txBody>
      </p:sp>
      <p:sp>
        <p:nvSpPr>
          <p:cNvPr id="168" name="167 CuadroTexto"/>
          <p:cNvSpPr txBox="1"/>
          <p:nvPr/>
        </p:nvSpPr>
        <p:spPr>
          <a:xfrm>
            <a:off x="3131840" y="3284984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v</a:t>
            </a:r>
            <a:endParaRPr lang="en-US" sz="2400" dirty="0"/>
          </a:p>
        </p:txBody>
      </p:sp>
      <p:sp>
        <p:nvSpPr>
          <p:cNvPr id="169" name="168 CuadroTexto"/>
          <p:cNvSpPr txBox="1"/>
          <p:nvPr/>
        </p:nvSpPr>
        <p:spPr>
          <a:xfrm>
            <a:off x="4644008" y="3284984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v</a:t>
            </a:r>
            <a:endParaRPr lang="en-US" sz="2400" dirty="0"/>
          </a:p>
        </p:txBody>
      </p:sp>
      <p:sp>
        <p:nvSpPr>
          <p:cNvPr id="170" name="169 CuadroTexto"/>
          <p:cNvSpPr txBox="1"/>
          <p:nvPr/>
        </p:nvSpPr>
        <p:spPr>
          <a:xfrm>
            <a:off x="6156176" y="3212976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v</a:t>
            </a:r>
            <a:endParaRPr lang="en-US" sz="2400" dirty="0"/>
          </a:p>
        </p:txBody>
      </p:sp>
      <p:sp>
        <p:nvSpPr>
          <p:cNvPr id="171" name="170 CuadroTexto"/>
          <p:cNvSpPr txBox="1"/>
          <p:nvPr/>
        </p:nvSpPr>
        <p:spPr>
          <a:xfrm>
            <a:off x="7524328" y="3212976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v</a:t>
            </a:r>
            <a:endParaRPr lang="en-US" sz="2400" dirty="0"/>
          </a:p>
        </p:txBody>
      </p:sp>
      <p:sp>
        <p:nvSpPr>
          <p:cNvPr id="172" name="171 CuadroTexto"/>
          <p:cNvSpPr txBox="1"/>
          <p:nvPr/>
        </p:nvSpPr>
        <p:spPr>
          <a:xfrm>
            <a:off x="2699792" y="4221088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</a:t>
            </a:r>
            <a:endParaRPr lang="en-US" sz="2400" dirty="0"/>
          </a:p>
        </p:txBody>
      </p:sp>
      <p:sp>
        <p:nvSpPr>
          <p:cNvPr id="173" name="172 CuadroTexto"/>
          <p:cNvSpPr txBox="1"/>
          <p:nvPr/>
        </p:nvSpPr>
        <p:spPr>
          <a:xfrm>
            <a:off x="4139952" y="4221088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</a:t>
            </a:r>
            <a:endParaRPr lang="en-US" sz="2400" dirty="0"/>
          </a:p>
        </p:txBody>
      </p:sp>
      <p:sp>
        <p:nvSpPr>
          <p:cNvPr id="174" name="173 CuadroTexto"/>
          <p:cNvSpPr txBox="1"/>
          <p:nvPr/>
        </p:nvSpPr>
        <p:spPr>
          <a:xfrm>
            <a:off x="5652120" y="4221088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</a:t>
            </a:r>
            <a:endParaRPr lang="en-US" sz="2400" dirty="0"/>
          </a:p>
        </p:txBody>
      </p:sp>
      <p:sp>
        <p:nvSpPr>
          <p:cNvPr id="175" name="174 CuadroTexto"/>
          <p:cNvSpPr txBox="1"/>
          <p:nvPr/>
        </p:nvSpPr>
        <p:spPr>
          <a:xfrm>
            <a:off x="7164288" y="4149080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</a:t>
            </a:r>
            <a:endParaRPr lang="en-US" sz="2400" dirty="0"/>
          </a:p>
        </p:txBody>
      </p:sp>
      <p:sp>
        <p:nvSpPr>
          <p:cNvPr id="177" name="176 CuadroTexto"/>
          <p:cNvSpPr txBox="1"/>
          <p:nvPr/>
        </p:nvSpPr>
        <p:spPr>
          <a:xfrm>
            <a:off x="8567936" y="4149080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</a:t>
            </a:r>
            <a:endParaRPr lang="en-US" sz="2400" dirty="0"/>
          </a:p>
        </p:txBody>
      </p:sp>
    </p:spTree>
    <p:custDataLst>
      <p:tags r:id="rId1"/>
    </p:custData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" sz="4000" dirty="0" smtClean="0"/>
              <a:t>Aceleración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457200" y="2813896"/>
            <a:ext cx="3497855" cy="607782"/>
          </a:xfrm>
        </p:spPr>
        <p:txBody>
          <a:bodyPr>
            <a:normAutofit fontScale="92500"/>
          </a:bodyPr>
          <a:lstStyle/>
          <a:p>
            <a:pPr eaLnBrk="1" hangingPunct="1">
              <a:buFont typeface="Arial" charset="0"/>
              <a:buNone/>
            </a:pPr>
            <a:r>
              <a:rPr lang="es-ES" sz="2800" dirty="0" smtClean="0"/>
              <a:t>Aceleración Promedio:</a:t>
            </a:r>
          </a:p>
        </p:txBody>
      </p:sp>
      <p:sp>
        <p:nvSpPr>
          <p:cNvPr id="7172" name="TextBox 4"/>
          <p:cNvSpPr txBox="1">
            <a:spLocks noChangeArrowheads="1"/>
          </p:cNvSpPr>
          <p:nvPr/>
        </p:nvSpPr>
        <p:spPr bwMode="auto">
          <a:xfrm>
            <a:off x="483667" y="4678849"/>
            <a:ext cx="38749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ES" sz="2800" dirty="0" smtClean="0">
                <a:latin typeface="Calibri" charset="0"/>
              </a:rPr>
              <a:t>Aceleración Instantánea:</a:t>
            </a:r>
            <a:endParaRPr lang="es-ES" sz="2800" dirty="0">
              <a:latin typeface="Calibri" charset="0"/>
            </a:endParaRPr>
          </a:p>
        </p:txBody>
      </p:sp>
      <p:graphicFrame>
        <p:nvGraphicFramePr>
          <p:cNvPr id="3993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364137"/>
              </p:ext>
            </p:extLst>
          </p:nvPr>
        </p:nvGraphicFramePr>
        <p:xfrm>
          <a:off x="4743450" y="2405063"/>
          <a:ext cx="3216275" cy="146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58" name="Ecuación" r:id="rId3" imgW="1003300" imgH="457200" progId="Equation.3">
                  <p:embed/>
                </p:oleObj>
              </mc:Choice>
              <mc:Fallback>
                <p:oleObj name="Ecuación" r:id="rId3" imgW="1003300" imgH="4572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3450" y="2405063"/>
                        <a:ext cx="3216275" cy="1465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54331"/>
              </p:ext>
            </p:extLst>
          </p:nvPr>
        </p:nvGraphicFramePr>
        <p:xfrm>
          <a:off x="4556760" y="4352925"/>
          <a:ext cx="3138488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59" name="EcuaciÛn" r:id="rId5" imgW="1003300" imgH="393700" progId="Equation.3">
                  <p:embed/>
                </p:oleObj>
              </mc:Choice>
              <mc:Fallback>
                <p:oleObj name="EcuaciÛn" r:id="rId5" imgW="1003300" imgH="3937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6760" y="4352925"/>
                        <a:ext cx="3138488" cy="1231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38769" y="1443670"/>
            <a:ext cx="8510530" cy="925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ES_tradnl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+mn-cs"/>
              </a:rPr>
              <a:t> </a:t>
            </a:r>
            <a:r>
              <a:rPr kumimoji="0" lang="es-CO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-128"/>
                <a:cs typeface="+mn-cs"/>
              </a:rPr>
              <a:t>La aceleración es una medida de la rapidez con que varia la velocidad</a:t>
            </a:r>
            <a:endParaRPr kumimoji="0" lang="es-ES_tradnl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smtClean="0"/>
              <a:t>Aceleración Constante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2"/>
          </p:nvPr>
        </p:nvSpPr>
        <p:spPr>
          <a:xfrm>
            <a:off x="274320" y="1599160"/>
            <a:ext cx="8510530" cy="1450198"/>
          </a:xfrm>
        </p:spPr>
        <p:txBody>
          <a:bodyPr>
            <a:normAutofit fontScale="92500"/>
          </a:bodyPr>
          <a:lstStyle/>
          <a:p>
            <a:pPr marL="108000" algn="just" eaLnBrk="1" hangingPunct="1">
              <a:spcBef>
                <a:spcPts val="600"/>
              </a:spcBef>
              <a:buNone/>
            </a:pPr>
            <a:r>
              <a:rPr lang="es-ES_tradnl" b="0" dirty="0" smtClean="0"/>
              <a:t> </a:t>
            </a:r>
            <a:r>
              <a:rPr lang="es-CO" sz="2800" b="0" dirty="0" smtClean="0"/>
              <a:t>Cuando un objeto tiene una aceleración constante, la aceleración instantánea es igual a la aceleración promedio:</a:t>
            </a:r>
          </a:p>
          <a:p>
            <a:pPr marL="540000" eaLnBrk="1" hangingPunct="1">
              <a:spcBef>
                <a:spcPts val="600"/>
              </a:spcBef>
              <a:buNone/>
            </a:pPr>
            <a:r>
              <a:rPr lang="es-CO" sz="2800" dirty="0" smtClean="0"/>
              <a:t>el movimiento es uniformemente acelerado </a:t>
            </a:r>
            <a:endParaRPr lang="es-ES_tradnl" sz="2800" b="0" dirty="0" smtClean="0"/>
          </a:p>
        </p:txBody>
      </p:sp>
      <p:sp>
        <p:nvSpPr>
          <p:cNvPr id="1030" name="Content Placeholder 2"/>
          <p:cNvSpPr>
            <a:spLocks noGrp="1"/>
          </p:cNvSpPr>
          <p:nvPr>
            <p:ph sz="quarter" idx="4"/>
          </p:nvPr>
        </p:nvSpPr>
        <p:spPr>
          <a:xfrm>
            <a:off x="863600" y="5356278"/>
            <a:ext cx="8053330" cy="993721"/>
          </a:xfrm>
        </p:spPr>
        <p:txBody>
          <a:bodyPr>
            <a:noAutofit/>
          </a:bodyPr>
          <a:lstStyle/>
          <a:p>
            <a:pPr eaLnBrk="1" hangingPunct="1">
              <a:buFont typeface="Arial" charset="0"/>
              <a:buNone/>
            </a:pPr>
            <a:r>
              <a:rPr lang="es-ES" sz="2800" dirty="0">
                <a:solidFill>
                  <a:srgbClr val="FF0000"/>
                </a:solidFill>
              </a:rPr>
              <a:t>L</a:t>
            </a:r>
            <a:r>
              <a:rPr lang="es-ES" sz="2800" dirty="0" smtClean="0">
                <a:solidFill>
                  <a:srgbClr val="FF0000"/>
                </a:solidFill>
              </a:rPr>
              <a:t>a posición (x), velocidad (v) y la aceleración (a) son TODAS cantidades vectoriales!!</a:t>
            </a:r>
          </a:p>
        </p:txBody>
      </p:sp>
      <p:graphicFrame>
        <p:nvGraphicFramePr>
          <p:cNvPr id="215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8761878"/>
              </p:ext>
            </p:extLst>
          </p:nvPr>
        </p:nvGraphicFramePr>
        <p:xfrm>
          <a:off x="863600" y="3065780"/>
          <a:ext cx="220345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2" name="EcuaciÛn" r:id="rId4" imgW="685800" imgH="393700" progId="Equation.3">
                  <p:embed/>
                </p:oleObj>
              </mc:Choice>
              <mc:Fallback>
                <p:oleObj name="EcuaciÛn" r:id="rId4" imgW="685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3065780"/>
                        <a:ext cx="2203450" cy="1263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207960"/>
              </p:ext>
            </p:extLst>
          </p:nvPr>
        </p:nvGraphicFramePr>
        <p:xfrm>
          <a:off x="4425950" y="2828051"/>
          <a:ext cx="4111625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3" name="EcuaciÛn" r:id="rId6" imgW="1193800" imgH="711200" progId="Equation.3">
                  <p:embed/>
                </p:oleObj>
              </mc:Choice>
              <mc:Fallback>
                <p:oleObj name="EcuaciÛn" r:id="rId6" imgW="11938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5950" y="2828051"/>
                        <a:ext cx="4111625" cy="2447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10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624220"/>
              </p:ext>
            </p:extLst>
          </p:nvPr>
        </p:nvGraphicFramePr>
        <p:xfrm>
          <a:off x="3475822" y="3404958"/>
          <a:ext cx="732621" cy="586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4" name="Ecuación" r:id="rId8" imgW="190440" imgH="152280" progId="Equation.3">
                  <p:embed/>
                </p:oleObj>
              </mc:Choice>
              <mc:Fallback>
                <p:oleObj name="Ecuación" r:id="rId8" imgW="19044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5822" y="3404958"/>
                        <a:ext cx="732621" cy="5860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03347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Ejemplo: Caída libre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21200" y="1586753"/>
            <a:ext cx="4277360" cy="4583860"/>
          </a:xfrm>
        </p:spPr>
        <p:txBody>
          <a:bodyPr>
            <a:normAutofit/>
          </a:bodyPr>
          <a:lstStyle/>
          <a:p>
            <a:r>
              <a:rPr lang="es-ES" sz="2800" dirty="0" smtClean="0"/>
              <a:t>Movimiento en una dimensión con aceleración constante</a:t>
            </a:r>
          </a:p>
          <a:p>
            <a:r>
              <a:rPr lang="es-ES" sz="2800" dirty="0" smtClean="0"/>
              <a:t>Aceleración de la gravedad:</a:t>
            </a:r>
            <a:br>
              <a:rPr lang="es-ES" sz="2800" dirty="0" smtClean="0"/>
            </a:br>
            <a:r>
              <a:rPr lang="es-ES" sz="2800" dirty="0" smtClean="0"/>
              <a:t>g = -9,8 m/s^2</a:t>
            </a:r>
            <a:br>
              <a:rPr lang="es-ES" sz="2800" dirty="0" smtClean="0"/>
            </a:br>
            <a:r>
              <a:rPr lang="es-ES" sz="2800" dirty="0" smtClean="0"/>
              <a:t>(g = -10 m/s^2)</a:t>
            </a:r>
          </a:p>
          <a:p>
            <a:r>
              <a:rPr lang="es-ES" sz="2800" dirty="0" smtClean="0"/>
              <a:t>Aceleración dirigida en dirección negativa</a:t>
            </a:r>
          </a:p>
        </p:txBody>
      </p:sp>
      <p:pic>
        <p:nvPicPr>
          <p:cNvPr id="7" name="Imagen 6" descr="caida_libr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18" y="1586753"/>
            <a:ext cx="2728179" cy="500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4002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Ejemplo: Caída libre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21200" y="1586753"/>
            <a:ext cx="4277360" cy="4583860"/>
          </a:xfrm>
        </p:spPr>
        <p:txBody>
          <a:bodyPr>
            <a:normAutofit lnSpcReduction="10000"/>
          </a:bodyPr>
          <a:lstStyle/>
          <a:p>
            <a:r>
              <a:rPr lang="es-ES" sz="2800" dirty="0" smtClean="0"/>
              <a:t>Alguien deja caer un balón de un barranco</a:t>
            </a:r>
          </a:p>
          <a:p>
            <a:r>
              <a:rPr lang="es-ES" sz="2800" dirty="0" smtClean="0"/>
              <a:t>El balón tarda 3 s en tocar el piso</a:t>
            </a:r>
          </a:p>
          <a:p>
            <a:r>
              <a:rPr lang="es-ES" sz="2800" dirty="0" smtClean="0"/>
              <a:t>Cual es la velocidad del balón antes de tocar el piso?</a:t>
            </a:r>
          </a:p>
          <a:p>
            <a:r>
              <a:rPr lang="es-ES" sz="2800" dirty="0" smtClean="0"/>
              <a:t>Cual es la altura del barranco?</a:t>
            </a:r>
          </a:p>
        </p:txBody>
      </p:sp>
      <p:pic>
        <p:nvPicPr>
          <p:cNvPr id="7" name="Imagen 6" descr="caida_libr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18" y="1586753"/>
            <a:ext cx="2728179" cy="500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0621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Ejemplo: Caída libre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21200" y="1586753"/>
            <a:ext cx="4277360" cy="4583860"/>
          </a:xfrm>
        </p:spPr>
        <p:txBody>
          <a:bodyPr>
            <a:normAutofit lnSpcReduction="10000"/>
          </a:bodyPr>
          <a:lstStyle/>
          <a:p>
            <a:r>
              <a:rPr lang="es-ES" sz="2800" dirty="0" smtClean="0"/>
              <a:t>Cual es la velocidad del balón antes de tocar el piso?</a:t>
            </a:r>
            <a:br>
              <a:rPr lang="es-ES" sz="2800" dirty="0" smtClean="0"/>
            </a:br>
            <a:r>
              <a:rPr lang="es-ES" sz="2800" dirty="0" smtClean="0"/>
              <a:t>	 </a:t>
            </a:r>
          </a:p>
          <a:p>
            <a:pPr marL="0" indent="0">
              <a:buNone/>
            </a:pPr>
            <a:r>
              <a:rPr lang="es-ES" sz="2800" dirty="0" smtClean="0"/>
              <a:t> </a:t>
            </a:r>
          </a:p>
          <a:p>
            <a:pPr marL="0" indent="0">
              <a:buNone/>
            </a:pPr>
            <a:r>
              <a:rPr lang="es-ES" sz="2800" dirty="0" smtClean="0"/>
              <a:t> </a:t>
            </a:r>
          </a:p>
          <a:p>
            <a:pPr marL="0" indent="0">
              <a:buNone/>
            </a:pPr>
            <a:r>
              <a:rPr lang="es-ES" sz="2800" dirty="0" smtClean="0"/>
              <a:t> </a:t>
            </a:r>
          </a:p>
          <a:p>
            <a:pPr marL="0" indent="0">
              <a:buNone/>
            </a:pPr>
            <a:r>
              <a:rPr lang="es-ES" sz="2800" dirty="0" smtClean="0"/>
              <a:t> </a:t>
            </a:r>
          </a:p>
          <a:p>
            <a:endParaRPr lang="es-ES" sz="2800" dirty="0" smtClean="0"/>
          </a:p>
          <a:p>
            <a:endParaRPr lang="es-ES" sz="2800" dirty="0" smtClean="0"/>
          </a:p>
        </p:txBody>
      </p:sp>
      <p:pic>
        <p:nvPicPr>
          <p:cNvPr id="7" name="Imagen 6" descr="caida_libr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18" y="1586753"/>
            <a:ext cx="2728179" cy="500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4721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Ejemplo: Caída libre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21200" y="1586753"/>
            <a:ext cx="4277360" cy="4583860"/>
          </a:xfrm>
        </p:spPr>
        <p:txBody>
          <a:bodyPr>
            <a:normAutofit lnSpcReduction="10000"/>
          </a:bodyPr>
          <a:lstStyle/>
          <a:p>
            <a:r>
              <a:rPr lang="es-ES" sz="2800" dirty="0" smtClean="0"/>
              <a:t>Cual es la velocidad del balón antes de tocar el piso?</a:t>
            </a:r>
            <a:br>
              <a:rPr lang="es-ES" sz="2800" dirty="0" smtClean="0"/>
            </a:br>
            <a:r>
              <a:rPr lang="es-ES" sz="2800" dirty="0" smtClean="0"/>
              <a:t>	v = v</a:t>
            </a:r>
            <a:r>
              <a:rPr lang="es-ES" sz="2800" baseline="-25000" dirty="0" smtClean="0"/>
              <a:t>0</a:t>
            </a:r>
            <a:r>
              <a:rPr lang="es-ES" sz="2800" dirty="0" smtClean="0"/>
              <a:t> + at </a:t>
            </a:r>
          </a:p>
          <a:p>
            <a:r>
              <a:rPr lang="es-ES" sz="2800" dirty="0" smtClean="0"/>
              <a:t>v</a:t>
            </a:r>
            <a:r>
              <a:rPr lang="es-ES" sz="2800" baseline="-25000" dirty="0" smtClean="0"/>
              <a:t>0</a:t>
            </a:r>
            <a:r>
              <a:rPr lang="es-ES" sz="2800" dirty="0" smtClean="0"/>
              <a:t> = 0 m/s</a:t>
            </a:r>
          </a:p>
          <a:p>
            <a:r>
              <a:rPr lang="es-ES" sz="2800" dirty="0"/>
              <a:t>a</a:t>
            </a:r>
            <a:r>
              <a:rPr lang="es-ES" sz="2800" dirty="0" smtClean="0"/>
              <a:t> = -10 m/s^2</a:t>
            </a:r>
          </a:p>
          <a:p>
            <a:r>
              <a:rPr lang="es-ES" sz="2800" dirty="0" smtClean="0"/>
              <a:t>t = 3 s</a:t>
            </a:r>
          </a:p>
          <a:p>
            <a:r>
              <a:rPr lang="es-ES" sz="2800" dirty="0"/>
              <a:t>v</a:t>
            </a:r>
            <a:r>
              <a:rPr lang="es-ES" sz="2800" dirty="0" smtClean="0"/>
              <a:t> = ?</a:t>
            </a:r>
          </a:p>
          <a:p>
            <a:endParaRPr lang="es-ES" sz="2800" dirty="0" smtClean="0"/>
          </a:p>
          <a:p>
            <a:endParaRPr lang="es-ES" sz="2800" dirty="0" smtClean="0"/>
          </a:p>
        </p:txBody>
      </p:sp>
      <p:pic>
        <p:nvPicPr>
          <p:cNvPr id="7" name="Imagen 6" descr="caida_libr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18" y="1586753"/>
            <a:ext cx="2728179" cy="500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8166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Ejemplo: Caída libre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21200" y="1586753"/>
            <a:ext cx="4277360" cy="4583860"/>
          </a:xfrm>
        </p:spPr>
        <p:txBody>
          <a:bodyPr>
            <a:normAutofit lnSpcReduction="10000"/>
          </a:bodyPr>
          <a:lstStyle/>
          <a:p>
            <a:r>
              <a:rPr lang="es-ES" sz="2800" dirty="0" smtClean="0"/>
              <a:t>Cual es la velocidad del balón antes de tocar el piso?</a:t>
            </a:r>
            <a:br>
              <a:rPr lang="es-ES" sz="2800" dirty="0" smtClean="0"/>
            </a:br>
            <a:r>
              <a:rPr lang="es-ES" sz="2800" dirty="0" smtClean="0"/>
              <a:t>	v = v</a:t>
            </a:r>
            <a:r>
              <a:rPr lang="es-ES" sz="2800" baseline="-25000" dirty="0" smtClean="0"/>
              <a:t>0</a:t>
            </a:r>
            <a:r>
              <a:rPr lang="es-ES" sz="2800" dirty="0" smtClean="0"/>
              <a:t> + at </a:t>
            </a:r>
          </a:p>
          <a:p>
            <a:r>
              <a:rPr lang="es-ES" sz="2800" dirty="0" smtClean="0"/>
              <a:t>v</a:t>
            </a:r>
            <a:r>
              <a:rPr lang="es-ES" sz="2800" baseline="-25000" dirty="0" smtClean="0"/>
              <a:t>0</a:t>
            </a:r>
            <a:r>
              <a:rPr lang="es-ES" sz="2800" dirty="0" smtClean="0"/>
              <a:t> = 0 m/s</a:t>
            </a:r>
          </a:p>
          <a:p>
            <a:r>
              <a:rPr lang="es-ES" sz="2800" dirty="0"/>
              <a:t>a</a:t>
            </a:r>
            <a:r>
              <a:rPr lang="es-ES" sz="2800" dirty="0" smtClean="0"/>
              <a:t> = -10 m/s^2</a:t>
            </a:r>
          </a:p>
          <a:p>
            <a:r>
              <a:rPr lang="es-ES" sz="2800" dirty="0" smtClean="0"/>
              <a:t>t = 3 s</a:t>
            </a:r>
          </a:p>
          <a:p>
            <a:r>
              <a:rPr lang="es-ES" sz="2800" b="1" dirty="0"/>
              <a:t>v</a:t>
            </a:r>
            <a:r>
              <a:rPr lang="es-ES" sz="2800" b="1" dirty="0" smtClean="0"/>
              <a:t> = -30 m/s</a:t>
            </a:r>
          </a:p>
          <a:p>
            <a:endParaRPr lang="es-ES" sz="2800" dirty="0" smtClean="0"/>
          </a:p>
          <a:p>
            <a:endParaRPr lang="es-ES" sz="2800" dirty="0" smtClean="0"/>
          </a:p>
        </p:txBody>
      </p:sp>
      <p:pic>
        <p:nvPicPr>
          <p:cNvPr id="7" name="Imagen 6" descr="caida_libr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18" y="1586753"/>
            <a:ext cx="2728179" cy="500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4051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Ejemplo: Caída libre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21200" y="1586753"/>
            <a:ext cx="4277360" cy="4583860"/>
          </a:xfrm>
        </p:spPr>
        <p:txBody>
          <a:bodyPr>
            <a:normAutofit/>
          </a:bodyPr>
          <a:lstStyle/>
          <a:p>
            <a:r>
              <a:rPr lang="es-ES" sz="2800" dirty="0" smtClean="0"/>
              <a:t>Cual es la altura del barranco?</a:t>
            </a:r>
          </a:p>
        </p:txBody>
      </p:sp>
      <p:pic>
        <p:nvPicPr>
          <p:cNvPr id="7" name="Imagen 6" descr="caida_libr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18" y="1586753"/>
            <a:ext cx="2728179" cy="500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8245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Ejemplo: Caída libre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21200" y="1586752"/>
            <a:ext cx="4277360" cy="5008881"/>
          </a:xfrm>
        </p:spPr>
        <p:txBody>
          <a:bodyPr>
            <a:normAutofit lnSpcReduction="10000"/>
          </a:bodyPr>
          <a:lstStyle/>
          <a:p>
            <a:r>
              <a:rPr lang="es-ES" sz="2800" dirty="0" smtClean="0"/>
              <a:t>Cual es la altura del barranco?</a:t>
            </a:r>
            <a:br>
              <a:rPr lang="es-ES" sz="2800" dirty="0" smtClean="0"/>
            </a:br>
            <a:r>
              <a:rPr lang="es-ES" sz="2800" dirty="0" smtClean="0"/>
              <a:t>	x = x</a:t>
            </a:r>
            <a:r>
              <a:rPr lang="es-ES" sz="2800" baseline="-25000" dirty="0" smtClean="0"/>
              <a:t>0</a:t>
            </a:r>
            <a:r>
              <a:rPr lang="es-ES" sz="2800" dirty="0" smtClean="0"/>
              <a:t> + v</a:t>
            </a:r>
            <a:r>
              <a:rPr lang="es-ES" sz="2800" baseline="-25000" dirty="0" smtClean="0"/>
              <a:t>0</a:t>
            </a:r>
            <a:r>
              <a:rPr lang="es-ES" sz="2800" dirty="0" smtClean="0"/>
              <a:t>t + ½ at</a:t>
            </a:r>
            <a:r>
              <a:rPr lang="es-ES" sz="2800" baseline="30000" dirty="0" smtClean="0"/>
              <a:t>2</a:t>
            </a:r>
          </a:p>
          <a:p>
            <a:r>
              <a:rPr lang="es-ES" sz="2800" dirty="0" smtClean="0"/>
              <a:t>x</a:t>
            </a:r>
            <a:r>
              <a:rPr lang="es-ES" sz="2800" baseline="-25000" dirty="0" smtClean="0"/>
              <a:t>0 </a:t>
            </a:r>
            <a:r>
              <a:rPr lang="es-ES" sz="2800" dirty="0" smtClean="0"/>
              <a:t>= 0 m</a:t>
            </a:r>
          </a:p>
          <a:p>
            <a:r>
              <a:rPr lang="es-ES" sz="2800" dirty="0"/>
              <a:t>v</a:t>
            </a:r>
            <a:r>
              <a:rPr lang="es-ES" sz="2800" baseline="-25000" dirty="0" smtClean="0"/>
              <a:t>0</a:t>
            </a:r>
            <a:r>
              <a:rPr lang="es-ES" sz="2800" dirty="0" smtClean="0"/>
              <a:t> = 0 m/s</a:t>
            </a:r>
          </a:p>
          <a:p>
            <a:r>
              <a:rPr lang="es-ES" sz="2800" dirty="0" smtClean="0"/>
              <a:t>a = -10 m/s</a:t>
            </a:r>
            <a:r>
              <a:rPr lang="es-ES" sz="2800" baseline="30000" dirty="0" smtClean="0"/>
              <a:t>2</a:t>
            </a:r>
          </a:p>
          <a:p>
            <a:r>
              <a:rPr lang="es-ES" sz="2800" dirty="0" smtClean="0"/>
              <a:t>t = 3 s</a:t>
            </a:r>
          </a:p>
          <a:p>
            <a:r>
              <a:rPr lang="es-ES" sz="2800" dirty="0" smtClean="0"/>
              <a:t>x = ?</a:t>
            </a:r>
          </a:p>
          <a:p>
            <a:endParaRPr lang="es-ES" sz="2800" dirty="0" smtClean="0"/>
          </a:p>
          <a:p>
            <a:endParaRPr lang="es-ES" sz="2800" dirty="0" smtClean="0"/>
          </a:p>
        </p:txBody>
      </p:sp>
      <p:pic>
        <p:nvPicPr>
          <p:cNvPr id="7" name="Imagen 6" descr="caida_libr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18" y="1586753"/>
            <a:ext cx="2728179" cy="500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604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Ejemplo: Caída libre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21200" y="1586752"/>
            <a:ext cx="4277360" cy="5008881"/>
          </a:xfrm>
        </p:spPr>
        <p:txBody>
          <a:bodyPr>
            <a:normAutofit lnSpcReduction="10000"/>
          </a:bodyPr>
          <a:lstStyle/>
          <a:p>
            <a:r>
              <a:rPr lang="es-ES" sz="2800" dirty="0" smtClean="0"/>
              <a:t>Cual es la altura del barranco?</a:t>
            </a:r>
            <a:br>
              <a:rPr lang="es-ES" sz="2800" dirty="0" smtClean="0"/>
            </a:br>
            <a:r>
              <a:rPr lang="es-ES" sz="2800" dirty="0" smtClean="0"/>
              <a:t>	x = x</a:t>
            </a:r>
            <a:r>
              <a:rPr lang="es-ES" sz="2800" baseline="-25000" dirty="0" smtClean="0"/>
              <a:t>0</a:t>
            </a:r>
            <a:r>
              <a:rPr lang="es-ES" sz="2800" dirty="0" smtClean="0"/>
              <a:t> + v</a:t>
            </a:r>
            <a:r>
              <a:rPr lang="es-ES" sz="2800" baseline="-25000" dirty="0" smtClean="0"/>
              <a:t>0</a:t>
            </a:r>
            <a:r>
              <a:rPr lang="es-ES" sz="2800" dirty="0" smtClean="0"/>
              <a:t>t + ½ at</a:t>
            </a:r>
            <a:r>
              <a:rPr lang="es-ES" sz="2800" baseline="30000" dirty="0" smtClean="0"/>
              <a:t>2</a:t>
            </a:r>
          </a:p>
          <a:p>
            <a:r>
              <a:rPr lang="es-ES" sz="2800" dirty="0" smtClean="0"/>
              <a:t>x</a:t>
            </a:r>
            <a:r>
              <a:rPr lang="es-ES" sz="2800" baseline="-25000" dirty="0" smtClean="0"/>
              <a:t>0 </a:t>
            </a:r>
            <a:r>
              <a:rPr lang="es-ES" sz="2800" dirty="0" smtClean="0"/>
              <a:t>= 0 m</a:t>
            </a:r>
          </a:p>
          <a:p>
            <a:r>
              <a:rPr lang="es-ES" sz="2800" dirty="0"/>
              <a:t>v</a:t>
            </a:r>
            <a:r>
              <a:rPr lang="es-ES" sz="2800" baseline="-25000" dirty="0" smtClean="0"/>
              <a:t>0</a:t>
            </a:r>
            <a:r>
              <a:rPr lang="es-ES" sz="2800" dirty="0" smtClean="0"/>
              <a:t> = 0 m/s</a:t>
            </a:r>
          </a:p>
          <a:p>
            <a:r>
              <a:rPr lang="es-ES" sz="2800" dirty="0" smtClean="0"/>
              <a:t>a = -10 m/s</a:t>
            </a:r>
            <a:r>
              <a:rPr lang="es-ES" sz="2800" baseline="30000" dirty="0" smtClean="0"/>
              <a:t>2</a:t>
            </a:r>
          </a:p>
          <a:p>
            <a:r>
              <a:rPr lang="es-ES" sz="2800" dirty="0" smtClean="0"/>
              <a:t>t = 3 s</a:t>
            </a:r>
          </a:p>
          <a:p>
            <a:r>
              <a:rPr lang="es-ES" sz="2800" b="1" dirty="0" smtClean="0"/>
              <a:t>x = -45 m</a:t>
            </a:r>
          </a:p>
          <a:p>
            <a:endParaRPr lang="es-ES" sz="2800" dirty="0" smtClean="0"/>
          </a:p>
          <a:p>
            <a:endParaRPr lang="es-ES" sz="2800" dirty="0" smtClean="0"/>
          </a:p>
        </p:txBody>
      </p:sp>
      <p:pic>
        <p:nvPicPr>
          <p:cNvPr id="7" name="Imagen 6" descr="caida_libr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18" y="1586753"/>
            <a:ext cx="2728179" cy="500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414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Ejemplo: Caída libre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3322320" y="1586752"/>
            <a:ext cx="5476240" cy="5008881"/>
          </a:xfrm>
        </p:spPr>
        <p:txBody>
          <a:bodyPr>
            <a:normAutofit fontScale="92500" lnSpcReduction="10000"/>
          </a:bodyPr>
          <a:lstStyle/>
          <a:p>
            <a:r>
              <a:rPr lang="es-ES" sz="2800" dirty="0" smtClean="0"/>
              <a:t>Cual es la altura del barranco?</a:t>
            </a:r>
            <a:br>
              <a:rPr lang="es-ES" sz="2800" dirty="0" smtClean="0"/>
            </a:br>
            <a:r>
              <a:rPr lang="es-ES" sz="2800" dirty="0" smtClean="0">
                <a:solidFill>
                  <a:srgbClr val="FF0000"/>
                </a:solidFill>
              </a:rPr>
              <a:t>Se puede escoger otro marco de referencia (dado que es arbitraría)</a:t>
            </a:r>
          </a:p>
          <a:p>
            <a:pPr marL="457200" lvl="1" indent="0">
              <a:buNone/>
            </a:pPr>
            <a:r>
              <a:rPr lang="es-ES" sz="2600" dirty="0" smtClean="0"/>
              <a:t>	x = x</a:t>
            </a:r>
            <a:r>
              <a:rPr lang="es-ES" sz="2600" baseline="-25000" dirty="0" smtClean="0"/>
              <a:t>0</a:t>
            </a:r>
            <a:r>
              <a:rPr lang="es-ES" sz="2600" dirty="0" smtClean="0"/>
              <a:t> + v</a:t>
            </a:r>
            <a:r>
              <a:rPr lang="es-ES" sz="2600" baseline="-25000" dirty="0" smtClean="0"/>
              <a:t>0</a:t>
            </a:r>
            <a:r>
              <a:rPr lang="es-ES" sz="2600" dirty="0" smtClean="0"/>
              <a:t>t + ½ at</a:t>
            </a:r>
            <a:r>
              <a:rPr lang="es-ES" sz="2600" baseline="30000" dirty="0" smtClean="0"/>
              <a:t>2</a:t>
            </a:r>
          </a:p>
          <a:p>
            <a:r>
              <a:rPr lang="es-ES" sz="2800" dirty="0" smtClean="0"/>
              <a:t>x</a:t>
            </a:r>
            <a:r>
              <a:rPr lang="es-ES" sz="2800" baseline="-25000" dirty="0" smtClean="0"/>
              <a:t>0 </a:t>
            </a:r>
            <a:r>
              <a:rPr lang="es-ES" sz="2800" dirty="0" smtClean="0"/>
              <a:t>= h, x = 0 m </a:t>
            </a:r>
          </a:p>
          <a:p>
            <a:r>
              <a:rPr lang="es-ES" sz="2800" dirty="0"/>
              <a:t>v</a:t>
            </a:r>
            <a:r>
              <a:rPr lang="es-ES" sz="2800" baseline="-25000" dirty="0" smtClean="0"/>
              <a:t>0</a:t>
            </a:r>
            <a:r>
              <a:rPr lang="es-ES" sz="2800" dirty="0" smtClean="0"/>
              <a:t> = 0 m/s</a:t>
            </a:r>
          </a:p>
          <a:p>
            <a:r>
              <a:rPr lang="es-ES" sz="2800" dirty="0" smtClean="0"/>
              <a:t>a = -10 m/s</a:t>
            </a:r>
            <a:r>
              <a:rPr lang="es-ES" sz="2800" baseline="30000" dirty="0" smtClean="0"/>
              <a:t>2</a:t>
            </a:r>
          </a:p>
          <a:p>
            <a:r>
              <a:rPr lang="es-ES" sz="2800" dirty="0" smtClean="0"/>
              <a:t>t = 3 s</a:t>
            </a:r>
          </a:p>
          <a:p>
            <a:r>
              <a:rPr lang="es-ES" sz="2800" b="1" dirty="0"/>
              <a:t>h</a:t>
            </a:r>
            <a:r>
              <a:rPr lang="es-ES" sz="2800" b="1" dirty="0" smtClean="0"/>
              <a:t> = ?</a:t>
            </a:r>
          </a:p>
          <a:p>
            <a:endParaRPr lang="es-ES" sz="2800" dirty="0" smtClean="0"/>
          </a:p>
          <a:p>
            <a:endParaRPr lang="es-ES" sz="2800" dirty="0" smtClean="0"/>
          </a:p>
        </p:txBody>
      </p:sp>
      <p:pic>
        <p:nvPicPr>
          <p:cNvPr id="7" name="Imagen 6" descr="caida_libr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18" y="1586753"/>
            <a:ext cx="2728179" cy="500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2714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Ejemplo: Caída libre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3322320" y="1586752"/>
            <a:ext cx="5476240" cy="5008881"/>
          </a:xfrm>
        </p:spPr>
        <p:txBody>
          <a:bodyPr>
            <a:normAutofit fontScale="92500" lnSpcReduction="10000"/>
          </a:bodyPr>
          <a:lstStyle/>
          <a:p>
            <a:r>
              <a:rPr lang="es-ES" sz="2800" dirty="0" smtClean="0"/>
              <a:t>Cual es la altura del barranco?</a:t>
            </a:r>
            <a:br>
              <a:rPr lang="es-ES" sz="2800" dirty="0" smtClean="0"/>
            </a:br>
            <a:r>
              <a:rPr lang="es-ES" sz="2800" dirty="0" smtClean="0">
                <a:solidFill>
                  <a:srgbClr val="FF0000"/>
                </a:solidFill>
              </a:rPr>
              <a:t>Se puede escoger otro marco de referencia (dado que es arbitraría)</a:t>
            </a:r>
          </a:p>
          <a:p>
            <a:pPr marL="457200" lvl="1" indent="0">
              <a:buNone/>
            </a:pPr>
            <a:r>
              <a:rPr lang="es-ES" sz="2600" dirty="0" smtClean="0"/>
              <a:t>	x = x</a:t>
            </a:r>
            <a:r>
              <a:rPr lang="es-ES" sz="2600" baseline="-25000" dirty="0" smtClean="0"/>
              <a:t>0</a:t>
            </a:r>
            <a:r>
              <a:rPr lang="es-ES" sz="2600" dirty="0" smtClean="0"/>
              <a:t> + v</a:t>
            </a:r>
            <a:r>
              <a:rPr lang="es-ES" sz="2600" baseline="-25000" dirty="0" smtClean="0"/>
              <a:t>0</a:t>
            </a:r>
            <a:r>
              <a:rPr lang="es-ES" sz="2600" dirty="0" smtClean="0"/>
              <a:t>t + ½ at</a:t>
            </a:r>
            <a:r>
              <a:rPr lang="es-ES" sz="2600" baseline="30000" dirty="0" smtClean="0"/>
              <a:t>2</a:t>
            </a:r>
          </a:p>
          <a:p>
            <a:r>
              <a:rPr lang="es-ES" sz="2800" dirty="0" smtClean="0"/>
              <a:t>x</a:t>
            </a:r>
            <a:r>
              <a:rPr lang="es-ES" sz="2800" baseline="-25000" dirty="0" smtClean="0"/>
              <a:t>0 </a:t>
            </a:r>
            <a:r>
              <a:rPr lang="es-ES" sz="2800" dirty="0" smtClean="0"/>
              <a:t>= h, x = 0 m </a:t>
            </a:r>
          </a:p>
          <a:p>
            <a:r>
              <a:rPr lang="es-ES" sz="2800" dirty="0"/>
              <a:t>v</a:t>
            </a:r>
            <a:r>
              <a:rPr lang="es-ES" sz="2800" baseline="-25000" dirty="0" smtClean="0"/>
              <a:t>0</a:t>
            </a:r>
            <a:r>
              <a:rPr lang="es-ES" sz="2800" dirty="0" smtClean="0"/>
              <a:t> = 0 m/s</a:t>
            </a:r>
          </a:p>
          <a:p>
            <a:r>
              <a:rPr lang="es-ES" sz="2800" dirty="0" smtClean="0"/>
              <a:t>a = -10 m/s</a:t>
            </a:r>
            <a:r>
              <a:rPr lang="es-ES" sz="2800" baseline="30000" dirty="0" smtClean="0"/>
              <a:t>2</a:t>
            </a:r>
          </a:p>
          <a:p>
            <a:r>
              <a:rPr lang="es-ES" sz="2800" dirty="0" smtClean="0"/>
              <a:t>t = 3 s</a:t>
            </a:r>
          </a:p>
          <a:p>
            <a:r>
              <a:rPr lang="es-ES" sz="2800" b="1" dirty="0"/>
              <a:t>h</a:t>
            </a:r>
            <a:r>
              <a:rPr lang="es-ES" sz="2800" b="1" dirty="0" smtClean="0"/>
              <a:t> = 45 m</a:t>
            </a:r>
          </a:p>
          <a:p>
            <a:endParaRPr lang="es-ES" sz="2800" dirty="0" smtClean="0"/>
          </a:p>
          <a:p>
            <a:endParaRPr lang="es-ES" sz="2800" dirty="0" smtClean="0"/>
          </a:p>
        </p:txBody>
      </p:sp>
      <p:pic>
        <p:nvPicPr>
          <p:cNvPr id="7" name="Imagen 6" descr="caida_libr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18" y="1586753"/>
            <a:ext cx="2728179" cy="500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6658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Ejemplo: tiro vertical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023360" y="1586752"/>
            <a:ext cx="4401312" cy="5118848"/>
          </a:xfrm>
        </p:spPr>
        <p:txBody>
          <a:bodyPr>
            <a:normAutofit lnSpcReduction="10000"/>
          </a:bodyPr>
          <a:lstStyle/>
          <a:p>
            <a:r>
              <a:rPr lang="es-ES" dirty="0" smtClean="0"/>
              <a:t>Una persona lanza un balón hacia arriba</a:t>
            </a:r>
          </a:p>
          <a:p>
            <a:r>
              <a:rPr lang="es-ES" dirty="0" smtClean="0"/>
              <a:t>Al cabo de 1 s alcanza su altura máxima</a:t>
            </a:r>
          </a:p>
          <a:p>
            <a:r>
              <a:rPr lang="es-ES" dirty="0" smtClean="0"/>
              <a:t>Luego cae libremente por 2 s antes de tocar el piso</a:t>
            </a:r>
          </a:p>
          <a:p>
            <a:r>
              <a:rPr lang="es-ES" dirty="0" smtClean="0"/>
              <a:t>Cual es la velocidad inicial?</a:t>
            </a:r>
          </a:p>
          <a:p>
            <a:r>
              <a:rPr lang="es-ES" dirty="0" smtClean="0"/>
              <a:t>Cual es la altura máxima?</a:t>
            </a:r>
          </a:p>
          <a:p>
            <a:r>
              <a:rPr lang="es-ES" dirty="0" smtClean="0"/>
              <a:t>Cual es la velocidad cuando toca el piso?</a:t>
            </a:r>
            <a:endParaRPr lang="es-ES" dirty="0"/>
          </a:p>
        </p:txBody>
      </p:sp>
      <p:pic>
        <p:nvPicPr>
          <p:cNvPr id="5" name="Imagen 4" descr="tiro_vertical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61" y="1859280"/>
            <a:ext cx="2768068" cy="439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1256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Ejemplo: tiro vertical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389120" y="1586752"/>
            <a:ext cx="4368800" cy="5118848"/>
          </a:xfrm>
        </p:spPr>
        <p:txBody>
          <a:bodyPr>
            <a:normAutofit lnSpcReduction="10000"/>
          </a:bodyPr>
          <a:lstStyle/>
          <a:p>
            <a:r>
              <a:rPr lang="es-ES" dirty="0" smtClean="0"/>
              <a:t>Cual es la velocidad inicial?</a:t>
            </a:r>
          </a:p>
          <a:p>
            <a:r>
              <a:rPr lang="es-ES" dirty="0" smtClean="0"/>
              <a:t>Consideramos el primer tramo (1 s)</a:t>
            </a:r>
            <a:br>
              <a:rPr lang="es-ES" dirty="0" smtClean="0"/>
            </a:br>
            <a:r>
              <a:rPr lang="es-ES" dirty="0" smtClean="0"/>
              <a:t>	v = v</a:t>
            </a:r>
            <a:r>
              <a:rPr lang="es-ES" baseline="-25000" dirty="0" smtClean="0"/>
              <a:t>0</a:t>
            </a:r>
            <a:r>
              <a:rPr lang="es-ES" dirty="0" smtClean="0"/>
              <a:t> + at</a:t>
            </a:r>
          </a:p>
          <a:p>
            <a:r>
              <a:rPr lang="es-ES" dirty="0" smtClean="0"/>
              <a:t>a = -10 m/s2</a:t>
            </a:r>
          </a:p>
          <a:p>
            <a:r>
              <a:rPr lang="es-ES" dirty="0" smtClean="0"/>
              <a:t>t = 1 s</a:t>
            </a:r>
          </a:p>
          <a:p>
            <a:r>
              <a:rPr lang="es-ES" dirty="0"/>
              <a:t>v</a:t>
            </a:r>
            <a:r>
              <a:rPr lang="es-ES" dirty="0" smtClean="0"/>
              <a:t> = 0 m/s (la velocidad es 0 cuando se alcanza la máxima altura)</a:t>
            </a:r>
          </a:p>
          <a:p>
            <a:r>
              <a:rPr lang="es-ES" dirty="0"/>
              <a:t>v</a:t>
            </a:r>
            <a:r>
              <a:rPr lang="es-ES" dirty="0" smtClean="0"/>
              <a:t> = ? </a:t>
            </a:r>
            <a:endParaRPr lang="es-ES" dirty="0"/>
          </a:p>
        </p:txBody>
      </p:sp>
      <p:pic>
        <p:nvPicPr>
          <p:cNvPr id="5" name="Imagen 4" descr="tiro_vertical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61" y="1859280"/>
            <a:ext cx="2768068" cy="439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9588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Ejemplo: tiro vertical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389120" y="1586752"/>
            <a:ext cx="4368800" cy="5118848"/>
          </a:xfrm>
        </p:spPr>
        <p:txBody>
          <a:bodyPr>
            <a:normAutofit lnSpcReduction="10000"/>
          </a:bodyPr>
          <a:lstStyle/>
          <a:p>
            <a:r>
              <a:rPr lang="es-ES" dirty="0" smtClean="0"/>
              <a:t>Cual es la velocidad inicial?</a:t>
            </a:r>
          </a:p>
          <a:p>
            <a:r>
              <a:rPr lang="es-ES" dirty="0" smtClean="0"/>
              <a:t>Consideramos el primer tramo (1 s)</a:t>
            </a:r>
            <a:br>
              <a:rPr lang="es-ES" dirty="0" smtClean="0"/>
            </a:br>
            <a:r>
              <a:rPr lang="es-ES" dirty="0" smtClean="0"/>
              <a:t>	v = v</a:t>
            </a:r>
            <a:r>
              <a:rPr lang="es-ES" baseline="-25000" dirty="0" smtClean="0"/>
              <a:t>0</a:t>
            </a:r>
            <a:r>
              <a:rPr lang="es-ES" dirty="0" smtClean="0"/>
              <a:t> + at</a:t>
            </a:r>
          </a:p>
          <a:p>
            <a:r>
              <a:rPr lang="es-ES" dirty="0" smtClean="0"/>
              <a:t>a = -10 m/s2</a:t>
            </a:r>
          </a:p>
          <a:p>
            <a:r>
              <a:rPr lang="es-ES" dirty="0" smtClean="0"/>
              <a:t>t = 1 s</a:t>
            </a:r>
          </a:p>
          <a:p>
            <a:r>
              <a:rPr lang="es-ES" dirty="0"/>
              <a:t>v</a:t>
            </a:r>
            <a:r>
              <a:rPr lang="es-ES" dirty="0" smtClean="0"/>
              <a:t> = 0 m/s (la velocidad es 0 cuando se alcanza la máxima altura)</a:t>
            </a:r>
          </a:p>
          <a:p>
            <a:r>
              <a:rPr lang="es-ES" b="1" dirty="0"/>
              <a:t>v</a:t>
            </a:r>
            <a:r>
              <a:rPr lang="es-ES" b="1" dirty="0" smtClean="0"/>
              <a:t> = 10 m/s </a:t>
            </a:r>
            <a:endParaRPr lang="es-ES" b="1" dirty="0"/>
          </a:p>
        </p:txBody>
      </p:sp>
      <p:pic>
        <p:nvPicPr>
          <p:cNvPr id="5" name="Imagen 4" descr="tiro_vertical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61" y="1859280"/>
            <a:ext cx="2768068" cy="439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6844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Ejemplo: tiro vertical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155440" y="1586752"/>
            <a:ext cx="4734560" cy="5118848"/>
          </a:xfrm>
        </p:spPr>
        <p:txBody>
          <a:bodyPr>
            <a:normAutofit fontScale="92500" lnSpcReduction="20000"/>
          </a:bodyPr>
          <a:lstStyle/>
          <a:p>
            <a:r>
              <a:rPr lang="es-ES" dirty="0" smtClean="0"/>
              <a:t>Cual es la altura máxima?</a:t>
            </a:r>
          </a:p>
          <a:p>
            <a:r>
              <a:rPr lang="es-ES" dirty="0" smtClean="0"/>
              <a:t>Consideramos el segundo tramo (2 s)</a:t>
            </a:r>
            <a:br>
              <a:rPr lang="es-ES" dirty="0" smtClean="0"/>
            </a:br>
            <a:r>
              <a:rPr lang="es-ES" dirty="0" smtClean="0"/>
              <a:t>	x = x</a:t>
            </a:r>
            <a:r>
              <a:rPr lang="es-ES" baseline="-25000" dirty="0" smtClean="0"/>
              <a:t>0</a:t>
            </a:r>
            <a:r>
              <a:rPr lang="es-ES" dirty="0" smtClean="0"/>
              <a:t> + v</a:t>
            </a:r>
            <a:r>
              <a:rPr lang="es-ES" baseline="-25000" dirty="0" smtClean="0"/>
              <a:t>0</a:t>
            </a:r>
            <a:r>
              <a:rPr lang="es-ES" dirty="0" smtClean="0"/>
              <a:t>t + ½ at</a:t>
            </a:r>
            <a:r>
              <a:rPr lang="es-ES" baseline="30000" dirty="0" smtClean="0"/>
              <a:t>2</a:t>
            </a:r>
          </a:p>
          <a:p>
            <a:r>
              <a:rPr lang="es-ES" dirty="0" smtClean="0"/>
              <a:t>El objeto cae libremente:</a:t>
            </a:r>
          </a:p>
          <a:p>
            <a:r>
              <a:rPr lang="es-ES" dirty="0"/>
              <a:t>x</a:t>
            </a:r>
            <a:r>
              <a:rPr lang="es-ES" baseline="-25000" dirty="0" smtClean="0"/>
              <a:t>0</a:t>
            </a:r>
            <a:r>
              <a:rPr lang="es-ES" dirty="0" smtClean="0"/>
              <a:t> = h, x = 0 m</a:t>
            </a:r>
          </a:p>
          <a:p>
            <a:r>
              <a:rPr lang="es-ES" dirty="0"/>
              <a:t>v</a:t>
            </a:r>
            <a:r>
              <a:rPr lang="es-ES" baseline="-25000" dirty="0" smtClean="0"/>
              <a:t>0</a:t>
            </a:r>
            <a:r>
              <a:rPr lang="es-ES" dirty="0" smtClean="0"/>
              <a:t> = 0 m/s</a:t>
            </a:r>
          </a:p>
          <a:p>
            <a:r>
              <a:rPr lang="es-ES" dirty="0" smtClean="0"/>
              <a:t>a = -10 m/s2</a:t>
            </a:r>
          </a:p>
          <a:p>
            <a:r>
              <a:rPr lang="es-ES" dirty="0" smtClean="0"/>
              <a:t>t = 2 s</a:t>
            </a:r>
          </a:p>
          <a:p>
            <a:r>
              <a:rPr lang="es-ES" dirty="0" smtClean="0"/>
              <a:t>h = ?</a:t>
            </a:r>
            <a:endParaRPr lang="es-ES" b="1" dirty="0"/>
          </a:p>
        </p:txBody>
      </p:sp>
      <p:pic>
        <p:nvPicPr>
          <p:cNvPr id="5" name="Imagen 4" descr="tiro_vertical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61" y="1859280"/>
            <a:ext cx="2768068" cy="439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50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Ejemplo: tiro vertical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155440" y="1586752"/>
            <a:ext cx="4734560" cy="5118848"/>
          </a:xfrm>
        </p:spPr>
        <p:txBody>
          <a:bodyPr>
            <a:normAutofit fontScale="92500" lnSpcReduction="20000"/>
          </a:bodyPr>
          <a:lstStyle/>
          <a:p>
            <a:r>
              <a:rPr lang="es-ES" dirty="0" smtClean="0"/>
              <a:t>Cual es la altura máxima?</a:t>
            </a:r>
          </a:p>
          <a:p>
            <a:r>
              <a:rPr lang="es-ES" dirty="0" smtClean="0"/>
              <a:t>Consideramos el segundo tramo (2 s)</a:t>
            </a:r>
            <a:br>
              <a:rPr lang="es-ES" dirty="0" smtClean="0"/>
            </a:br>
            <a:r>
              <a:rPr lang="es-ES" dirty="0" smtClean="0"/>
              <a:t>	x = x</a:t>
            </a:r>
            <a:r>
              <a:rPr lang="es-ES" baseline="-25000" dirty="0" smtClean="0"/>
              <a:t>0</a:t>
            </a:r>
            <a:r>
              <a:rPr lang="es-ES" dirty="0" smtClean="0"/>
              <a:t> + v</a:t>
            </a:r>
            <a:r>
              <a:rPr lang="es-ES" baseline="-25000" dirty="0" smtClean="0"/>
              <a:t>0</a:t>
            </a:r>
            <a:r>
              <a:rPr lang="es-ES" dirty="0" smtClean="0"/>
              <a:t>t + ½ at</a:t>
            </a:r>
            <a:r>
              <a:rPr lang="es-ES" baseline="30000" dirty="0" smtClean="0"/>
              <a:t>2</a:t>
            </a:r>
          </a:p>
          <a:p>
            <a:r>
              <a:rPr lang="es-ES" dirty="0" smtClean="0"/>
              <a:t>El objeto cae libremente:</a:t>
            </a:r>
          </a:p>
          <a:p>
            <a:r>
              <a:rPr lang="es-ES" dirty="0"/>
              <a:t>x</a:t>
            </a:r>
            <a:r>
              <a:rPr lang="es-ES" baseline="-25000" dirty="0" smtClean="0"/>
              <a:t>0</a:t>
            </a:r>
            <a:r>
              <a:rPr lang="es-ES" dirty="0" smtClean="0"/>
              <a:t> = h, x = 0 m</a:t>
            </a:r>
          </a:p>
          <a:p>
            <a:r>
              <a:rPr lang="es-ES" dirty="0"/>
              <a:t>v</a:t>
            </a:r>
            <a:r>
              <a:rPr lang="es-ES" baseline="-25000" dirty="0" smtClean="0"/>
              <a:t>0</a:t>
            </a:r>
            <a:r>
              <a:rPr lang="es-ES" dirty="0" smtClean="0"/>
              <a:t> = 0 m/s</a:t>
            </a:r>
          </a:p>
          <a:p>
            <a:r>
              <a:rPr lang="es-ES" dirty="0" smtClean="0"/>
              <a:t>a = -10 m/s2</a:t>
            </a:r>
          </a:p>
          <a:p>
            <a:r>
              <a:rPr lang="es-ES" dirty="0" smtClean="0"/>
              <a:t>t = 2 s</a:t>
            </a:r>
          </a:p>
          <a:p>
            <a:r>
              <a:rPr lang="es-ES" b="1" dirty="0" smtClean="0"/>
              <a:t>h = 20 m</a:t>
            </a:r>
            <a:endParaRPr lang="es-ES" b="1" dirty="0"/>
          </a:p>
        </p:txBody>
      </p:sp>
      <p:pic>
        <p:nvPicPr>
          <p:cNvPr id="5" name="Imagen 4" descr="tiro_vertical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61" y="1859280"/>
            <a:ext cx="2768068" cy="439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01950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Ejemplo: tiro vertical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155440" y="1586752"/>
            <a:ext cx="4734560" cy="5118848"/>
          </a:xfrm>
        </p:spPr>
        <p:txBody>
          <a:bodyPr>
            <a:normAutofit fontScale="92500" lnSpcReduction="10000"/>
          </a:bodyPr>
          <a:lstStyle/>
          <a:p>
            <a:r>
              <a:rPr lang="es-ES" dirty="0" smtClean="0"/>
              <a:t>Cual es la velocidad cuando llega al piso?</a:t>
            </a:r>
          </a:p>
          <a:p>
            <a:r>
              <a:rPr lang="es-ES" dirty="0" smtClean="0"/>
              <a:t>Consideramos el segundo tramo (2 s)</a:t>
            </a:r>
            <a:br>
              <a:rPr lang="es-ES" dirty="0" smtClean="0"/>
            </a:br>
            <a:r>
              <a:rPr lang="es-ES" dirty="0" smtClean="0"/>
              <a:t>	v = v</a:t>
            </a:r>
            <a:r>
              <a:rPr lang="es-ES" baseline="-25000" dirty="0" smtClean="0"/>
              <a:t>0</a:t>
            </a:r>
            <a:r>
              <a:rPr lang="es-ES" dirty="0" smtClean="0"/>
              <a:t> + at</a:t>
            </a:r>
            <a:endParaRPr lang="es-ES" baseline="30000" dirty="0" smtClean="0"/>
          </a:p>
          <a:p>
            <a:r>
              <a:rPr lang="es-ES" dirty="0" smtClean="0"/>
              <a:t>El objeto cae libremente:</a:t>
            </a:r>
          </a:p>
          <a:p>
            <a:r>
              <a:rPr lang="es-ES" dirty="0" smtClean="0"/>
              <a:t>v</a:t>
            </a:r>
            <a:r>
              <a:rPr lang="es-ES" baseline="-25000" dirty="0" smtClean="0"/>
              <a:t>0</a:t>
            </a:r>
            <a:r>
              <a:rPr lang="es-ES" dirty="0" smtClean="0"/>
              <a:t> = 0 m/s</a:t>
            </a:r>
          </a:p>
          <a:p>
            <a:r>
              <a:rPr lang="es-ES" dirty="0" smtClean="0"/>
              <a:t>a = -10 m/s2</a:t>
            </a:r>
          </a:p>
          <a:p>
            <a:r>
              <a:rPr lang="es-ES" dirty="0" smtClean="0"/>
              <a:t>t = 2 s</a:t>
            </a:r>
          </a:p>
          <a:p>
            <a:r>
              <a:rPr lang="es-ES" b="1" dirty="0" smtClean="0"/>
              <a:t>v = ?</a:t>
            </a:r>
            <a:endParaRPr lang="es-ES" b="1" dirty="0"/>
          </a:p>
        </p:txBody>
      </p:sp>
      <p:pic>
        <p:nvPicPr>
          <p:cNvPr id="5" name="Imagen 4" descr="tiro_vertical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61" y="1859280"/>
            <a:ext cx="2768068" cy="439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9323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Ejemplo: tiro vertical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155440" y="1586752"/>
            <a:ext cx="4734560" cy="5118848"/>
          </a:xfrm>
        </p:spPr>
        <p:txBody>
          <a:bodyPr>
            <a:normAutofit fontScale="92500" lnSpcReduction="10000"/>
          </a:bodyPr>
          <a:lstStyle/>
          <a:p>
            <a:r>
              <a:rPr lang="es-ES" dirty="0" smtClean="0"/>
              <a:t>Cual es la velocidad cuando llega al piso?</a:t>
            </a:r>
          </a:p>
          <a:p>
            <a:r>
              <a:rPr lang="es-ES" dirty="0" smtClean="0"/>
              <a:t>Consideramos el segundo tramo (2 s)</a:t>
            </a:r>
            <a:br>
              <a:rPr lang="es-ES" dirty="0" smtClean="0"/>
            </a:br>
            <a:r>
              <a:rPr lang="es-ES" dirty="0" smtClean="0"/>
              <a:t>	v = v</a:t>
            </a:r>
            <a:r>
              <a:rPr lang="es-ES" baseline="-25000" dirty="0" smtClean="0"/>
              <a:t>0</a:t>
            </a:r>
            <a:r>
              <a:rPr lang="es-ES" dirty="0" smtClean="0"/>
              <a:t> + at</a:t>
            </a:r>
            <a:endParaRPr lang="es-ES" baseline="30000" dirty="0" smtClean="0"/>
          </a:p>
          <a:p>
            <a:r>
              <a:rPr lang="es-ES" dirty="0" smtClean="0"/>
              <a:t>El objeto cae libremente:</a:t>
            </a:r>
          </a:p>
          <a:p>
            <a:r>
              <a:rPr lang="es-ES" dirty="0" smtClean="0"/>
              <a:t>v</a:t>
            </a:r>
            <a:r>
              <a:rPr lang="es-ES" baseline="-25000" dirty="0" smtClean="0"/>
              <a:t>0</a:t>
            </a:r>
            <a:r>
              <a:rPr lang="es-ES" dirty="0" smtClean="0"/>
              <a:t> = 0 m/s</a:t>
            </a:r>
          </a:p>
          <a:p>
            <a:r>
              <a:rPr lang="es-ES" dirty="0" smtClean="0"/>
              <a:t>a = -10 m/s2</a:t>
            </a:r>
          </a:p>
          <a:p>
            <a:r>
              <a:rPr lang="es-ES" dirty="0" smtClean="0"/>
              <a:t>t = 2 s</a:t>
            </a:r>
          </a:p>
          <a:p>
            <a:r>
              <a:rPr lang="es-ES" b="1" dirty="0" smtClean="0"/>
              <a:t>v = -20 m/s</a:t>
            </a:r>
            <a:endParaRPr lang="es-ES" b="1" dirty="0"/>
          </a:p>
        </p:txBody>
      </p:sp>
      <p:pic>
        <p:nvPicPr>
          <p:cNvPr id="5" name="Imagen 4" descr="tiro_vertical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61" y="1859280"/>
            <a:ext cx="2768068" cy="439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92602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598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0700"/>
            <a:ext cx="7620000" cy="5816600"/>
          </a:xfrm>
          <a:prstGeom prst="rect">
            <a:avLst/>
          </a:prstGeom>
        </p:spPr>
      </p:pic>
      <p:graphicFrame>
        <p:nvGraphicFramePr>
          <p:cNvPr id="3993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917441"/>
              </p:ext>
            </p:extLst>
          </p:nvPr>
        </p:nvGraphicFramePr>
        <p:xfrm>
          <a:off x="6397012" y="702676"/>
          <a:ext cx="2513945" cy="939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9" name="Ecuación" r:id="rId4" imgW="1155700" imgH="431800" progId="Equation.3">
                  <p:embed/>
                </p:oleObj>
              </mc:Choice>
              <mc:Fallback>
                <p:oleObj name="Ecuación" r:id="rId4" imgW="11557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7012" y="702676"/>
                        <a:ext cx="2513945" cy="93922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4675" y="46600"/>
            <a:ext cx="7058416" cy="97232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" sz="4000" dirty="0" smtClean="0"/>
              <a:t>Aceleración promedio</a:t>
            </a:r>
          </a:p>
        </p:txBody>
      </p:sp>
    </p:spTree>
    <p:extLst>
      <p:ext uri="{BB962C8B-B14F-4D97-AF65-F5344CB8AC3E}">
        <p14:creationId xmlns:p14="http://schemas.microsoft.com/office/powerpoint/2010/main" val="7924066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0700"/>
            <a:ext cx="7620000" cy="5816600"/>
          </a:xfrm>
          <a:prstGeom prst="rect">
            <a:avLst/>
          </a:prstGeom>
        </p:spPr>
      </p:pic>
      <p:graphicFrame>
        <p:nvGraphicFramePr>
          <p:cNvPr id="3993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8237294"/>
              </p:ext>
            </p:extLst>
          </p:nvPr>
        </p:nvGraphicFramePr>
        <p:xfrm>
          <a:off x="6397012" y="702676"/>
          <a:ext cx="2513945" cy="939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6" name="Ecuación" r:id="rId4" imgW="1155700" imgH="431800" progId="Equation.3">
                  <p:embed/>
                </p:oleObj>
              </mc:Choice>
              <mc:Fallback>
                <p:oleObj name="Ecuación" r:id="rId4" imgW="11557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7012" y="702676"/>
                        <a:ext cx="2513945" cy="93922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4675" y="46600"/>
            <a:ext cx="7058416" cy="97232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" sz="4000" dirty="0" smtClean="0"/>
              <a:t>Aceleración promedio</a:t>
            </a:r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8955082"/>
              </p:ext>
            </p:extLst>
          </p:nvPr>
        </p:nvGraphicFramePr>
        <p:xfrm>
          <a:off x="7571170" y="1946703"/>
          <a:ext cx="9382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7" name="Ecuación" r:id="rId6" imgW="431800" imgH="215900" progId="Equation.3">
                  <p:embed/>
                </p:oleObj>
              </mc:Choice>
              <mc:Fallback>
                <p:oleObj name="Ecuación" r:id="rId6" imgW="4318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1170" y="1946703"/>
                        <a:ext cx="938213" cy="469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8179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0700"/>
            <a:ext cx="7620000" cy="5816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4675" y="46600"/>
            <a:ext cx="7058416" cy="97232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" sz="4000" dirty="0" smtClean="0"/>
              <a:t>Aceleración promedio</a:t>
            </a:r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401750"/>
              </p:ext>
            </p:extLst>
          </p:nvPr>
        </p:nvGraphicFramePr>
        <p:xfrm>
          <a:off x="7404100" y="1018923"/>
          <a:ext cx="6350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49" name="Ecuación" r:id="rId4" imgW="292100" imgH="203200" progId="Equation.3">
                  <p:embed/>
                </p:oleObj>
              </mc:Choice>
              <mc:Fallback>
                <p:oleObj name="Ecuación" r:id="rId4" imgW="2921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4100" y="1018923"/>
                        <a:ext cx="635000" cy="4413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05916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0700"/>
            <a:ext cx="7620000" cy="5816600"/>
          </a:xfrm>
          <a:prstGeom prst="rect">
            <a:avLst/>
          </a:prstGeom>
        </p:spPr>
      </p:pic>
      <p:graphicFrame>
        <p:nvGraphicFramePr>
          <p:cNvPr id="3993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0148998"/>
              </p:ext>
            </p:extLst>
          </p:nvPr>
        </p:nvGraphicFramePr>
        <p:xfrm>
          <a:off x="6397012" y="702676"/>
          <a:ext cx="2513945" cy="939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64" name="Ecuación" r:id="rId4" imgW="1155700" imgH="431800" progId="Equation.3">
                  <p:embed/>
                </p:oleObj>
              </mc:Choice>
              <mc:Fallback>
                <p:oleObj name="Ecuación" r:id="rId4" imgW="11557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7012" y="702676"/>
                        <a:ext cx="2513945" cy="93922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4675" y="46600"/>
            <a:ext cx="7058416" cy="97232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" sz="4000" dirty="0" smtClean="0"/>
              <a:t>Aceleración promedio</a:t>
            </a:r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280894"/>
              </p:ext>
            </p:extLst>
          </p:nvPr>
        </p:nvGraphicFramePr>
        <p:xfrm>
          <a:off x="7556500" y="1960563"/>
          <a:ext cx="96678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65" name="Ecuación" r:id="rId6" imgW="444500" imgH="203200" progId="Equation.3">
                  <p:embed/>
                </p:oleObj>
              </mc:Choice>
              <mc:Fallback>
                <p:oleObj name="Ecuación" r:id="rId6" imgW="4445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0" y="1960563"/>
                        <a:ext cx="966788" cy="4413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52279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0700"/>
            <a:ext cx="7620000" cy="5816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4675" y="46600"/>
            <a:ext cx="7058416" cy="97232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" sz="4000" dirty="0" smtClean="0"/>
              <a:t>Aceleración instantánea</a:t>
            </a:r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0416583"/>
              </p:ext>
            </p:extLst>
          </p:nvPr>
        </p:nvGraphicFramePr>
        <p:xfrm>
          <a:off x="7222391" y="1176739"/>
          <a:ext cx="1561226" cy="896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03" name="Ecuación" r:id="rId4" imgW="685800" imgH="393700" progId="Equation.3">
                  <p:embed/>
                </p:oleObj>
              </mc:Choice>
              <mc:Fallback>
                <p:oleObj name="Ecuación" r:id="rId4" imgW="685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2391" y="1176739"/>
                        <a:ext cx="1561226" cy="89675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87472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0700"/>
            <a:ext cx="7620000" cy="5816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4675" y="46600"/>
            <a:ext cx="7058416" cy="97232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" sz="4000" dirty="0" smtClean="0"/>
              <a:t>Aceleración instantánea</a:t>
            </a:r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459774"/>
              </p:ext>
            </p:extLst>
          </p:nvPr>
        </p:nvGraphicFramePr>
        <p:xfrm>
          <a:off x="7222391" y="1176739"/>
          <a:ext cx="1561226" cy="896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12" name="Ecuación" r:id="rId4" imgW="685800" imgH="393700" progId="Equation.3">
                  <p:embed/>
                </p:oleObj>
              </mc:Choice>
              <mc:Fallback>
                <p:oleObj name="Ecuación" r:id="rId4" imgW="685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2391" y="1176739"/>
                        <a:ext cx="1561226" cy="89675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6352898"/>
              </p:ext>
            </p:extLst>
          </p:nvPr>
        </p:nvGraphicFramePr>
        <p:xfrm>
          <a:off x="7222391" y="2073491"/>
          <a:ext cx="1819688" cy="882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13" name="Ecuación" r:id="rId6" imgW="838200" imgH="406400" progId="Equation.3">
                  <p:embed/>
                </p:oleObj>
              </mc:Choice>
              <mc:Fallback>
                <p:oleObj name="Ecuación" r:id="rId6" imgW="8382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2391" y="2073491"/>
                        <a:ext cx="1819688" cy="88230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431333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0700"/>
            <a:ext cx="7620000" cy="5816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511" y="-170590"/>
            <a:ext cx="7058416" cy="972323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" sz="4000" dirty="0" smtClean="0"/>
              <a:t>Aceleración: velocidad constante</a:t>
            </a:r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691569"/>
              </p:ext>
            </p:extLst>
          </p:nvPr>
        </p:nvGraphicFramePr>
        <p:xfrm>
          <a:off x="7222391" y="2178715"/>
          <a:ext cx="1561226" cy="896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67" name="Ecuación" r:id="rId4" imgW="685800" imgH="393700" progId="Equation.3">
                  <p:embed/>
                </p:oleObj>
              </mc:Choice>
              <mc:Fallback>
                <p:oleObj name="Ecuación" r:id="rId4" imgW="685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2391" y="2178715"/>
                        <a:ext cx="1561226" cy="89675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4284755"/>
              </p:ext>
            </p:extLst>
          </p:nvPr>
        </p:nvGraphicFramePr>
        <p:xfrm>
          <a:off x="7222391" y="3215278"/>
          <a:ext cx="1819688" cy="882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68" name="Ecuación" r:id="rId6" imgW="838200" imgH="406400" progId="Equation.3">
                  <p:embed/>
                </p:oleObj>
              </mc:Choice>
              <mc:Fallback>
                <p:oleObj name="Ecuación" r:id="rId6" imgW="8382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2391" y="3215278"/>
                        <a:ext cx="1819688" cy="88230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2749856"/>
              </p:ext>
            </p:extLst>
          </p:nvPr>
        </p:nvGraphicFramePr>
        <p:xfrm>
          <a:off x="7038665" y="1352608"/>
          <a:ext cx="2003414" cy="826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69" name="Ecuación" r:id="rId8" imgW="952500" imgH="393700" progId="Equation.3">
                  <p:embed/>
                </p:oleObj>
              </mc:Choice>
              <mc:Fallback>
                <p:oleObj name="Ecuación" r:id="rId8" imgW="9525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8665" y="1352608"/>
                        <a:ext cx="2003414" cy="82610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908989"/>
              </p:ext>
            </p:extLst>
          </p:nvPr>
        </p:nvGraphicFramePr>
        <p:xfrm>
          <a:off x="7299027" y="4271963"/>
          <a:ext cx="892428" cy="479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70" name="EcuaciÛn" r:id="rId10" imgW="330200" imgH="177800" progId="Equation.3">
                  <p:embed/>
                </p:oleObj>
              </mc:Choice>
              <mc:Fallback>
                <p:oleObj name="EcuaciÛn" r:id="rId10" imgW="330200" imgH="177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9027" y="4271963"/>
                        <a:ext cx="892428" cy="47977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79123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20700"/>
            <a:ext cx="7620000" cy="5816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511" y="-170590"/>
            <a:ext cx="7058416" cy="972323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ES" sz="4000" dirty="0" smtClean="0"/>
              <a:t>Aceleración: velocidad constante</a:t>
            </a:r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017720"/>
              </p:ext>
            </p:extLst>
          </p:nvPr>
        </p:nvGraphicFramePr>
        <p:xfrm>
          <a:off x="7222391" y="2178715"/>
          <a:ext cx="1561226" cy="896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91" name="Ecuación" r:id="rId4" imgW="685800" imgH="393700" progId="Equation.3">
                  <p:embed/>
                </p:oleObj>
              </mc:Choice>
              <mc:Fallback>
                <p:oleObj name="Ecuación" r:id="rId4" imgW="685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2391" y="2178715"/>
                        <a:ext cx="1561226" cy="89675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305428"/>
              </p:ext>
            </p:extLst>
          </p:nvPr>
        </p:nvGraphicFramePr>
        <p:xfrm>
          <a:off x="7222391" y="3215278"/>
          <a:ext cx="1819688" cy="882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92" name="Ecuación" r:id="rId6" imgW="838200" imgH="406400" progId="Equation.3">
                  <p:embed/>
                </p:oleObj>
              </mc:Choice>
              <mc:Fallback>
                <p:oleObj name="Ecuación" r:id="rId6" imgW="8382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2391" y="3215278"/>
                        <a:ext cx="1819688" cy="88230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1761375"/>
              </p:ext>
            </p:extLst>
          </p:nvPr>
        </p:nvGraphicFramePr>
        <p:xfrm>
          <a:off x="7038665" y="1352608"/>
          <a:ext cx="2003414" cy="826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93" name="Ecuación" r:id="rId8" imgW="952500" imgH="393700" progId="Equation.3">
                  <p:embed/>
                </p:oleObj>
              </mc:Choice>
              <mc:Fallback>
                <p:oleObj name="Ecuación" r:id="rId8" imgW="9525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8665" y="1352608"/>
                        <a:ext cx="2003414" cy="82610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1508612"/>
              </p:ext>
            </p:extLst>
          </p:nvPr>
        </p:nvGraphicFramePr>
        <p:xfrm>
          <a:off x="7276936" y="4289425"/>
          <a:ext cx="9604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94" name="EcuaciÛn" r:id="rId10" imgW="355600" imgH="165100" progId="Equation.3">
                  <p:embed/>
                </p:oleObj>
              </mc:Choice>
              <mc:Fallback>
                <p:oleObj name="EcuaciÛn" r:id="rId10" imgW="355600" imgH="165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6936" y="4289425"/>
                        <a:ext cx="960437" cy="4445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37008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Aceleración constante (1)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s-CO" dirty="0" smtClean="0"/>
              <a:t>Ecuación del movimiento de un objeto:</a:t>
            </a:r>
          </a:p>
          <a:p>
            <a:pPr>
              <a:buNone/>
            </a:pPr>
            <a:r>
              <a:rPr lang="es-CO" dirty="0" smtClean="0"/>
              <a:t>x = 8 – 6t + t</a:t>
            </a:r>
            <a:r>
              <a:rPr lang="es-CO" baseline="30000" dirty="0" smtClean="0"/>
              <a:t>2</a:t>
            </a:r>
            <a:endParaRPr lang="es-CO" dirty="0" smtClean="0"/>
          </a:p>
          <a:p>
            <a:pPr>
              <a:buNone/>
            </a:pPr>
            <a:r>
              <a:rPr lang="es-CO" dirty="0" smtClean="0"/>
              <a:t>v = -6 + 2t</a:t>
            </a:r>
          </a:p>
          <a:p>
            <a:pPr>
              <a:buNone/>
            </a:pPr>
            <a:r>
              <a:rPr lang="es-CO" dirty="0" smtClean="0"/>
              <a:t>a = 2</a:t>
            </a:r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r>
              <a:rPr lang="es-CO" dirty="0" smtClean="0"/>
              <a:t>t = 0:		x=8	v=-6	a=2</a:t>
            </a:r>
          </a:p>
          <a:p>
            <a:pPr>
              <a:buNone/>
            </a:pPr>
            <a:r>
              <a:rPr lang="es-CO" dirty="0" smtClean="0"/>
              <a:t>x = 0:		t</a:t>
            </a:r>
            <a:r>
              <a:rPr lang="es-CO" baseline="-25000" dirty="0" smtClean="0"/>
              <a:t>1</a:t>
            </a:r>
            <a:r>
              <a:rPr lang="es-CO" dirty="0" smtClean="0"/>
              <a:t>=2 y t</a:t>
            </a:r>
            <a:r>
              <a:rPr lang="es-CO" baseline="-25000" dirty="0" smtClean="0"/>
              <a:t>2</a:t>
            </a:r>
            <a:r>
              <a:rPr lang="es-CO" dirty="0" smtClean="0"/>
              <a:t>=4</a:t>
            </a:r>
          </a:p>
          <a:p>
            <a:pPr>
              <a:buNone/>
            </a:pPr>
            <a:r>
              <a:rPr lang="es-CO" dirty="0" smtClean="0"/>
              <a:t>v = 0:		t=3	x=-1</a:t>
            </a:r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5818521"/>
              </p:ext>
            </p:extLst>
          </p:nvPr>
        </p:nvGraphicFramePr>
        <p:xfrm>
          <a:off x="3652343" y="2224859"/>
          <a:ext cx="4703981" cy="972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45" name="EcuaciÛn" r:id="rId3" imgW="1905000" imgH="393700" progId="Equation.3">
                  <p:embed/>
                </p:oleObj>
              </mc:Choice>
              <mc:Fallback>
                <p:oleObj name="EcuaciÛn" r:id="rId3" imgW="1905000" imgH="3937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52343" y="2224859"/>
                        <a:ext cx="4703981" cy="9721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Aceleración constante (2)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CO" dirty="0" smtClean="0"/>
              <a:t>x = C</a:t>
            </a:r>
            <a:r>
              <a:rPr lang="es-CO" baseline="-25000" dirty="0" smtClean="0"/>
              <a:t>1</a:t>
            </a:r>
            <a:r>
              <a:rPr lang="es-CO" dirty="0" smtClean="0"/>
              <a:t> + C</a:t>
            </a:r>
            <a:r>
              <a:rPr lang="es-CO" baseline="-25000" dirty="0" smtClean="0"/>
              <a:t>2 </a:t>
            </a:r>
            <a:r>
              <a:rPr lang="es-CO" dirty="0" smtClean="0"/>
              <a:t>t + C</a:t>
            </a:r>
            <a:r>
              <a:rPr lang="es-CO" baseline="-25000" dirty="0" smtClean="0"/>
              <a:t>3 </a:t>
            </a:r>
            <a:r>
              <a:rPr lang="es-CO" dirty="0" smtClean="0"/>
              <a:t>t</a:t>
            </a:r>
            <a:r>
              <a:rPr lang="es-CO" baseline="30000" dirty="0" smtClean="0"/>
              <a:t>2	</a:t>
            </a:r>
            <a:r>
              <a:rPr lang="es-CO" dirty="0" smtClean="0"/>
              <a:t>				C</a:t>
            </a:r>
            <a:r>
              <a:rPr lang="es-CO" baseline="-25000" dirty="0" smtClean="0"/>
              <a:t>1</a:t>
            </a:r>
            <a:r>
              <a:rPr lang="es-CO" dirty="0" smtClean="0"/>
              <a:t> = x</a:t>
            </a:r>
            <a:r>
              <a:rPr lang="es-CO" baseline="-25000" dirty="0" smtClean="0"/>
              <a:t>0</a:t>
            </a:r>
          </a:p>
          <a:p>
            <a:pPr>
              <a:buNone/>
            </a:pPr>
            <a:r>
              <a:rPr lang="es-CO" dirty="0" smtClean="0"/>
              <a:t>v = C</a:t>
            </a:r>
            <a:r>
              <a:rPr lang="es-CO" baseline="-25000" dirty="0" smtClean="0"/>
              <a:t>2</a:t>
            </a:r>
            <a:r>
              <a:rPr lang="es-CO" dirty="0" smtClean="0"/>
              <a:t> + 2 C</a:t>
            </a:r>
            <a:r>
              <a:rPr lang="es-CO" baseline="-25000" dirty="0" smtClean="0"/>
              <a:t>3</a:t>
            </a:r>
            <a:r>
              <a:rPr lang="es-CO" dirty="0" smtClean="0"/>
              <a:t> t						C</a:t>
            </a:r>
            <a:r>
              <a:rPr lang="es-CO" baseline="-25000" dirty="0" smtClean="0"/>
              <a:t>2</a:t>
            </a:r>
            <a:r>
              <a:rPr lang="es-CO" dirty="0" smtClean="0"/>
              <a:t> = v</a:t>
            </a:r>
            <a:r>
              <a:rPr lang="es-CO" baseline="-25000" dirty="0" smtClean="0"/>
              <a:t>0</a:t>
            </a:r>
          </a:p>
          <a:p>
            <a:pPr>
              <a:buNone/>
            </a:pPr>
            <a:r>
              <a:rPr lang="es-CO" dirty="0" smtClean="0"/>
              <a:t>a = 2 C</a:t>
            </a:r>
            <a:r>
              <a:rPr lang="es-CO" baseline="-25000" dirty="0" smtClean="0"/>
              <a:t>3</a:t>
            </a:r>
            <a:r>
              <a:rPr lang="es-CO" dirty="0" smtClean="0"/>
              <a:t>								C</a:t>
            </a:r>
            <a:r>
              <a:rPr lang="es-CO" baseline="-25000" dirty="0" smtClean="0"/>
              <a:t>3</a:t>
            </a:r>
            <a:r>
              <a:rPr lang="es-CO" dirty="0" smtClean="0"/>
              <a:t> = ½ a</a:t>
            </a:r>
            <a:endParaRPr lang="es-CO" baseline="-25000" dirty="0" smtClean="0"/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r>
              <a:rPr lang="es-CO" dirty="0" smtClean="0"/>
              <a:t>						</a:t>
            </a:r>
            <a:r>
              <a:rPr lang="es-CO" b="1" dirty="0" smtClean="0"/>
              <a:t>x = x</a:t>
            </a:r>
            <a:r>
              <a:rPr lang="es-CO" b="1" baseline="-25000" dirty="0" smtClean="0"/>
              <a:t>0</a:t>
            </a:r>
            <a:r>
              <a:rPr lang="es-CO" b="1" dirty="0" smtClean="0"/>
              <a:t> + v</a:t>
            </a:r>
            <a:r>
              <a:rPr lang="es-CO" b="1" baseline="-25000" dirty="0" smtClean="0"/>
              <a:t>0</a:t>
            </a:r>
            <a:r>
              <a:rPr lang="es-CO" b="1" dirty="0" smtClean="0"/>
              <a:t> t + ½ a t</a:t>
            </a:r>
            <a:r>
              <a:rPr lang="es-CO" b="1" baseline="30000" dirty="0" smtClean="0"/>
              <a:t>2</a:t>
            </a:r>
            <a:r>
              <a:rPr lang="es-CO" b="1" dirty="0" smtClean="0"/>
              <a:t> </a:t>
            </a:r>
          </a:p>
          <a:p>
            <a:pPr>
              <a:buNone/>
            </a:pPr>
            <a:r>
              <a:rPr lang="es-CO" b="1" dirty="0" smtClean="0"/>
              <a:t>						v = v</a:t>
            </a:r>
            <a:r>
              <a:rPr lang="es-CO" b="1" baseline="-25000" dirty="0" smtClean="0"/>
              <a:t>0</a:t>
            </a:r>
            <a:r>
              <a:rPr lang="es-CO" b="1" dirty="0" smtClean="0"/>
              <a:t> + at</a:t>
            </a:r>
            <a:endParaRPr lang="es-CO" b="1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s-ES_tradnl" smtClean="0"/>
              <a:t>Preguntas conceptuales</a:t>
            </a:r>
          </a:p>
        </p:txBody>
      </p:sp>
      <p:sp>
        <p:nvSpPr>
          <p:cNvPr id="819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s-ES_tradnl" dirty="0" smtClean="0">
                <a:solidFill>
                  <a:srgbClr val="898989"/>
                </a:solidFill>
              </a:rPr>
              <a:t>Cinemática 1D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2400" dirty="0"/>
              <a:t>¿En cuál de las siguientes pendientes mostradas en la figura la bola rueda con rapidez en aumento y aceleración en disminución?</a:t>
            </a:r>
            <a:r>
              <a:rPr lang="es-CO" sz="2400" dirty="0"/>
              <a:t/>
            </a:r>
            <a:br>
              <a:rPr lang="es-CO" sz="2400" dirty="0"/>
            </a:br>
            <a:endParaRPr lang="en-US" sz="24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2530624" cy="2260848"/>
          </a:xfrm>
        </p:spPr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s-MX" dirty="0"/>
              <a:t>A</a:t>
            </a:r>
            <a:endParaRPr lang="es-CO" dirty="0"/>
          </a:p>
          <a:p>
            <a:pPr marL="514350" lvl="0" indent="-514350">
              <a:buFont typeface="+mj-lt"/>
              <a:buAutoNum type="arabicPeriod"/>
            </a:pPr>
            <a:r>
              <a:rPr lang="es-MX" dirty="0"/>
              <a:t>B</a:t>
            </a:r>
            <a:endParaRPr lang="es-CO" dirty="0"/>
          </a:p>
          <a:p>
            <a:pPr marL="514350" lvl="0" indent="-514350">
              <a:buFont typeface="+mj-lt"/>
              <a:buAutoNum type="arabicPeriod"/>
            </a:pPr>
            <a:r>
              <a:rPr lang="es-MX" dirty="0" smtClean="0"/>
              <a:t>C</a:t>
            </a:r>
            <a:endParaRPr lang="es-CO" dirty="0"/>
          </a:p>
        </p:txBody>
      </p:sp>
      <p:pic>
        <p:nvPicPr>
          <p:cNvPr id="4" name="3 Imagen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7864" y="1772816"/>
            <a:ext cx="4999977" cy="1671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95536" y="1052736"/>
            <a:ext cx="8229600" cy="1143000"/>
          </a:xfrm>
        </p:spPr>
        <p:txBody>
          <a:bodyPr>
            <a:noAutofit/>
          </a:bodyPr>
          <a:lstStyle/>
          <a:p>
            <a:r>
              <a:rPr lang="es-MX" sz="2400" dirty="0"/>
              <a:t>Un objeto se mueve hacia la izquierda y se le empieza a  aplicar una fuerza constante hacia la derecha. En relación a las direcciones de la velocidad y la aceleración podemos afirmar:</a:t>
            </a:r>
            <a:r>
              <a:rPr lang="es-CO" sz="2400" dirty="0"/>
              <a:t/>
            </a:r>
            <a:br>
              <a:rPr lang="es-CO" sz="2400" dirty="0"/>
            </a:br>
            <a:r>
              <a:rPr lang="es-CO" sz="2400" dirty="0"/>
              <a:t/>
            </a:r>
            <a:br>
              <a:rPr lang="es-CO" sz="2400" dirty="0"/>
            </a:br>
            <a:r>
              <a:rPr lang="es-CO" sz="2400" dirty="0"/>
              <a:t/>
            </a:r>
            <a:br>
              <a:rPr lang="es-CO" sz="2400" dirty="0"/>
            </a:br>
            <a:r>
              <a:rPr lang="es-CO" sz="2400" dirty="0"/>
              <a:t/>
            </a:r>
            <a:br>
              <a:rPr lang="es-CO" sz="2400" dirty="0"/>
            </a:br>
            <a:endParaRPr lang="en-US" sz="24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11560" y="1628800"/>
            <a:ext cx="8219256" cy="4525963"/>
          </a:xfrm>
        </p:spPr>
        <p:txBody>
          <a:bodyPr>
            <a:normAutofit fontScale="85000" lnSpcReduction="20000"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s-MX" sz="2400" dirty="0"/>
              <a:t>Que ambas direcciones son hacia la derecha porque es la dirección de la fuerza</a:t>
            </a:r>
            <a:endParaRPr lang="es-CO" sz="2400" dirty="0"/>
          </a:p>
          <a:p>
            <a:pPr marL="457200" lvl="0" indent="-457200">
              <a:buFont typeface="+mj-lt"/>
              <a:buAutoNum type="arabicPeriod"/>
            </a:pPr>
            <a:r>
              <a:rPr lang="es-MX" sz="2400" dirty="0"/>
              <a:t>Que ambas direcciones son hacia la </a:t>
            </a:r>
            <a:r>
              <a:rPr lang="es-MX" sz="2400" dirty="0" smtClean="0"/>
              <a:t>izquierda </a:t>
            </a:r>
            <a:r>
              <a:rPr lang="es-MX" sz="2400" dirty="0"/>
              <a:t>porque es la dirección de movimiento</a:t>
            </a:r>
            <a:endParaRPr lang="es-CO" sz="2400" dirty="0"/>
          </a:p>
          <a:p>
            <a:pPr marL="457200" lvl="0" indent="-457200">
              <a:buFont typeface="+mj-lt"/>
              <a:buAutoNum type="arabicPeriod"/>
            </a:pPr>
            <a:r>
              <a:rPr lang="es-MX" sz="2400" dirty="0"/>
              <a:t>Que la dirección de la velocidad es hacia la derecha y la dirección de la aceleración a la izquierda porque son las direcciones de la fuerza y el movimiento, respectivamente</a:t>
            </a:r>
            <a:endParaRPr lang="es-CO" sz="2400" dirty="0"/>
          </a:p>
          <a:p>
            <a:pPr marL="457200" lvl="0" indent="-457200">
              <a:buFont typeface="+mj-lt"/>
              <a:buAutoNum type="arabicPeriod"/>
            </a:pPr>
            <a:r>
              <a:rPr lang="es-MX" sz="2400" dirty="0"/>
              <a:t>Que la dirección de la velocidad es la misma del dirección del movimiento y la dirección de la aceleración es la misma de la dirección de la fuerza porque la fuerza es quien cambia el movimiento.</a:t>
            </a:r>
            <a:endParaRPr lang="es-CO" sz="2400" dirty="0"/>
          </a:p>
          <a:p>
            <a:pPr marL="457200" lvl="0" indent="-457200">
              <a:buFont typeface="+mj-lt"/>
              <a:buAutoNum type="arabicPeriod"/>
            </a:pPr>
            <a:r>
              <a:rPr lang="es-MX" sz="2400" dirty="0"/>
              <a:t>Que no podemos decir nada de las direcciones de estas dos magnitudes porque todas son independientes.</a:t>
            </a:r>
            <a:endParaRPr lang="es-CO" sz="2400" dirty="0"/>
          </a:p>
          <a:p>
            <a:pPr marL="514350" indent="-514350"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95536" y="1052736"/>
            <a:ext cx="8229600" cy="1143000"/>
          </a:xfrm>
        </p:spPr>
        <p:txBody>
          <a:bodyPr>
            <a:noAutofit/>
          </a:bodyPr>
          <a:lstStyle/>
          <a:p>
            <a:r>
              <a:rPr lang="es-MX" sz="2400" dirty="0"/>
              <a:t>La velocidad de un objeto se representa en función del tiempo en la siguiente gráfica. Cuál de las gráficas entre 1 a 5 representa la fuerza neta vs. Tiempo para este objeto</a:t>
            </a:r>
            <a:r>
              <a:rPr lang="es-CO" sz="2400" dirty="0"/>
              <a:t/>
            </a:r>
            <a:br>
              <a:rPr lang="es-CO" sz="2400" dirty="0"/>
            </a:br>
            <a:r>
              <a:rPr lang="es-CO" sz="2400" dirty="0"/>
              <a:t/>
            </a:r>
            <a:br>
              <a:rPr lang="es-CO" sz="2400" dirty="0"/>
            </a:br>
            <a:r>
              <a:rPr lang="es-CO" sz="2400" dirty="0"/>
              <a:t/>
            </a:r>
            <a:br>
              <a:rPr lang="es-CO" sz="2400" dirty="0"/>
            </a:br>
            <a:r>
              <a:rPr lang="es-CO" sz="2400" dirty="0"/>
              <a:t/>
            </a:r>
            <a:br>
              <a:rPr lang="es-CO" sz="2400" dirty="0"/>
            </a:br>
            <a:r>
              <a:rPr lang="es-CO" sz="2400" dirty="0"/>
              <a:t/>
            </a:r>
            <a:br>
              <a:rPr lang="es-CO" sz="2400" dirty="0"/>
            </a:br>
            <a:r>
              <a:rPr lang="es-CO" sz="2400" dirty="0"/>
              <a:t/>
            </a:r>
            <a:br>
              <a:rPr lang="es-CO" sz="2400" dirty="0"/>
            </a:br>
            <a:endParaRPr lang="en-US" sz="2400" dirty="0"/>
          </a:p>
        </p:txBody>
      </p:sp>
      <p:pic>
        <p:nvPicPr>
          <p:cNvPr id="5" name="Picture 7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185700"/>
            <a:ext cx="8352927" cy="3247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5 CuadroTexto"/>
          <p:cNvSpPr txBox="1"/>
          <p:nvPr/>
        </p:nvSpPr>
        <p:spPr>
          <a:xfrm>
            <a:off x="3203848" y="2195572"/>
            <a:ext cx="28886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v</a:t>
            </a:r>
            <a:endParaRPr lang="en-US" dirty="0"/>
          </a:p>
        </p:txBody>
      </p:sp>
      <p:sp>
        <p:nvSpPr>
          <p:cNvPr id="7" name="6 CuadroTexto"/>
          <p:cNvSpPr txBox="1"/>
          <p:nvPr/>
        </p:nvSpPr>
        <p:spPr>
          <a:xfrm>
            <a:off x="4716016" y="3265820"/>
            <a:ext cx="26161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8" name="7 CuadroTexto"/>
          <p:cNvSpPr txBox="1"/>
          <p:nvPr/>
        </p:nvSpPr>
        <p:spPr>
          <a:xfrm>
            <a:off x="1907704" y="4561964"/>
            <a:ext cx="26161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9" name="8 CuadroTexto"/>
          <p:cNvSpPr txBox="1"/>
          <p:nvPr/>
        </p:nvSpPr>
        <p:spPr>
          <a:xfrm>
            <a:off x="3635896" y="4561964"/>
            <a:ext cx="26161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10" name="9 CuadroTexto"/>
          <p:cNvSpPr txBox="1"/>
          <p:nvPr/>
        </p:nvSpPr>
        <p:spPr>
          <a:xfrm>
            <a:off x="5292080" y="4633972"/>
            <a:ext cx="26161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11" name="10 CuadroTexto"/>
          <p:cNvSpPr txBox="1"/>
          <p:nvPr/>
        </p:nvSpPr>
        <p:spPr>
          <a:xfrm>
            <a:off x="7092280" y="4633972"/>
            <a:ext cx="26161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12" name="11 CuadroTexto"/>
          <p:cNvSpPr txBox="1"/>
          <p:nvPr/>
        </p:nvSpPr>
        <p:spPr>
          <a:xfrm>
            <a:off x="8604448" y="4705980"/>
            <a:ext cx="26161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13" name="12 CuadroTexto"/>
          <p:cNvSpPr txBox="1"/>
          <p:nvPr/>
        </p:nvSpPr>
        <p:spPr>
          <a:xfrm>
            <a:off x="611560" y="3717032"/>
            <a:ext cx="290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14" name="13 CuadroTexto"/>
          <p:cNvSpPr txBox="1"/>
          <p:nvPr/>
        </p:nvSpPr>
        <p:spPr>
          <a:xfrm>
            <a:off x="2339752" y="3625860"/>
            <a:ext cx="290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15" name="14 CuadroTexto"/>
          <p:cNvSpPr txBox="1"/>
          <p:nvPr/>
        </p:nvSpPr>
        <p:spPr>
          <a:xfrm>
            <a:off x="4067944" y="3697868"/>
            <a:ext cx="290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16" name="15 CuadroTexto"/>
          <p:cNvSpPr txBox="1"/>
          <p:nvPr/>
        </p:nvSpPr>
        <p:spPr>
          <a:xfrm>
            <a:off x="5868144" y="3697868"/>
            <a:ext cx="290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17" name="16 CuadroTexto"/>
          <p:cNvSpPr txBox="1"/>
          <p:nvPr/>
        </p:nvSpPr>
        <p:spPr>
          <a:xfrm>
            <a:off x="7596336" y="3625860"/>
            <a:ext cx="290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18" name="17 CuadroTexto"/>
          <p:cNvSpPr txBox="1"/>
          <p:nvPr/>
        </p:nvSpPr>
        <p:spPr>
          <a:xfrm>
            <a:off x="899592" y="528204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A</a:t>
            </a:r>
            <a:endParaRPr lang="en-US" sz="2800" dirty="0"/>
          </a:p>
        </p:txBody>
      </p:sp>
      <p:sp>
        <p:nvSpPr>
          <p:cNvPr id="19" name="18 CuadroTexto"/>
          <p:cNvSpPr txBox="1"/>
          <p:nvPr/>
        </p:nvSpPr>
        <p:spPr>
          <a:xfrm>
            <a:off x="2627784" y="528204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B</a:t>
            </a:r>
            <a:endParaRPr lang="en-US" sz="2800" dirty="0"/>
          </a:p>
        </p:txBody>
      </p:sp>
      <p:sp>
        <p:nvSpPr>
          <p:cNvPr id="20" name="19 CuadroTexto"/>
          <p:cNvSpPr txBox="1"/>
          <p:nvPr/>
        </p:nvSpPr>
        <p:spPr>
          <a:xfrm>
            <a:off x="4427984" y="528204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C</a:t>
            </a:r>
            <a:endParaRPr lang="en-US" sz="2800" dirty="0"/>
          </a:p>
        </p:txBody>
      </p:sp>
      <p:sp>
        <p:nvSpPr>
          <p:cNvPr id="21" name="20 CuadroTexto"/>
          <p:cNvSpPr txBox="1"/>
          <p:nvPr/>
        </p:nvSpPr>
        <p:spPr>
          <a:xfrm>
            <a:off x="6084168" y="528204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D</a:t>
            </a:r>
            <a:endParaRPr lang="en-US" sz="2800" dirty="0"/>
          </a:p>
        </p:txBody>
      </p:sp>
      <p:sp>
        <p:nvSpPr>
          <p:cNvPr id="22" name="21 CuadroTexto"/>
          <p:cNvSpPr txBox="1"/>
          <p:nvPr/>
        </p:nvSpPr>
        <p:spPr>
          <a:xfrm>
            <a:off x="7812360" y="528204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E</a:t>
            </a:r>
            <a:endParaRPr lang="en-US" sz="2800" dirty="0"/>
          </a:p>
        </p:txBody>
      </p:sp>
      <p:sp>
        <p:nvSpPr>
          <p:cNvPr id="23" name="2 Marcador de contenido"/>
          <p:cNvSpPr txBox="1">
            <a:spLocks/>
          </p:cNvSpPr>
          <p:nvPr/>
        </p:nvSpPr>
        <p:spPr>
          <a:xfrm>
            <a:off x="467544" y="1196752"/>
            <a:ext cx="1080120" cy="2448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MX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endParaRPr kumimoji="0" lang="es-CO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MX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endParaRPr kumimoji="0" lang="es-CO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MX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endParaRPr kumimoji="0" lang="es-CO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MX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MX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endParaRPr kumimoji="0" lang="es-CO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O" sz="2400" dirty="0"/>
              <a:t>Suponga que las tres bolas de la figura parten al mismo tiempo de las partes superiores. ¿Cuál llegará primero al suelo?</a:t>
            </a:r>
            <a:br>
              <a:rPr lang="es-CO" sz="2400" dirty="0"/>
            </a:br>
            <a:endParaRPr lang="en-US" sz="24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1556792"/>
            <a:ext cx="4176464" cy="4525963"/>
          </a:xfrm>
        </p:spPr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s-MX" sz="2400" dirty="0"/>
              <a:t>A, porque recorre menos camino.</a:t>
            </a:r>
            <a:endParaRPr lang="es-CO" sz="2400" dirty="0"/>
          </a:p>
          <a:p>
            <a:pPr marL="514350" lvl="0" indent="-514350">
              <a:buFont typeface="+mj-lt"/>
              <a:buAutoNum type="arabicPeriod"/>
            </a:pPr>
            <a:r>
              <a:rPr lang="es-MX" sz="2400" dirty="0"/>
              <a:t>B, porque la pendiente es más pronunciada y tiene más aceleración</a:t>
            </a:r>
            <a:endParaRPr lang="es-CO" sz="2400" dirty="0"/>
          </a:p>
          <a:p>
            <a:pPr marL="514350" lvl="0" indent="-514350">
              <a:buFont typeface="+mj-lt"/>
              <a:buAutoNum type="arabicPeriod"/>
            </a:pPr>
            <a:r>
              <a:rPr lang="es-MX" sz="2400" dirty="0"/>
              <a:t>C, porque al llegar al borde del semicírculo, cae en caída libre. </a:t>
            </a:r>
            <a:endParaRPr lang="es-CO" sz="2400" dirty="0"/>
          </a:p>
          <a:p>
            <a:pPr>
              <a:buNone/>
            </a:pPr>
            <a:endParaRPr lang="en-US" dirty="0"/>
          </a:p>
        </p:txBody>
      </p:sp>
      <p:pic>
        <p:nvPicPr>
          <p:cNvPr id="4" name="3 Imagen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1772816"/>
            <a:ext cx="4139952" cy="1383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Aventura">
  <a:themeElements>
    <a:clrScheme name="Aventura">
      <a:dk1>
        <a:sysClr val="windowText" lastClr="000000"/>
      </a:dk1>
      <a:lt1>
        <a:sysClr val="window" lastClr="FFFFFF"/>
      </a:lt1>
      <a:dk2>
        <a:srgbClr val="738450"/>
      </a:dk2>
      <a:lt2>
        <a:srgbClr val="E8E9D1"/>
      </a:lt2>
      <a:accent1>
        <a:srgbClr val="9EB060"/>
      </a:accent1>
      <a:accent2>
        <a:srgbClr val="D09A08"/>
      </a:accent2>
      <a:accent3>
        <a:srgbClr val="F2EC86"/>
      </a:accent3>
      <a:accent4>
        <a:srgbClr val="824F1C"/>
      </a:accent4>
      <a:accent5>
        <a:srgbClr val="511818"/>
      </a:accent5>
      <a:accent6>
        <a:srgbClr val="553876"/>
      </a:accent6>
      <a:hlink>
        <a:srgbClr val="929547"/>
      </a:hlink>
      <a:folHlink>
        <a:srgbClr val="56633C"/>
      </a:folHlink>
    </a:clrScheme>
    <a:fontScheme name="Aventura">
      <a:majorFont>
        <a:latin typeface="Calisto MT"/>
        <a:ea typeface=""/>
        <a:cs typeface=""/>
        <a:font script="Jpan" typeface="ＭＳ Ｐ明朝"/>
        <a:font script="Hans" typeface="宋体"/>
        <a:font script="Hant" typeface="新細明體"/>
      </a:majorFont>
      <a:minorFont>
        <a:latin typeface="Calisto MT"/>
        <a:ea typeface=""/>
        <a:cs typeface=""/>
        <a:font script="Jpan" typeface="ＭＳ Ｐ明朝"/>
        <a:font script="Hans" typeface="宋体"/>
        <a:font script="Hant" typeface="新細明體"/>
      </a:minorFont>
    </a:fontScheme>
    <a:fmtScheme name="Aventura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30000"/>
                <a:alpha val="50000"/>
                <a:satMod val="150000"/>
              </a:schemeClr>
              <a:schemeClr val="phClr">
                <a:tint val="50000"/>
                <a:alpha val="10000"/>
                <a:satMod val="15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30000"/>
                <a:alpha val="50000"/>
                <a:satMod val="150000"/>
              </a:schemeClr>
              <a:schemeClr val="phClr">
                <a:tint val="50000"/>
                <a:alpha val="10000"/>
                <a:satMod val="150000"/>
              </a:schemeClr>
            </a:duotone>
          </a:blip>
          <a:stretch/>
        </a:blipFill>
      </a:fillStyleLst>
      <a:lnStyleLst>
        <a:ln w="1905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76200" dist="25400" dir="13500000">
              <a:srgbClr val="4B4B4B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3">
            <a:duotone>
              <a:schemeClr val="phClr">
                <a:shade val="10000"/>
                <a:alpha val="30000"/>
                <a:satMod val="60000"/>
              </a:schemeClr>
              <a:schemeClr val="phClr">
                <a:tint val="20000"/>
                <a:alpha val="5000"/>
                <a:satMod val="300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shade val="30000"/>
                <a:alpha val="50000"/>
                <a:satMod val="150000"/>
              </a:schemeClr>
              <a:schemeClr val="phClr">
                <a:tint val="50000"/>
                <a:alpha val="10000"/>
                <a:satMod val="15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Aventura.thmx</Template>
  <TotalTime>6239</TotalTime>
  <Words>1717</Words>
  <Application>Microsoft Macintosh PowerPoint</Application>
  <PresentationFormat>Presentación en pantalla (4:3)</PresentationFormat>
  <Paragraphs>541</Paragraphs>
  <Slides>81</Slides>
  <Notes>11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81</vt:i4>
      </vt:variant>
    </vt:vector>
  </HeadingPairs>
  <TitlesOfParts>
    <vt:vector size="84" baseType="lpstr">
      <vt:lpstr>Aventura</vt:lpstr>
      <vt:lpstr>Ecuación</vt:lpstr>
      <vt:lpstr>EcuaciÛn</vt:lpstr>
      <vt:lpstr>Cinemática</vt:lpstr>
      <vt:lpstr>Sistema de coordenadas</vt:lpstr>
      <vt:lpstr>Sistema de coordenadas</vt:lpstr>
      <vt:lpstr>Posición y Distancia</vt:lpstr>
      <vt:lpstr>Posición y Vector Posición</vt:lpstr>
      <vt:lpstr>Posición y Desplazamiento</vt:lpstr>
      <vt:lpstr>Cinemática</vt:lpstr>
      <vt:lpstr>Movimiento en 1D</vt:lpstr>
      <vt:lpstr>Movimiento en 1D</vt:lpstr>
      <vt:lpstr>Movimiento en 1D</vt:lpstr>
      <vt:lpstr>Movimiento en 1D</vt:lpstr>
      <vt:lpstr>Movimiento en 1D</vt:lpstr>
      <vt:lpstr>Movimiento en 1D</vt:lpstr>
      <vt:lpstr>Movimiento en 1D</vt:lpstr>
      <vt:lpstr>Movimiento en 1D</vt:lpstr>
      <vt:lpstr>Velocidad Promedio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Velocidad instantánea</vt:lpstr>
      <vt:lpstr>Velocidad instantánea</vt:lpstr>
      <vt:lpstr>Velocidad instantánea</vt:lpstr>
      <vt:lpstr>Velocidad instantánea</vt:lpstr>
      <vt:lpstr>Velocidad instantánea</vt:lpstr>
      <vt:lpstr>Velocidad instantánea</vt:lpstr>
      <vt:lpstr>Velocidad instantánea</vt:lpstr>
      <vt:lpstr>Velocidad instantánea</vt:lpstr>
      <vt:lpstr>Velocidad instantánea</vt:lpstr>
      <vt:lpstr>Velocidad instantánea</vt:lpstr>
      <vt:lpstr>Velocidad Constante</vt:lpstr>
      <vt:lpstr>Velocidad Constante</vt:lpstr>
      <vt:lpstr>Velocidad Constante</vt:lpstr>
      <vt:lpstr>Velocidad Constante</vt:lpstr>
      <vt:lpstr>Velocidad Constante</vt:lpstr>
      <vt:lpstr>Ejemplo</vt:lpstr>
      <vt:lpstr>El diagrama representa una fotografía tomada con una lámpara de flash a un objeto moviéndose a lo largo de una superficie horizontal. Las posiciones mostradas en el diagrama están separadas por intervalos de tiempo iguales. El primer flash ocurre cuando el objeto empieza a moverse y el último justo cuando el objeto se detiene.</vt:lpstr>
      <vt:lpstr>Aceleración</vt:lpstr>
      <vt:lpstr>Aceleración Constante</vt:lpstr>
      <vt:lpstr>Ejemplo: Caída libre</vt:lpstr>
      <vt:lpstr>Ejemplo: Caída libre</vt:lpstr>
      <vt:lpstr>Ejemplo: Caída libre</vt:lpstr>
      <vt:lpstr>Ejemplo: Caída libre</vt:lpstr>
      <vt:lpstr>Ejemplo: Caída libre</vt:lpstr>
      <vt:lpstr>Ejemplo: Caída libre</vt:lpstr>
      <vt:lpstr>Ejemplo: Caída libre</vt:lpstr>
      <vt:lpstr>Ejemplo: Caída libre</vt:lpstr>
      <vt:lpstr>Ejemplo: Caída libre</vt:lpstr>
      <vt:lpstr>Ejemplo: Caída libre</vt:lpstr>
      <vt:lpstr>Ejemplo: tiro vertical</vt:lpstr>
      <vt:lpstr>Ejemplo: tiro vertical</vt:lpstr>
      <vt:lpstr>Ejemplo: tiro vertical</vt:lpstr>
      <vt:lpstr>Ejemplo: tiro vertical</vt:lpstr>
      <vt:lpstr>Ejemplo: tiro vertical</vt:lpstr>
      <vt:lpstr>Ejemplo: tiro vertical</vt:lpstr>
      <vt:lpstr>Ejemplo: tiro vertical</vt:lpstr>
      <vt:lpstr>Presentación de PowerPoint</vt:lpstr>
      <vt:lpstr>Aceleración promedio</vt:lpstr>
      <vt:lpstr>Aceleración promedio</vt:lpstr>
      <vt:lpstr>Aceleración promedio</vt:lpstr>
      <vt:lpstr>Aceleración promedio</vt:lpstr>
      <vt:lpstr>Aceleración instantánea</vt:lpstr>
      <vt:lpstr>Aceleración instantánea</vt:lpstr>
      <vt:lpstr>Aceleración: velocidad constante</vt:lpstr>
      <vt:lpstr>Aceleración: velocidad constante</vt:lpstr>
      <vt:lpstr>Aceleración constante (1)</vt:lpstr>
      <vt:lpstr>Aceleración constante (2)</vt:lpstr>
      <vt:lpstr>Preguntas conceptuales</vt:lpstr>
      <vt:lpstr>¿En cuál de las siguientes pendientes mostradas en la figura la bola rueda con rapidez en aumento y aceleración en disminución? </vt:lpstr>
      <vt:lpstr>Un objeto se mueve hacia la izquierda y se le empieza a  aplicar una fuerza constante hacia la derecha. En relación a las direcciones de la velocidad y la aceleración podemos afirmar:    </vt:lpstr>
      <vt:lpstr>La velocidad de un objeto se representa en función del tiempo en la siguiente gráfica. Cuál de las gráficas entre 1 a 5 representa la fuerza neta vs. Tiempo para este objeto      </vt:lpstr>
      <vt:lpstr>Suponga que las tres bolas de la figura parten al mismo tiempo de las partes superiores. ¿Cuál llegará primero al suelo? </vt:lpstr>
    </vt:vector>
  </TitlesOfParts>
  <Company>id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Vectores y Fuerzas</dc:title>
  <dc:creator>Gilles</dc:creator>
  <cp:lastModifiedBy>G P</cp:lastModifiedBy>
  <cp:revision>189</cp:revision>
  <cp:lastPrinted>2011-08-11T16:24:38Z</cp:lastPrinted>
  <dcterms:created xsi:type="dcterms:W3CDTF">2011-08-11T02:02:50Z</dcterms:created>
  <dcterms:modified xsi:type="dcterms:W3CDTF">2017-09-27T05:03:42Z</dcterms:modified>
</cp:coreProperties>
</file>