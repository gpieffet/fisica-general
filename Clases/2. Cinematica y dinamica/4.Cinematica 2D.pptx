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88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aperBackingColor.jpg"/>
          <p:cNvPicPr>
            <a:picLocks noChangeAspect="1"/>
          </p:cNvPicPr>
          <p:nvPr/>
        </p:nvPicPr>
        <p:blipFill>
          <a:blip r:embed="rId2"/>
          <a:srcRect l="469" t="13915"/>
          <a:stretch>
            <a:fillRect/>
          </a:stretch>
        </p:blipFill>
        <p:spPr>
          <a:xfrm>
            <a:off x="1613903" y="699248"/>
            <a:ext cx="5916194" cy="3837694"/>
          </a:xfrm>
          <a:prstGeom prst="rect">
            <a:avLst/>
          </a:prstGeom>
          <a:solidFill>
            <a:srgbClr val="FFFFFF">
              <a:shade val="85000"/>
            </a:srgbClr>
          </a:solidFill>
          <a:ln w="22225" cap="sq">
            <a:solidFill>
              <a:srgbClr val="FDFDFD"/>
            </a:solidFill>
            <a:miter lim="800000"/>
          </a:ln>
          <a:effectLst>
            <a:outerShdw blurRad="57150" dist="37500" dir="7560000" sy="98000" kx="80000" ky="63000" algn="tl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569" y="1143000"/>
            <a:ext cx="5724862" cy="1846961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6000" kern="120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69" y="2994212"/>
            <a:ext cx="5724862" cy="10072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Pct val="90000"/>
              <a:buFont typeface="Wingdings" pitchFamily="2" charset="2"/>
              <a:buNone/>
              <a:defRPr sz="2000" kern="120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Haga clic para modificar el estilo de subtítulo del patrón</a:t>
            </a:r>
            <a:endParaRPr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con image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PhotoBacking-r.png"/>
          <p:cNvPicPr>
            <a:picLocks noChangeAspect="1"/>
          </p:cNvPicPr>
          <p:nvPr/>
        </p:nvPicPr>
        <p:blipFill>
          <a:blip r:embed="rId2"/>
          <a:srcRect l="17353" t="9412" r="17500" b="32353"/>
          <a:stretch>
            <a:fillRect/>
          </a:stretch>
        </p:blipFill>
        <p:spPr>
          <a:xfrm>
            <a:off x="1586753" y="645459"/>
            <a:ext cx="5957047" cy="399377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273050"/>
          </a:xfrm>
        </p:spPr>
        <p:txBody>
          <a:bodyPr/>
          <a:lstStyle>
            <a:lvl1pPr>
              <a:defRPr sz="14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273050"/>
          </a:xfrm>
        </p:spPr>
        <p:txBody>
          <a:bodyPr/>
          <a:lstStyle>
            <a:lvl1pPr>
              <a:defRPr sz="14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273050"/>
          </a:xfrm>
        </p:spPr>
        <p:txBody>
          <a:bodyPr/>
          <a:lstStyle>
            <a:lvl1pPr>
              <a:defRPr sz="14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435" y="4953000"/>
            <a:ext cx="8095130" cy="857250"/>
          </a:xfrm>
        </p:spPr>
        <p:txBody>
          <a:bodyPr anchor="b" anchorCtr="0">
            <a:noAutofit/>
          </a:bodyPr>
          <a:lstStyle>
            <a:lvl1pPr>
              <a:defRPr sz="54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435" y="5791200"/>
            <a:ext cx="8095130" cy="50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Haga clic para modificar el estilo de subtítulo del patrón</a:t>
            </a:r>
            <a:endParaRPr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1764792" y="804672"/>
            <a:ext cx="5638800" cy="3657600"/>
          </a:xfrm>
        </p:spPr>
        <p:txBody>
          <a:bodyPr/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Arrastre la imagen al marcador de posición o haga clic en el icono para agregar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18" y="2514600"/>
            <a:ext cx="8162365" cy="914400"/>
          </a:xfrm>
        </p:spPr>
        <p:txBody>
          <a:bodyPr anchor="b" anchorCtr="0"/>
          <a:lstStyle>
            <a:lvl1pPr algn="ctr">
              <a:defRPr sz="5400" b="0" cap="none" baseline="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818" y="3429000"/>
            <a:ext cx="8162365" cy="701000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3776472" cy="45838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6753"/>
            <a:ext cx="3776472" cy="45838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598613"/>
            <a:ext cx="3773488" cy="427877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3900" y="2174875"/>
            <a:ext cx="3773488" cy="399732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98613"/>
            <a:ext cx="3776472" cy="427877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3776472" cy="399732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bjetos, superior e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7707406" cy="22311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23900" y="3914170"/>
            <a:ext cx="7707406" cy="22311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3776472" cy="45838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6753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648200" y="3913094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6753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23900" y="3913094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648200" y="3913094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363" y="1143000"/>
            <a:ext cx="3807662" cy="1341344"/>
          </a:xfrm>
        </p:spPr>
        <p:txBody>
          <a:bodyPr anchor="b"/>
          <a:lstStyle>
            <a:lvl1pPr algn="ctr">
              <a:defRPr sz="4400" b="0"/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199" y="605118"/>
            <a:ext cx="3776472" cy="556549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 marL="2290763" indent="-344488">
              <a:defRPr sz="2000"/>
            </a:lvl7pPr>
            <a:lvl8pPr marL="2290763" indent="-344488">
              <a:defRPr sz="2000"/>
            </a:lvl8pPr>
            <a:lvl9pPr marL="2290763" indent="-344488">
              <a:defRPr sz="20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363" y="2618815"/>
            <a:ext cx="3807662" cy="313316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  <p:pic>
        <p:nvPicPr>
          <p:cNvPr id="10" name="Picture 9" descr="pictureCaptionBacking.png"/>
          <p:cNvPicPr>
            <a:picLocks noChangeAspect="1"/>
          </p:cNvPicPr>
          <p:nvPr/>
        </p:nvPicPr>
        <p:blipFill>
          <a:blip r:embed="rId2"/>
          <a:srcRect l="52272" t="8889" r="5152" b="16566"/>
          <a:stretch>
            <a:fillRect/>
          </a:stretch>
        </p:blipFill>
        <p:spPr>
          <a:xfrm>
            <a:off x="4594412" y="663388"/>
            <a:ext cx="3893127" cy="5112327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5487" y="1143000"/>
            <a:ext cx="3792537" cy="1341344"/>
          </a:xfrm>
        </p:spPr>
        <p:txBody>
          <a:bodyPr anchor="b"/>
          <a:lstStyle>
            <a:lvl1pPr algn="ctr">
              <a:defRPr sz="4400" b="0"/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487" y="2618815"/>
            <a:ext cx="3792537" cy="313316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29938" y="864971"/>
            <a:ext cx="3422075" cy="4709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Arrastre la imagen al marcador de posición o haga clic en el icono para agregar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87" y="462896"/>
            <a:ext cx="7718425" cy="828021"/>
          </a:xfrm>
        </p:spPr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5489" y="1598613"/>
            <a:ext cx="7718424" cy="45720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685801"/>
            <a:ext cx="1066800" cy="5484812"/>
          </a:xfrm>
        </p:spPr>
        <p:txBody>
          <a:bodyPr vert="eaVert"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5488" y="685757"/>
            <a:ext cx="6437312" cy="5482221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6141" y="314979"/>
            <a:ext cx="769171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/>
              <a:t>Click to edit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141" y="1586753"/>
            <a:ext cx="7691719" cy="4571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A52AF2E-09A4-7048-8AEA-BD43C7175678}" type="datetimeFigureOut">
              <a:rPr lang="es-ES" smtClean="0"/>
              <a:t>01/10/2017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4245C88-B0B6-D342-A688-21405D310258}" type="slidenum">
              <a:rPr lang="es-ES" smtClean="0"/>
              <a:t>‹Nr.›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400"/>
        </a:spcBef>
        <a:buSzPct val="90000"/>
        <a:buFont typeface="Wingdings" pitchFamily="2" charset="2"/>
        <a:buChar char="v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12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63650" indent="-349250" algn="l" defTabSz="914400" rtl="0" eaLnBrk="1" latinLnBrk="0" hangingPunct="1">
        <a:spcBef>
          <a:spcPts val="1200"/>
        </a:spcBef>
        <a:buSzPct val="90000"/>
        <a:buFont typeface="Wingdings" pitchFamily="2" charset="2"/>
        <a:buChar char="v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336550" algn="l" defTabSz="914400" rtl="0" eaLnBrk="1" latinLnBrk="0" hangingPunct="1">
        <a:spcBef>
          <a:spcPts val="12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946275" indent="-346075" algn="l" defTabSz="914400" rtl="0" eaLnBrk="1" latinLnBrk="0" hangingPunct="1">
        <a:spcBef>
          <a:spcPts val="1200"/>
        </a:spcBef>
        <a:buSzPct val="90000"/>
        <a:buFont typeface="Wingdings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ct val="20000"/>
        </a:spcBef>
        <a:buSzPct val="90000"/>
        <a:buFont typeface="Wingdings" pitchFamily="2" charset="2"/>
        <a:buChar char="v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ct val="20000"/>
        </a:spcBef>
        <a:buSzPct val="90000"/>
        <a:buFont typeface="Wingdings" pitchFamily="2" charset="2"/>
        <a:buChar char="v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emf"/><Relationship Id="rId3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3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3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3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3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3"/>
          <p:cNvSpPr>
            <a:spLocks noGrp="1"/>
          </p:cNvSpPr>
          <p:nvPr>
            <p:ph type="ctrTitle"/>
          </p:nvPr>
        </p:nvSpPr>
        <p:spPr>
          <a:xfrm>
            <a:off x="685800" y="1498082"/>
            <a:ext cx="7772400" cy="1617414"/>
          </a:xfrm>
        </p:spPr>
        <p:txBody>
          <a:bodyPr/>
          <a:lstStyle/>
          <a:p>
            <a:pPr eaLnBrk="1" hangingPunct="1"/>
            <a:r>
              <a:rPr lang="es-ES_tradnl" sz="7200" dirty="0" smtClean="0"/>
              <a:t>Cinemática</a:t>
            </a:r>
            <a:endParaRPr lang="en-US" sz="7200" dirty="0" smtClean="0"/>
          </a:p>
        </p:txBody>
      </p:sp>
      <p:sp>
        <p:nvSpPr>
          <p:cNvPr id="5123" name="Subtitle 4"/>
          <p:cNvSpPr>
            <a:spLocks noGrp="1"/>
          </p:cNvSpPr>
          <p:nvPr>
            <p:ph type="subTitle" idx="1"/>
          </p:nvPr>
        </p:nvSpPr>
        <p:spPr>
          <a:xfrm>
            <a:off x="1371600" y="3034804"/>
            <a:ext cx="6400800" cy="987224"/>
          </a:xfrm>
        </p:spPr>
        <p:txBody>
          <a:bodyPr/>
          <a:lstStyle/>
          <a:p>
            <a:r>
              <a:rPr lang="es-ES_tradnl" sz="4400" dirty="0" smtClean="0"/>
              <a:t>(2D</a:t>
            </a:r>
            <a:r>
              <a:rPr lang="es-ES_tradnl" sz="4400" dirty="0"/>
              <a:t>)</a:t>
            </a:r>
            <a:endParaRPr lang="es-ES" sz="4400" dirty="0" smtClean="0">
              <a:solidFill>
                <a:srgbClr val="898989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2889702" y="4560304"/>
            <a:ext cx="3373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Pr. Gilles Pieffet</a:t>
            </a:r>
          </a:p>
          <a:p>
            <a:pPr algn="ctr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8521427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Cinemática en 2-D</a:t>
            </a:r>
            <a:endParaRPr lang="es-ES" dirty="0"/>
          </a:p>
        </p:txBody>
      </p:sp>
      <p:pic>
        <p:nvPicPr>
          <p:cNvPr id="4" name="Imagen 3" descr="fig_2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06" y="2070475"/>
            <a:ext cx="8000527" cy="361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939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Cinemática en 2-D</a:t>
            </a:r>
          </a:p>
        </p:txBody>
      </p:sp>
      <p:pic>
        <p:nvPicPr>
          <p:cNvPr id="3" name="Imagen 2" descr="parabolic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77" y="1481446"/>
            <a:ext cx="7863316" cy="3468393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75821" y="4916668"/>
            <a:ext cx="79817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El movimiento en 2-D se puede descomponer en 2:</a:t>
            </a:r>
          </a:p>
          <a:p>
            <a:pPr marL="457200" indent="-457200">
              <a:buFont typeface="Arial"/>
              <a:buChar char="•"/>
            </a:pPr>
            <a:r>
              <a:rPr lang="es-ES" sz="2800" dirty="0" smtClean="0"/>
              <a:t>el movimiento a lo largo del eje </a:t>
            </a:r>
            <a:r>
              <a:rPr lang="es-ES" sz="2800" i="1" dirty="0" smtClean="0"/>
              <a:t>x</a:t>
            </a:r>
            <a:r>
              <a:rPr lang="es-ES" sz="2800" dirty="0" smtClean="0"/>
              <a:t> </a:t>
            </a:r>
          </a:p>
          <a:p>
            <a:r>
              <a:rPr lang="es-ES" sz="2800" dirty="0" smtClean="0"/>
              <a:t>						y</a:t>
            </a:r>
          </a:p>
          <a:p>
            <a:pPr marL="457200" indent="-457200">
              <a:buFont typeface="Arial"/>
              <a:buChar char="•"/>
            </a:pPr>
            <a:r>
              <a:rPr lang="es-ES" sz="2800" dirty="0" smtClean="0"/>
              <a:t>el movimiento a lo largo del eje </a:t>
            </a:r>
            <a:r>
              <a:rPr lang="es-ES" sz="2800" i="1" dirty="0" smtClean="0"/>
              <a:t>y</a:t>
            </a:r>
            <a:endParaRPr lang="es-ES" sz="2800" i="1" dirty="0"/>
          </a:p>
        </p:txBody>
      </p:sp>
    </p:spTree>
    <p:extLst>
      <p:ext uri="{BB962C8B-B14F-4D97-AF65-F5344CB8AC3E}">
        <p14:creationId xmlns:p14="http://schemas.microsoft.com/office/powerpoint/2010/main" val="35407492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Cinemática en 2-D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94256" y="1351498"/>
            <a:ext cx="4812327" cy="2400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 smtClean="0"/>
              <a:t>El movimiento en 2-D se puede descomponer en 2: el movimiento a lo largo del eje </a:t>
            </a:r>
            <a:r>
              <a:rPr lang="es-ES" sz="3000" i="1" dirty="0" smtClean="0"/>
              <a:t>x</a:t>
            </a:r>
            <a:r>
              <a:rPr lang="es-ES" sz="3000" dirty="0" smtClean="0"/>
              <a:t> y el movimiento a lo largo del eje </a:t>
            </a:r>
            <a:r>
              <a:rPr lang="es-ES" sz="3000" i="1" dirty="0" smtClean="0"/>
              <a:t>y</a:t>
            </a:r>
            <a:r>
              <a:rPr lang="es-ES" sz="3000" i="1" dirty="0" smtClean="0"/>
              <a:t>.</a:t>
            </a:r>
            <a:endParaRPr lang="es-ES" sz="3000" dirty="0" smtClean="0"/>
          </a:p>
        </p:txBody>
      </p:sp>
      <p:pic>
        <p:nvPicPr>
          <p:cNvPr id="5" name="Imagen 4" descr="parabolic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01" y="1572864"/>
            <a:ext cx="3803641" cy="1677730"/>
          </a:xfrm>
          <a:prstGeom prst="rect">
            <a:avLst/>
          </a:prstGeom>
        </p:spPr>
      </p:pic>
      <p:pic>
        <p:nvPicPr>
          <p:cNvPr id="6" name="Imagen 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36" y="4689677"/>
            <a:ext cx="4152900" cy="1079500"/>
          </a:xfrm>
          <a:prstGeom prst="rect">
            <a:avLst/>
          </a:prstGeom>
        </p:spPr>
      </p:pic>
      <p:pic>
        <p:nvPicPr>
          <p:cNvPr id="7" name="Imagen 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866" y="4549865"/>
            <a:ext cx="4076700" cy="1828800"/>
          </a:xfrm>
          <a:prstGeom prst="rect">
            <a:avLst/>
          </a:prstGeom>
        </p:spPr>
      </p:pic>
      <p:cxnSp>
        <p:nvCxnSpPr>
          <p:cNvPr id="9" name="Conector recto 8"/>
          <p:cNvCxnSpPr/>
          <p:nvPr/>
        </p:nvCxnSpPr>
        <p:spPr>
          <a:xfrm>
            <a:off x="4719109" y="3868094"/>
            <a:ext cx="0" cy="2574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/>
          <p:cNvSpPr/>
          <p:nvPr/>
        </p:nvSpPr>
        <p:spPr>
          <a:xfrm>
            <a:off x="6175625" y="3812460"/>
            <a:ext cx="1118603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b="1" dirty="0"/>
              <a:t>2-D</a:t>
            </a:r>
          </a:p>
        </p:txBody>
      </p:sp>
    </p:spTree>
    <p:extLst>
      <p:ext uri="{BB962C8B-B14F-4D97-AF65-F5344CB8AC3E}">
        <p14:creationId xmlns:p14="http://schemas.microsoft.com/office/powerpoint/2010/main" val="26067282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Cinemática en 2-D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94256" y="1351498"/>
            <a:ext cx="8121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 smtClean="0"/>
              <a:t>Ambos movimientos se </a:t>
            </a:r>
            <a:r>
              <a:rPr lang="es-ES" sz="3000" dirty="0" smtClean="0"/>
              <a:t>pueden describir independientemente y cumplen con las relaciones vistas para 1-D.</a:t>
            </a:r>
            <a:endParaRPr lang="es-ES" sz="3000" dirty="0"/>
          </a:p>
        </p:txBody>
      </p:sp>
      <p:pic>
        <p:nvPicPr>
          <p:cNvPr id="3" name="Imagen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76" y="2852755"/>
            <a:ext cx="5793223" cy="2156124"/>
          </a:xfrm>
          <a:prstGeom prst="rect">
            <a:avLst/>
          </a:prstGeom>
        </p:spPr>
      </p:pic>
      <p:pic>
        <p:nvPicPr>
          <p:cNvPr id="6" name="Imagen 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538" y="5249799"/>
            <a:ext cx="35941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73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Movimiento Parab</a:t>
            </a:r>
            <a:r>
              <a:rPr lang="es-ES" dirty="0" smtClean="0"/>
              <a:t>ó</a:t>
            </a:r>
            <a:r>
              <a:rPr lang="es-ES" dirty="0" smtClean="0"/>
              <a:t>lico</a:t>
            </a:r>
            <a:endParaRPr lang="es-ES" dirty="0"/>
          </a:p>
        </p:txBody>
      </p:sp>
      <p:pic>
        <p:nvPicPr>
          <p:cNvPr id="3" name="Imagen 2" descr="mov_parabolico_v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4" y="1298231"/>
            <a:ext cx="5657117" cy="4340796"/>
          </a:xfrm>
          <a:prstGeom prst="rect">
            <a:avLst/>
          </a:prstGeom>
        </p:spPr>
      </p:pic>
      <p:pic>
        <p:nvPicPr>
          <p:cNvPr id="4" name="Imagen 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832" y="1574488"/>
            <a:ext cx="2847020" cy="147471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073832" y="3438855"/>
            <a:ext cx="2956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Times"/>
                <a:cs typeface="Times"/>
              </a:rPr>
              <a:t>En x:</a:t>
            </a:r>
            <a:r>
              <a:rPr lang="es-ES" sz="2800" dirty="0" smtClean="0">
                <a:latin typeface="Times"/>
                <a:cs typeface="Times"/>
              </a:rPr>
              <a:t> </a:t>
            </a:r>
            <a:r>
              <a:rPr lang="es-ES" sz="2800" dirty="0" err="1" smtClean="0">
                <a:latin typeface="Times"/>
                <a:cs typeface="Times"/>
              </a:rPr>
              <a:t>v</a:t>
            </a:r>
            <a:r>
              <a:rPr lang="es-ES" sz="2800" baseline="-25000" dirty="0" err="1" smtClean="0">
                <a:latin typeface="Times"/>
                <a:cs typeface="Times"/>
              </a:rPr>
              <a:t>x</a:t>
            </a:r>
            <a:r>
              <a:rPr lang="es-ES" sz="2800" dirty="0" smtClean="0">
                <a:latin typeface="Times"/>
                <a:cs typeface="Times"/>
              </a:rPr>
              <a:t>?</a:t>
            </a:r>
          </a:p>
          <a:p>
            <a:r>
              <a:rPr lang="es-ES" sz="2800" dirty="0" smtClean="0">
                <a:latin typeface="Times"/>
                <a:cs typeface="Times"/>
              </a:rPr>
              <a:t>    </a:t>
            </a:r>
            <a:r>
              <a:rPr lang="es-ES" sz="2800" dirty="0" err="1" smtClean="0">
                <a:latin typeface="Times"/>
                <a:cs typeface="Times"/>
              </a:rPr>
              <a:t>a</a:t>
            </a:r>
            <a:r>
              <a:rPr lang="es-ES" sz="2800" baseline="-25000" dirty="0" err="1" smtClean="0">
                <a:latin typeface="Times"/>
                <a:cs typeface="Times"/>
              </a:rPr>
              <a:t>x</a:t>
            </a:r>
            <a:r>
              <a:rPr lang="es-ES" sz="2800" dirty="0" smtClean="0">
                <a:latin typeface="Times"/>
                <a:cs typeface="Times"/>
              </a:rPr>
              <a:t> = 0</a:t>
            </a:r>
          </a:p>
          <a:p>
            <a:r>
              <a:rPr lang="es-ES" sz="2800" dirty="0" smtClean="0">
                <a:latin typeface="Times"/>
                <a:cs typeface="Times"/>
              </a:rPr>
              <a:t>   v</a:t>
            </a:r>
            <a:r>
              <a:rPr lang="es-ES" sz="2800" baseline="-25000" dirty="0" smtClean="0">
                <a:latin typeface="Times"/>
                <a:cs typeface="Times"/>
              </a:rPr>
              <a:t>0x</a:t>
            </a:r>
            <a:r>
              <a:rPr lang="es-ES" sz="2800" dirty="0" smtClean="0">
                <a:latin typeface="Times"/>
                <a:cs typeface="Times"/>
              </a:rPr>
              <a:t> = v</a:t>
            </a:r>
            <a:r>
              <a:rPr lang="es-ES" sz="2800" baseline="-25000" dirty="0" smtClean="0">
                <a:latin typeface="Times"/>
                <a:cs typeface="Times"/>
              </a:rPr>
              <a:t>0</a:t>
            </a:r>
            <a:r>
              <a:rPr lang="es-ES" sz="2800" dirty="0" smtClean="0">
                <a:latin typeface="Times"/>
                <a:cs typeface="Times"/>
              </a:rPr>
              <a:t> </a:t>
            </a:r>
            <a:r>
              <a:rPr lang="es-ES" sz="2800" dirty="0" err="1" smtClean="0">
                <a:latin typeface="Times"/>
                <a:cs typeface="Times"/>
              </a:rPr>
              <a:t>cos</a:t>
            </a:r>
            <a:r>
              <a:rPr lang="es-ES" sz="2800" dirty="0" smtClean="0">
                <a:latin typeface="Times"/>
                <a:cs typeface="Times"/>
              </a:rPr>
              <a:t> α</a:t>
            </a:r>
          </a:p>
          <a:p>
            <a:endParaRPr lang="es-ES" sz="2800" dirty="0">
              <a:latin typeface="Times"/>
              <a:cs typeface="Times"/>
            </a:endParaRPr>
          </a:p>
          <a:p>
            <a:r>
              <a:rPr lang="es-ES" sz="2800" dirty="0" err="1">
                <a:latin typeface="Times"/>
                <a:cs typeface="Times"/>
              </a:rPr>
              <a:t>v</a:t>
            </a:r>
            <a:r>
              <a:rPr lang="es-ES" sz="2800" baseline="-25000" dirty="0" err="1" smtClean="0">
                <a:latin typeface="Times"/>
                <a:cs typeface="Times"/>
              </a:rPr>
              <a:t>x</a:t>
            </a:r>
            <a:r>
              <a:rPr lang="es-ES" sz="2800" dirty="0" smtClean="0">
                <a:latin typeface="Times"/>
                <a:cs typeface="Times"/>
              </a:rPr>
              <a:t> = </a:t>
            </a:r>
            <a:r>
              <a:rPr lang="es-ES" sz="2800" dirty="0">
                <a:latin typeface="Times"/>
                <a:cs typeface="Times"/>
              </a:rPr>
              <a:t>v</a:t>
            </a:r>
            <a:r>
              <a:rPr lang="es-ES" sz="2800" baseline="-25000" dirty="0">
                <a:latin typeface="Times"/>
                <a:cs typeface="Times"/>
              </a:rPr>
              <a:t>0</a:t>
            </a:r>
            <a:r>
              <a:rPr lang="es-ES" sz="2800" dirty="0">
                <a:latin typeface="Times"/>
                <a:cs typeface="Times"/>
              </a:rPr>
              <a:t> </a:t>
            </a:r>
            <a:r>
              <a:rPr lang="es-ES" sz="2800" dirty="0" err="1">
                <a:latin typeface="Times"/>
                <a:cs typeface="Times"/>
              </a:rPr>
              <a:t>cos</a:t>
            </a:r>
            <a:r>
              <a:rPr lang="es-ES" sz="2800" dirty="0">
                <a:latin typeface="Times"/>
                <a:cs typeface="Times"/>
              </a:rPr>
              <a:t> </a:t>
            </a:r>
            <a:r>
              <a:rPr lang="es-ES" sz="2800" dirty="0" smtClean="0">
                <a:latin typeface="Times"/>
                <a:cs typeface="Times"/>
              </a:rPr>
              <a:t>α = </a:t>
            </a:r>
            <a:r>
              <a:rPr lang="es-ES" sz="2800" dirty="0">
                <a:latin typeface="Times"/>
                <a:cs typeface="Times"/>
              </a:rPr>
              <a:t>v</a:t>
            </a:r>
            <a:r>
              <a:rPr lang="es-ES" sz="2800" baseline="-25000" dirty="0">
                <a:latin typeface="Times"/>
                <a:cs typeface="Times"/>
              </a:rPr>
              <a:t>0x</a:t>
            </a:r>
            <a:endParaRPr lang="es-ES" sz="2800" dirty="0">
              <a:latin typeface="Times"/>
              <a:cs typeface="Times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20398" y="6082698"/>
            <a:ext cx="707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s-ES" sz="3000" b="1" dirty="0" smtClean="0">
                <a:latin typeface="Times"/>
                <a:cs typeface="Times"/>
              </a:rPr>
              <a:t>La velocidad en x es constante!</a:t>
            </a:r>
          </a:p>
        </p:txBody>
      </p:sp>
    </p:spTree>
    <p:extLst>
      <p:ext uri="{BB962C8B-B14F-4D97-AF65-F5344CB8AC3E}">
        <p14:creationId xmlns:p14="http://schemas.microsoft.com/office/powerpoint/2010/main" val="41154283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Movimiento Parab</a:t>
            </a:r>
            <a:r>
              <a:rPr lang="es-ES" dirty="0" smtClean="0"/>
              <a:t>ó</a:t>
            </a:r>
            <a:r>
              <a:rPr lang="es-ES" dirty="0" smtClean="0"/>
              <a:t>lico</a:t>
            </a:r>
            <a:endParaRPr lang="es-ES" dirty="0"/>
          </a:p>
        </p:txBody>
      </p:sp>
      <p:pic>
        <p:nvPicPr>
          <p:cNvPr id="3" name="Imagen 2" descr="mov_parabolico_v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4" y="1298231"/>
            <a:ext cx="5657117" cy="434079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15448" y="3438855"/>
            <a:ext cx="27149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Times"/>
                <a:cs typeface="Times"/>
              </a:rPr>
              <a:t>En y:</a:t>
            </a:r>
            <a:r>
              <a:rPr lang="es-ES" sz="2800" dirty="0" smtClean="0">
                <a:latin typeface="Times"/>
                <a:cs typeface="Times"/>
              </a:rPr>
              <a:t> </a:t>
            </a:r>
            <a:r>
              <a:rPr lang="es-ES" sz="2800" dirty="0" err="1" smtClean="0">
                <a:latin typeface="Times"/>
                <a:cs typeface="Times"/>
              </a:rPr>
              <a:t>v</a:t>
            </a:r>
            <a:r>
              <a:rPr lang="es-ES" sz="2800" baseline="-25000" dirty="0" err="1">
                <a:latin typeface="Times"/>
                <a:cs typeface="Times"/>
              </a:rPr>
              <a:t>y</a:t>
            </a:r>
            <a:r>
              <a:rPr lang="es-ES" sz="2800" dirty="0" smtClean="0">
                <a:latin typeface="Times"/>
                <a:cs typeface="Times"/>
              </a:rPr>
              <a:t>?</a:t>
            </a:r>
          </a:p>
          <a:p>
            <a:r>
              <a:rPr lang="es-ES" sz="2800" dirty="0" smtClean="0">
                <a:latin typeface="Times"/>
                <a:cs typeface="Times"/>
              </a:rPr>
              <a:t>    a</a:t>
            </a:r>
            <a:r>
              <a:rPr lang="es-ES" sz="2800" baseline="-25000" dirty="0">
                <a:latin typeface="Times"/>
                <a:cs typeface="Times"/>
              </a:rPr>
              <a:t>y</a:t>
            </a:r>
            <a:r>
              <a:rPr lang="es-ES" sz="2800" dirty="0" smtClean="0">
                <a:latin typeface="Times"/>
                <a:cs typeface="Times"/>
              </a:rPr>
              <a:t> = -g</a:t>
            </a:r>
          </a:p>
          <a:p>
            <a:r>
              <a:rPr lang="es-ES" sz="2800" dirty="0" smtClean="0">
                <a:latin typeface="Times"/>
                <a:cs typeface="Times"/>
              </a:rPr>
              <a:t>   v</a:t>
            </a:r>
            <a:r>
              <a:rPr lang="es-ES" sz="2800" baseline="-25000" dirty="0" smtClean="0">
                <a:latin typeface="Times"/>
                <a:cs typeface="Times"/>
              </a:rPr>
              <a:t>0y</a:t>
            </a:r>
            <a:r>
              <a:rPr lang="es-ES" sz="2800" dirty="0" smtClean="0">
                <a:latin typeface="Times"/>
                <a:cs typeface="Times"/>
              </a:rPr>
              <a:t> = v</a:t>
            </a:r>
            <a:r>
              <a:rPr lang="es-ES" sz="2800" baseline="-25000" dirty="0" smtClean="0">
                <a:latin typeface="Times"/>
                <a:cs typeface="Times"/>
              </a:rPr>
              <a:t>0</a:t>
            </a:r>
            <a:r>
              <a:rPr lang="es-ES" sz="2800" dirty="0" smtClean="0">
                <a:latin typeface="Times"/>
                <a:cs typeface="Times"/>
              </a:rPr>
              <a:t> </a:t>
            </a:r>
            <a:r>
              <a:rPr lang="es-ES" sz="2800" dirty="0" err="1" smtClean="0">
                <a:latin typeface="Times"/>
                <a:cs typeface="Times"/>
              </a:rPr>
              <a:t>sen</a:t>
            </a:r>
            <a:r>
              <a:rPr lang="es-ES" sz="2800" dirty="0" smtClean="0">
                <a:latin typeface="Times"/>
                <a:cs typeface="Times"/>
              </a:rPr>
              <a:t> α</a:t>
            </a:r>
          </a:p>
          <a:p>
            <a:endParaRPr lang="es-ES" sz="2800" dirty="0">
              <a:latin typeface="Times"/>
              <a:cs typeface="Times"/>
            </a:endParaRPr>
          </a:p>
          <a:p>
            <a:r>
              <a:rPr lang="es-ES" sz="2800" dirty="0" err="1" smtClean="0">
                <a:latin typeface="Times"/>
                <a:cs typeface="Times"/>
              </a:rPr>
              <a:t>v</a:t>
            </a:r>
            <a:r>
              <a:rPr lang="es-ES" sz="2800" baseline="-25000" dirty="0" err="1">
                <a:latin typeface="Times"/>
                <a:cs typeface="Times"/>
              </a:rPr>
              <a:t>y</a:t>
            </a:r>
            <a:r>
              <a:rPr lang="es-ES" sz="2800" dirty="0" smtClean="0">
                <a:latin typeface="Times"/>
                <a:cs typeface="Times"/>
              </a:rPr>
              <a:t> = </a:t>
            </a:r>
            <a:r>
              <a:rPr lang="es-ES" sz="2800" dirty="0">
                <a:latin typeface="Times"/>
                <a:cs typeface="Times"/>
              </a:rPr>
              <a:t>v</a:t>
            </a:r>
            <a:r>
              <a:rPr lang="es-ES" sz="2800" baseline="-25000" dirty="0">
                <a:latin typeface="Times"/>
                <a:cs typeface="Times"/>
              </a:rPr>
              <a:t>0</a:t>
            </a:r>
            <a:r>
              <a:rPr lang="es-ES" sz="2800" dirty="0">
                <a:latin typeface="Times"/>
                <a:cs typeface="Times"/>
              </a:rPr>
              <a:t> </a:t>
            </a:r>
            <a:r>
              <a:rPr lang="es-ES" sz="2800" dirty="0" err="1" smtClean="0">
                <a:latin typeface="Times"/>
                <a:cs typeface="Times"/>
              </a:rPr>
              <a:t>sen</a:t>
            </a:r>
            <a:r>
              <a:rPr lang="es-ES" sz="2800" dirty="0" smtClean="0">
                <a:latin typeface="Times"/>
                <a:cs typeface="Times"/>
              </a:rPr>
              <a:t> α - </a:t>
            </a:r>
            <a:r>
              <a:rPr lang="es-ES" sz="2800" dirty="0" err="1" smtClean="0">
                <a:latin typeface="Times"/>
                <a:cs typeface="Times"/>
              </a:rPr>
              <a:t>gt</a:t>
            </a:r>
            <a:endParaRPr lang="es-ES" sz="2800" dirty="0">
              <a:latin typeface="Times"/>
              <a:cs typeface="Times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-34956" y="5698215"/>
            <a:ext cx="93100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s-ES" sz="3000" b="1" dirty="0" smtClean="0">
                <a:latin typeface="Times"/>
                <a:cs typeface="Times"/>
              </a:rPr>
              <a:t>La velocidad en </a:t>
            </a:r>
            <a:r>
              <a:rPr lang="es-ES" sz="3000" i="1" dirty="0" smtClean="0">
                <a:latin typeface="Times"/>
                <a:cs typeface="Times"/>
              </a:rPr>
              <a:t>y</a:t>
            </a:r>
            <a:r>
              <a:rPr lang="es-ES" sz="3000" b="1" dirty="0" smtClean="0">
                <a:latin typeface="Times"/>
                <a:cs typeface="Times"/>
              </a:rPr>
              <a:t> cambia igual que en una ca</a:t>
            </a:r>
            <a:r>
              <a:rPr lang="es-ES" sz="3000" b="1" dirty="0" smtClean="0">
                <a:latin typeface="Times"/>
                <a:cs typeface="Times"/>
              </a:rPr>
              <a:t>ída libre.</a:t>
            </a:r>
          </a:p>
          <a:p>
            <a:pPr marL="342900" indent="-342900">
              <a:buFont typeface="Arial"/>
              <a:buChar char="•"/>
            </a:pPr>
            <a:r>
              <a:rPr lang="es-ES" sz="3000" b="1" dirty="0" smtClean="0">
                <a:latin typeface="Times"/>
                <a:cs typeface="Times"/>
              </a:rPr>
              <a:t>Es igual a cero para la altura m</a:t>
            </a:r>
            <a:r>
              <a:rPr lang="es-ES" sz="3000" b="1" dirty="0" smtClean="0">
                <a:latin typeface="Times"/>
                <a:cs typeface="Times"/>
              </a:rPr>
              <a:t>áxima.</a:t>
            </a:r>
            <a:endParaRPr lang="es-ES" sz="3000" b="1" dirty="0" smtClean="0">
              <a:latin typeface="Times"/>
              <a:cs typeface="Times"/>
            </a:endParaRPr>
          </a:p>
        </p:txBody>
      </p:sp>
      <p:pic>
        <p:nvPicPr>
          <p:cNvPr id="7" name="Imagen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832" y="1574488"/>
            <a:ext cx="2847020" cy="147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2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Movimiento Parabólico</a:t>
            </a:r>
          </a:p>
        </p:txBody>
      </p:sp>
      <p:pic>
        <p:nvPicPr>
          <p:cNvPr id="3" name="Imagen 2" descr="mov_parabolico_po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" y="1989030"/>
            <a:ext cx="4772850" cy="3828033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16520" y="1388428"/>
            <a:ext cx="63271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 smtClean="0"/>
              <a:t>Igual ocurre para la posici</a:t>
            </a:r>
            <a:r>
              <a:rPr lang="es-ES" sz="3000" dirty="0" smtClean="0"/>
              <a:t>ón</a:t>
            </a:r>
            <a:endParaRPr lang="es-ES" sz="3000" dirty="0" smtClean="0"/>
          </a:p>
        </p:txBody>
      </p:sp>
      <p:pic>
        <p:nvPicPr>
          <p:cNvPr id="5" name="Imagen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249" y="4361293"/>
            <a:ext cx="5140142" cy="2296659"/>
          </a:xfrm>
          <a:prstGeom prst="rect">
            <a:avLst/>
          </a:prstGeom>
        </p:spPr>
      </p:pic>
      <p:pic>
        <p:nvPicPr>
          <p:cNvPr id="6" name="Imagen 5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495" y="2613966"/>
            <a:ext cx="3799819" cy="12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491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521" y="314979"/>
            <a:ext cx="8843958" cy="1143000"/>
          </a:xfrm>
        </p:spPr>
        <p:txBody>
          <a:bodyPr/>
          <a:lstStyle/>
          <a:p>
            <a:r>
              <a:rPr lang="es-ES" sz="4000" dirty="0"/>
              <a:t>Movimiento </a:t>
            </a:r>
            <a:r>
              <a:rPr lang="es-ES" sz="4000" dirty="0" smtClean="0"/>
              <a:t>Parabólico: Aplicaciones</a:t>
            </a:r>
            <a:endParaRPr lang="es-ES" sz="40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6519" y="1388428"/>
            <a:ext cx="7072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 smtClean="0"/>
              <a:t>Tiempo en alcanzar la altura m</a:t>
            </a:r>
            <a:r>
              <a:rPr lang="es-ES" sz="3000" dirty="0" smtClean="0"/>
              <a:t>áxima h</a:t>
            </a:r>
            <a:endParaRPr lang="es-ES" sz="3000" dirty="0" smtClean="0"/>
          </a:p>
        </p:txBody>
      </p:sp>
      <p:pic>
        <p:nvPicPr>
          <p:cNvPr id="4" name="Imagen 3" descr="mov_parabolico_hma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80" y="2326905"/>
            <a:ext cx="5173541" cy="4080910"/>
          </a:xfrm>
          <a:prstGeom prst="rect">
            <a:avLst/>
          </a:prstGeom>
        </p:spPr>
      </p:pic>
      <p:pic>
        <p:nvPicPr>
          <p:cNvPr id="9" name="Imagen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741" y="2541178"/>
            <a:ext cx="4461131" cy="209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054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521" y="314979"/>
            <a:ext cx="8843958" cy="1143000"/>
          </a:xfrm>
        </p:spPr>
        <p:txBody>
          <a:bodyPr/>
          <a:lstStyle/>
          <a:p>
            <a:r>
              <a:rPr lang="es-ES" sz="4000" dirty="0"/>
              <a:t>Movimiento </a:t>
            </a:r>
            <a:r>
              <a:rPr lang="es-ES" sz="4000" dirty="0" smtClean="0"/>
              <a:t>Parabólico: Aplicaciones</a:t>
            </a:r>
            <a:endParaRPr lang="es-ES" sz="40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6519" y="1388428"/>
            <a:ext cx="7072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/>
              <a:t>A</a:t>
            </a:r>
            <a:r>
              <a:rPr lang="es-ES" sz="3000" dirty="0" smtClean="0"/>
              <a:t>ltura m</a:t>
            </a:r>
            <a:r>
              <a:rPr lang="es-ES" sz="3000" dirty="0" smtClean="0"/>
              <a:t>áxima desde el punto inicial</a:t>
            </a:r>
            <a:endParaRPr lang="es-ES" sz="3000" dirty="0" smtClean="0"/>
          </a:p>
        </p:txBody>
      </p:sp>
      <p:pic>
        <p:nvPicPr>
          <p:cNvPr id="4" name="Imagen 3" descr="mov_parabolico_hma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80" y="2326905"/>
            <a:ext cx="5173541" cy="4080910"/>
          </a:xfrm>
          <a:prstGeom prst="rect">
            <a:avLst/>
          </a:prstGeom>
        </p:spPr>
      </p:pic>
      <p:pic>
        <p:nvPicPr>
          <p:cNvPr id="7" name="Imagen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414" y="2074827"/>
            <a:ext cx="5053543" cy="350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705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521" y="314979"/>
            <a:ext cx="8843958" cy="1143000"/>
          </a:xfrm>
        </p:spPr>
        <p:txBody>
          <a:bodyPr/>
          <a:lstStyle/>
          <a:p>
            <a:r>
              <a:rPr lang="es-ES" sz="4000" dirty="0"/>
              <a:t>Movimiento </a:t>
            </a:r>
            <a:r>
              <a:rPr lang="es-ES" sz="4000" dirty="0" smtClean="0"/>
              <a:t>Parabólico: Aplicaciones</a:t>
            </a:r>
            <a:endParaRPr lang="es-ES" sz="40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6519" y="1388428"/>
            <a:ext cx="8401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 smtClean="0"/>
              <a:t>Tiempo para distancia horizontal m</a:t>
            </a:r>
            <a:r>
              <a:rPr lang="es-ES" sz="3000" dirty="0" smtClean="0"/>
              <a:t>áxima d (cuando </a:t>
            </a:r>
            <a:r>
              <a:rPr lang="es-ES" sz="3000" b="1" i="1" dirty="0" smtClean="0"/>
              <a:t>y</a:t>
            </a:r>
            <a:r>
              <a:rPr lang="es-ES" sz="3000" dirty="0" smtClean="0"/>
              <a:t> vuelve a 0): tiempo de vuelo</a:t>
            </a:r>
            <a:endParaRPr lang="es-ES" sz="3000" dirty="0" smtClean="0"/>
          </a:p>
        </p:txBody>
      </p:sp>
      <p:pic>
        <p:nvPicPr>
          <p:cNvPr id="5" name="Imagen 4" descr="mov_parabolico_dma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50" y="2520015"/>
            <a:ext cx="5558309" cy="4125976"/>
          </a:xfrm>
          <a:prstGeom prst="rect">
            <a:avLst/>
          </a:prstGeom>
        </p:spPr>
      </p:pic>
      <p:pic>
        <p:nvPicPr>
          <p:cNvPr id="9" name="Imagen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90" y="2769733"/>
            <a:ext cx="4932381" cy="322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00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mov_parabolico_dma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50" y="2520015"/>
            <a:ext cx="5558309" cy="41259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521" y="314979"/>
            <a:ext cx="8843958" cy="1143000"/>
          </a:xfrm>
        </p:spPr>
        <p:txBody>
          <a:bodyPr/>
          <a:lstStyle/>
          <a:p>
            <a:r>
              <a:rPr lang="es-ES" sz="4000" dirty="0"/>
              <a:t>Movimiento </a:t>
            </a:r>
            <a:r>
              <a:rPr lang="es-ES" sz="4000" dirty="0" smtClean="0"/>
              <a:t>Parabólico: Aplicaciones</a:t>
            </a:r>
            <a:endParaRPr lang="es-ES" sz="40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6519" y="1388428"/>
            <a:ext cx="8401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s-ES" sz="3000" dirty="0" smtClean="0"/>
              <a:t>Distancia horizontal m</a:t>
            </a:r>
            <a:r>
              <a:rPr lang="es-ES" sz="3000" dirty="0" smtClean="0"/>
              <a:t>áxima d recorrida</a:t>
            </a:r>
            <a:endParaRPr lang="es-ES" sz="3000" dirty="0" smtClean="0"/>
          </a:p>
        </p:txBody>
      </p:sp>
      <p:pic>
        <p:nvPicPr>
          <p:cNvPr id="6" name="Imagen 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502" y="2968815"/>
            <a:ext cx="4298483" cy="31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300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ventura">
  <a:themeElements>
    <a:clrScheme name="Aventura">
      <a:dk1>
        <a:sysClr val="windowText" lastClr="000000"/>
      </a:dk1>
      <a:lt1>
        <a:sysClr val="window" lastClr="FFFFFF"/>
      </a:lt1>
      <a:dk2>
        <a:srgbClr val="738450"/>
      </a:dk2>
      <a:lt2>
        <a:srgbClr val="E8E9D1"/>
      </a:lt2>
      <a:accent1>
        <a:srgbClr val="9EB060"/>
      </a:accent1>
      <a:accent2>
        <a:srgbClr val="D09A08"/>
      </a:accent2>
      <a:accent3>
        <a:srgbClr val="F2EC86"/>
      </a:accent3>
      <a:accent4>
        <a:srgbClr val="824F1C"/>
      </a:accent4>
      <a:accent5>
        <a:srgbClr val="511818"/>
      </a:accent5>
      <a:accent6>
        <a:srgbClr val="553876"/>
      </a:accent6>
      <a:hlink>
        <a:srgbClr val="929547"/>
      </a:hlink>
      <a:folHlink>
        <a:srgbClr val="56633C"/>
      </a:folHlink>
    </a:clrScheme>
    <a:fontScheme name="Aventura">
      <a:maj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Aventu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alpha val="50000"/>
                <a:satMod val="150000"/>
              </a:schemeClr>
              <a:schemeClr val="phClr">
                <a:tint val="50000"/>
                <a:alpha val="10000"/>
                <a:satMod val="15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30000"/>
                <a:alpha val="50000"/>
                <a:satMod val="150000"/>
              </a:schemeClr>
              <a:schemeClr val="phClr">
                <a:tint val="50000"/>
                <a:alpha val="10000"/>
                <a:satMod val="150000"/>
              </a:schemeClr>
            </a:duotone>
          </a:blip>
          <a:stretch/>
        </a:blipFill>
      </a:fillStyleLst>
      <a:lnStyleLst>
        <a:ln w="190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76200" dist="25400" dir="13500000">
              <a:srgbClr val="4B4B4B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3">
            <a:duotone>
              <a:schemeClr val="phClr">
                <a:shade val="10000"/>
                <a:alpha val="30000"/>
                <a:satMod val="60000"/>
              </a:schemeClr>
              <a:schemeClr val="phClr">
                <a:tint val="20000"/>
                <a:alpha val="5000"/>
                <a:satMod val="30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30000"/>
                <a:alpha val="50000"/>
                <a:satMod val="150000"/>
              </a:schemeClr>
              <a:schemeClr val="phClr">
                <a:tint val="50000"/>
                <a:alpha val="10000"/>
                <a:satMod val="1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Aventura.thmx</Template>
  <TotalTime>1705</TotalTime>
  <Words>233</Words>
  <Application>Microsoft Macintosh PowerPoint</Application>
  <PresentationFormat>Presentación en pantalla (4:3)</PresentationFormat>
  <Paragraphs>39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Aventura</vt:lpstr>
      <vt:lpstr>Cinemática</vt:lpstr>
      <vt:lpstr>Cinemática en 2-D</vt:lpstr>
      <vt:lpstr>Cinemática en 2-D</vt:lpstr>
      <vt:lpstr>Cinemática en 2-D</vt:lpstr>
      <vt:lpstr>Cinemática en 2-D</vt:lpstr>
      <vt:lpstr>Movimiento Parabólico</vt:lpstr>
      <vt:lpstr>Movimiento Parabólico</vt:lpstr>
      <vt:lpstr>Movimiento Parabólico</vt:lpstr>
      <vt:lpstr>Movimiento Parabólico: Aplicaciones</vt:lpstr>
      <vt:lpstr>Movimiento Parabólico: Aplicaciones</vt:lpstr>
      <vt:lpstr>Movimiento Parabólico: Aplicaciones</vt:lpstr>
      <vt:lpstr>Movimiento Parabólico: Aplicaciones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Cinemática</dc:title>
  <dc:creator>G P</dc:creator>
  <cp:lastModifiedBy>G P</cp:lastModifiedBy>
  <cp:revision>21</cp:revision>
  <dcterms:created xsi:type="dcterms:W3CDTF">2017-09-27T04:53:47Z</dcterms:created>
  <dcterms:modified xsi:type="dcterms:W3CDTF">2017-10-02T21:01:14Z</dcterms:modified>
</cp:coreProperties>
</file>